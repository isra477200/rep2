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3842bb2444d55" /><Relationship Type="http://schemas.openxmlformats.org/officeDocument/2006/relationships/extended-properties" Target="/docProps/app.xml" Id="R75d0e908063f4993" /><Relationship Type="http://schemas.openxmlformats.org/officeDocument/2006/relationships/officeDocument" Target="/ppt/presentation.xml" Id="R70ebdc2d8b134d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ebeb961e2e4e6b"/>
  </p:sldMasterIdLst>
  <p:notesMasterIdLst>
    <p:notesMasterId xmlns:r="http://schemas.openxmlformats.org/officeDocument/2006/relationships" r:id="Rd836e8fce8df4c0c"/>
  </p:notesMasterIdLst>
  <p:sldIdLst>
    <p:sldId xmlns:r="http://schemas.openxmlformats.org/officeDocument/2006/relationships" id="256" r:id="R81fb6a9bd5b84660"/>
    <p:sldId xmlns:r="http://schemas.openxmlformats.org/officeDocument/2006/relationships" id="257" r:id="Ra9c2316388554426"/>
    <p:sldId xmlns:r="http://schemas.openxmlformats.org/officeDocument/2006/relationships" id="258" r:id="R8f81de6f941e4e8c"/>
    <p:sldId xmlns:r="http://schemas.openxmlformats.org/officeDocument/2006/relationships" id="259" r:id="R7195474ee7804535"/>
    <p:sldId xmlns:r="http://schemas.openxmlformats.org/officeDocument/2006/relationships" id="260" r:id="R8bafdcc0aec54d9d"/>
    <p:sldId xmlns:r="http://schemas.openxmlformats.org/officeDocument/2006/relationships" id="261" r:id="R4596d1aacfe34fb4"/>
    <p:sldId xmlns:r="http://schemas.openxmlformats.org/officeDocument/2006/relationships" id="262" r:id="R17a15ffd437c4631"/>
    <p:sldId xmlns:r="http://schemas.openxmlformats.org/officeDocument/2006/relationships" id="263" r:id="Rd31a7a8a308f4751"/>
    <p:sldId xmlns:r="http://schemas.openxmlformats.org/officeDocument/2006/relationships" id="264" r:id="R30aebdf291064dfa"/>
    <p:sldId xmlns:r="http://schemas.openxmlformats.org/officeDocument/2006/relationships" id="265" r:id="Rc83bd59338914d93"/>
    <p:sldId xmlns:r="http://schemas.openxmlformats.org/officeDocument/2006/relationships" id="266" r:id="Rcb94a4369c934f8b"/>
    <p:sldId xmlns:r="http://schemas.openxmlformats.org/officeDocument/2006/relationships" id="267" r:id="R97be7d615d244f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9ec365b5624e36" /><Relationship Type="http://schemas.openxmlformats.org/officeDocument/2006/relationships/slideMaster" Target="/ppt/slideMasters/slideMaster1.xml" Id="Rdcebeb961e2e4e6b" /><Relationship Type="http://schemas.openxmlformats.org/officeDocument/2006/relationships/notesMaster" Target="/ppt/notesMasters/notesMaster1.xml" Id="Rd836e8fce8df4c0c" /><Relationship Type="http://schemas.openxmlformats.org/officeDocument/2006/relationships/presProps" Target="/ppt/presProps.xml" Id="Rec1b3256c5674191" /><Relationship Type="http://schemas.openxmlformats.org/officeDocument/2006/relationships/tableStyles" Target="/ppt/tableStyles.xml" Id="R830a9deec30d4614" /><Relationship Type="http://schemas.openxmlformats.org/officeDocument/2006/relationships/slide" Target="/ppt/slides/slide1.xml" Id="R81fb6a9bd5b84660" /><Relationship Type="http://schemas.openxmlformats.org/officeDocument/2006/relationships/slide" Target="/ppt/slides/slide2.xml" Id="Ra9c2316388554426" /><Relationship Type="http://schemas.openxmlformats.org/officeDocument/2006/relationships/slide" Target="/ppt/slides/slide3.xml" Id="R8f81de6f941e4e8c" /><Relationship Type="http://schemas.openxmlformats.org/officeDocument/2006/relationships/slide" Target="/ppt/slides/slide4.xml" Id="R7195474ee7804535" /><Relationship Type="http://schemas.openxmlformats.org/officeDocument/2006/relationships/slide" Target="/ppt/slides/slide5.xml" Id="R8bafdcc0aec54d9d" /><Relationship Type="http://schemas.openxmlformats.org/officeDocument/2006/relationships/slide" Target="/ppt/slides/slide6.xml" Id="R4596d1aacfe34fb4" /><Relationship Type="http://schemas.openxmlformats.org/officeDocument/2006/relationships/slide" Target="/ppt/slides/slide7.xml" Id="R17a15ffd437c4631" /><Relationship Type="http://schemas.openxmlformats.org/officeDocument/2006/relationships/slide" Target="/ppt/slides/slide8.xml" Id="Rd31a7a8a308f4751" /><Relationship Type="http://schemas.openxmlformats.org/officeDocument/2006/relationships/slide" Target="/ppt/slides/slide9.xml" Id="R30aebdf291064dfa" /><Relationship Type="http://schemas.openxmlformats.org/officeDocument/2006/relationships/slide" Target="/ppt/slides/slide10.xml" Id="Rc83bd59338914d93" /><Relationship Type="http://schemas.openxmlformats.org/officeDocument/2006/relationships/slide" Target="/ppt/slides/slide11.xml" Id="Rcb94a4369c934f8b" /><Relationship Type="http://schemas.openxmlformats.org/officeDocument/2006/relationships/slide" Target="/ppt/slides/slide12.xml" Id="R97be7d615d244f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94ff234faf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d954c901d43f0" /><Relationship Type="http://schemas.openxmlformats.org/officeDocument/2006/relationships/notesMaster" Target="/ppt/notesMasters/notesMaster1.xml" Id="R53b887ebb48441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ba4b55afd431c" /><Relationship Type="http://schemas.openxmlformats.org/officeDocument/2006/relationships/notesMaster" Target="/ppt/notesMasters/notesMaster1.xml" Id="Rd7ee5135415449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2b78c295a7481b" /><Relationship Type="http://schemas.openxmlformats.org/officeDocument/2006/relationships/notesMaster" Target="/ppt/notesMasters/notesMaster1.xml" Id="R0f77e9131939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22b3b3e73d42bb" /><Relationship Type="http://schemas.openxmlformats.org/officeDocument/2006/relationships/notesMaster" Target="/ppt/notesMasters/notesMaster1.xml" Id="Rba0930cbaf6c4a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8b7a70c6f14511" /><Relationship Type="http://schemas.openxmlformats.org/officeDocument/2006/relationships/notesMaster" Target="/ppt/notesMasters/notesMaster1.xml" Id="Rb40d4cc0ec6145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3cac04f74740df" /><Relationship Type="http://schemas.openxmlformats.org/officeDocument/2006/relationships/notesMaster" Target="/ppt/notesMasters/notesMaster1.xml" Id="Rd915985eecf44f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da9d44bd7146a3" /><Relationship Type="http://schemas.openxmlformats.org/officeDocument/2006/relationships/notesMaster" Target="/ppt/notesMasters/notesMaster1.xml" Id="R885d004fc18847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1140e5ae184b56" /><Relationship Type="http://schemas.openxmlformats.org/officeDocument/2006/relationships/notesMaster" Target="/ppt/notesMasters/notesMaster1.xml" Id="R32bc41adef56451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f87af0a19e4809" /><Relationship Type="http://schemas.openxmlformats.org/officeDocument/2006/relationships/notesMaster" Target="/ppt/notesMasters/notesMaster1.xml" Id="R4acd2103f0dd42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27faa5808f41bc" /><Relationship Type="http://schemas.openxmlformats.org/officeDocument/2006/relationships/notesMaster" Target="/ppt/notesMasters/notesMaster1.xml" Id="R9f42fe1b14e1454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4b44c71d88441d" /><Relationship Type="http://schemas.openxmlformats.org/officeDocument/2006/relationships/notesMaster" Target="/ppt/notesMasters/notesMaster1.xml" Id="R879e5e5063054d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e2dcfa8122c4ed6" /><Relationship Type="http://schemas.openxmlformats.org/officeDocument/2006/relationships/notesMaster" Target="/ppt/notesMasters/notesMaster1.xml" Id="R89f3425d512b40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public/assets/ejecucion/base/legal-segunda-oportunidad.webp.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public/assets/ejecucion/base/toldos.webp.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public/assets/ejecucion/base/coches.webp.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- Activo visual interno: public/assets/ejecucion/base/estetica.webp.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Fuente interna: Prompt_Maestro_Ampliacion_RedVitalia.md, secciones 8, 10, 20 y 32.</a:t>
            </a:r>
          </a:p>
          <a:p xmlns:a="http://schemas.openxmlformats.org/drawingml/2006/main">
            <a:r>
              <a:t>- Fuente interna: app/ejecucion/catalog.ts y app/ejecucion/playbooks.ts de RedVitalia.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54140e00344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708b6aa37437b" /><Relationship Type="http://schemas.openxmlformats.org/officeDocument/2006/relationships/slideLayout" Target="/ppt/slideLayouts/slideLayout1.xml" Id="R39222564b22a43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222564b22a43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9375c8bed41c8" /><Relationship Type="http://schemas.openxmlformats.org/officeDocument/2006/relationships/image" Target="/ppt/media/image.bin" Id="R0bdebc438e374392" /><Relationship Type="http://schemas.openxmlformats.org/officeDocument/2006/relationships/notesSlide" Target="/ppt/notesSlides/notesSlide1.xml" Id="Ra3aa5a1afeca4c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511c3f2194d49" /><Relationship Type="http://schemas.openxmlformats.org/officeDocument/2006/relationships/notesSlide" Target="/ppt/notesSlides/notesSlide2.xml" Id="Ree2275c586454e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dbee223364403" /><Relationship Type="http://schemas.openxmlformats.org/officeDocument/2006/relationships/notesSlide" Target="/ppt/notesSlides/notesSlide3.xml" Id="R859dd3e7509f48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0d6abff1984919" /><Relationship Type="http://schemas.openxmlformats.org/officeDocument/2006/relationships/notesSlide" Target="/ppt/notesSlides/notesSlide4.xml" Id="R3a91bd02a8d44a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2f73e55ce4e67" /><Relationship Type="http://schemas.openxmlformats.org/officeDocument/2006/relationships/image" Target="/ppt/media/image2.bin" Id="R8199928b733f4aa7" /><Relationship Type="http://schemas.openxmlformats.org/officeDocument/2006/relationships/notesSlide" Target="/ppt/notesSlides/notesSlide5.xml" Id="R10eb1d35530c4c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4c1cdc737402a" /><Relationship Type="http://schemas.openxmlformats.org/officeDocument/2006/relationships/notesSlide" Target="/ppt/notesSlides/notesSlide6.xml" Id="Rf19b7a5e83d94e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be137b87842e4" /><Relationship Type="http://schemas.openxmlformats.org/officeDocument/2006/relationships/image" Target="/ppt/media/image3.bin" Id="R6387b1cd86fe4da7" /><Relationship Type="http://schemas.openxmlformats.org/officeDocument/2006/relationships/notesSlide" Target="/ppt/notesSlides/notesSlide7.xml" Id="Rafdb965b433244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2669888ff48c6" /><Relationship Type="http://schemas.openxmlformats.org/officeDocument/2006/relationships/notesSlide" Target="/ppt/notesSlides/notesSlide8.xml" Id="R090b58475a8a41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ae790bab645f4" /><Relationship Type="http://schemas.openxmlformats.org/officeDocument/2006/relationships/notesSlide" Target="/ppt/notesSlides/notesSlide9.xml" Id="R59548dea10b144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430282029423f" /><Relationship Type="http://schemas.openxmlformats.org/officeDocument/2006/relationships/image" Target="/ppt/media/image4.bin" Id="Raa441a1f16b24f39" /><Relationship Type="http://schemas.openxmlformats.org/officeDocument/2006/relationships/notesSlide" Target="/ppt/notesSlides/notesSlide10.xml" Id="R972e49a382604a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801c087f9e483f" /><Relationship Type="http://schemas.openxmlformats.org/officeDocument/2006/relationships/notesSlide" Target="/ppt/notesSlides/notesSlide11.xml" Id="Rb52a7c24c9e248f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e7de1d5b54741" /><Relationship Type="http://schemas.openxmlformats.org/officeDocument/2006/relationships/notesSlide" Target="/ppt/notesSlides/notesSlide12.xml" Id="Re8883868cf9c44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657CDAF1-CEBA-4F43-A6D6-C60C320A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AC109CD-BB1A-4A79-B419-41CAE171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SISTEMA DE CAPTACIÓN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C39EB6A-2571-4024-9655-649074D6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51244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Captación que llega hasta la oportunidad real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534C230-093C-4FAA-9ED6-4AB2D1E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Publicidad, landing, cualificación y seguimiento conectados a un resultado que el negocio puede trabajar.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ebc438e374392"/>
          <a:srcRect xmlns:a="http://schemas.openxmlformats.org/drawingml/2006/main" l="23019" t="0" r="23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391150" cy="5619750"/>
          </a:xfrm>
          <a:prstGeom xmlns:a="http://schemas.openxmlformats.org/drawingml/2006/main" prst="rect">
            <a:avLst/>
          </a:prstGeom>
        </p:spPr>
      </p:pic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4483AABD-6262-4D62-A56A-4ED7EB21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Diagnóstico comercial</a:t>
            </a:r>
          </a:p>
        </p:txBody>
      </p:sp>
    </p:spTree>
    <p:extLst>
      <p:ext uri="{BB962C8B-B14F-4D97-AF65-F5344CB8AC3E}">
        <p14:creationId xmlns:p14="http://schemas.microsoft.com/office/powerpoint/2010/main" val="19121242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7">
            <a:extLst xmlns:a="http://schemas.openxmlformats.org/drawingml/2006/main">
              <a:ext uri="{FF2B5EF4-FFF2-40B4-BE49-F238E27FC236}">
                <a16:creationId xmlns:a16="http://schemas.microsoft.com/office/drawing/2014/main" id="{CE24AC38-0B3D-4871-B4C2-54B8EC8A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A658B49D-E37D-41D4-A8D2-B7BB50B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4B742FDF-621B-4F7A-9839-ED13F23A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327A7F02-C47D-4981-879B-A5F2F462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Más formularios no solucionan un sistema comercial roto</a:t>
            </a:r>
          </a:p>
        </p:txBody>
      </p:sp>
      <p:sp>
        <p:nvSpPr>
          <p:cNvPr id="5" name="line-10">
            <a:extLst xmlns:a="http://schemas.openxmlformats.org/drawingml/2006/main">
              <a:ext uri="{FF2B5EF4-FFF2-40B4-BE49-F238E27FC236}">
                <a16:creationId xmlns:a16="http://schemas.microsoft.com/office/drawing/2014/main" id="{9329BFDC-08EC-42D5-808B-74DE093E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8022F19F-1556-43D6-8992-0296E122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Lo que suele verse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074D442E-2A0D-4F36-BCE0-879F4CEC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Campañas separadas del equipo comercial, contactos sin contexto y decisiones tomadas con métricas demasiado tempranas.</a:t>
            </a:r>
          </a:p>
        </p:txBody>
      </p:sp>
      <p:sp>
        <p:nvSpPr>
          <p:cNvPr id="8" name="line-13">
            <a:extLst xmlns:a="http://schemas.openxmlformats.org/drawingml/2006/main">
              <a:ext uri="{FF2B5EF4-FFF2-40B4-BE49-F238E27FC236}">
                <a16:creationId xmlns:a16="http://schemas.microsoft.com/office/drawing/2014/main" id="{1CD13C42-17EC-4232-9A1C-7BD37938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9" name="rect-14">
            <a:extLst xmlns:a="http://schemas.openxmlformats.org/drawingml/2006/main">
              <a:ext uri="{FF2B5EF4-FFF2-40B4-BE49-F238E27FC236}">
                <a16:creationId xmlns:a16="http://schemas.microsoft.com/office/drawing/2014/main" id="{777A8D0E-67FB-4293-AA23-1408C6D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3911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2D838906-964E-4F84-B658-59141493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Lo que hay que construir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F111AB89-BF2C-42D1-A27C-FDADF45B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4705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Una ruta completa desde la intención hasta la cita, presupuesto, asunto o venta; con el resultado devuelto para aprender y decidir.</a:t>
            </a:r>
          </a:p>
        </p:txBody>
      </p:sp>
    </p:spTree>
    <p:extLst>
      <p:ext uri="{BB962C8B-B14F-4D97-AF65-F5344CB8AC3E}">
        <p14:creationId xmlns:p14="http://schemas.microsoft.com/office/powerpoint/2010/main" val="1127581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EAEE22DB-BAF1-42D3-A322-3FCF698F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5F54103B-8DB9-4170-88F1-CFAA70AC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58FB3578-F33A-4024-B51A-3AD9AEEE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CONDICIONES DE ENTRADA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51873474-02C2-458F-BB49-D51B930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Antes de invertir, validamos cuatro condiciones</a:t>
            </a:r>
          </a:p>
        </p:txBody>
      </p:sp>
      <p:sp>
        <p:nvSpPr>
          <p:cNvPr id="5" name="line-20">
            <a:extLst xmlns:a="http://schemas.openxmlformats.org/drawingml/2006/main">
              <a:ext uri="{FF2B5EF4-FFF2-40B4-BE49-F238E27FC236}">
                <a16:creationId xmlns:a16="http://schemas.microsoft.com/office/drawing/2014/main" id="{C0F4CA66-7F2F-4607-8B7A-0059ED541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21">
            <a:extLst xmlns:a="http://schemas.openxmlformats.org/drawingml/2006/main">
              <a:ext uri="{FF2B5EF4-FFF2-40B4-BE49-F238E27FC236}">
                <a16:creationId xmlns:a16="http://schemas.microsoft.com/office/drawing/2014/main" id="{7AFE9BF5-1351-4284-B548-157C0AE8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22">
            <a:extLst xmlns:a="http://schemas.openxmlformats.org/drawingml/2006/main">
              <a:ext uri="{FF2B5EF4-FFF2-40B4-BE49-F238E27FC236}">
                <a16:creationId xmlns:a16="http://schemas.microsoft.com/office/drawing/2014/main" id="{33119A9E-FCDB-42E3-8220-42B6AC48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Oferta concreta</a:t>
            </a:r>
          </a:p>
        </p:txBody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2C49AB57-6CED-41C3-97BF-CFFD7612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Un servicio prioritario que el mercado pueda entender y el negocio pueda entregar.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6E07314B-A1A1-438E-883A-94CF3920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25">
            <a:extLst xmlns:a="http://schemas.openxmlformats.org/drawingml/2006/main">
              <a:ext uri="{FF2B5EF4-FFF2-40B4-BE49-F238E27FC236}">
                <a16:creationId xmlns:a16="http://schemas.microsoft.com/office/drawing/2014/main" id="{C5D47F9F-4AAE-4799-9AD6-C5EA46CA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Capacidad real</a:t>
            </a:r>
          </a:p>
        </p:txBody>
      </p:sp>
      <p:sp>
        <p:nvSpPr>
          <p:cNvPr id="11" name="text-26">
            <a:extLst xmlns:a="http://schemas.openxmlformats.org/drawingml/2006/main">
              <a:ext uri="{FF2B5EF4-FFF2-40B4-BE49-F238E27FC236}">
                <a16:creationId xmlns:a16="http://schemas.microsoft.com/office/drawing/2014/main" id="{3EE1288E-0347-4001-B647-1CB0AF2E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Agenda, cobertura y velocidad de respuesta suficientes para absorber demanda.</a:t>
            </a:r>
          </a:p>
        </p:txBody>
      </p:sp>
      <p:sp>
        <p:nvSpPr>
          <p:cNvPr id="12" name="text-27">
            <a:extLst xmlns:a="http://schemas.openxmlformats.org/drawingml/2006/main">
              <a:ext uri="{FF2B5EF4-FFF2-40B4-BE49-F238E27FC236}">
                <a16:creationId xmlns:a16="http://schemas.microsoft.com/office/drawing/2014/main" id="{80FD2ABD-F956-4E26-A925-C8CBFDEB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28">
            <a:extLst xmlns:a="http://schemas.openxmlformats.org/drawingml/2006/main">
              <a:ext uri="{FF2B5EF4-FFF2-40B4-BE49-F238E27FC236}">
                <a16:creationId xmlns:a16="http://schemas.microsoft.com/office/drawing/2014/main" id="{3F0BFED7-1091-42CF-972A-E69FD66C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Margen defendible</a:t>
            </a:r>
          </a:p>
        </p:txBody>
      </p:sp>
      <p:sp>
        <p:nvSpPr>
          <p:cNvPr id="14" name="text-29">
            <a:extLst xmlns:a="http://schemas.openxmlformats.org/drawingml/2006/main">
              <a:ext uri="{FF2B5EF4-FFF2-40B4-BE49-F238E27FC236}">
                <a16:creationId xmlns:a16="http://schemas.microsoft.com/office/drawing/2014/main" id="{C79AA8A8-660A-4389-B39E-10901B8E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Economía capaz de sostener medios, seguimiento y aprendizaje.</a:t>
            </a:r>
          </a:p>
        </p:txBody>
      </p:sp>
      <p:sp>
        <p:nvSpPr>
          <p:cNvPr id="15" name="text-30">
            <a:extLst xmlns:a="http://schemas.openxmlformats.org/drawingml/2006/main">
              <a:ext uri="{FF2B5EF4-FFF2-40B4-BE49-F238E27FC236}">
                <a16:creationId xmlns:a16="http://schemas.microsoft.com/office/drawing/2014/main" id="{741F2038-6115-479D-8AEF-CFEA16EA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-31">
            <a:extLst xmlns:a="http://schemas.openxmlformats.org/drawingml/2006/main">
              <a:ext uri="{FF2B5EF4-FFF2-40B4-BE49-F238E27FC236}">
                <a16:creationId xmlns:a16="http://schemas.microsoft.com/office/drawing/2014/main" id="{3E10D15C-C46B-48FB-851E-B23FCFE1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Resultado medible</a:t>
            </a:r>
          </a:p>
        </p:txBody>
      </p:sp>
      <p:sp>
        <p:nvSpPr>
          <p:cNvPr id="17" name="text-32">
            <a:extLst xmlns:a="http://schemas.openxmlformats.org/drawingml/2006/main">
              <a:ext uri="{FF2B5EF4-FFF2-40B4-BE49-F238E27FC236}">
                <a16:creationId xmlns:a16="http://schemas.microsoft.com/office/drawing/2014/main" id="{A24999FE-566B-46FD-9BF3-080B2BE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Una etapa comercial final que pueda registrarse sin ambigüedad.</a:t>
            </a:r>
          </a:p>
        </p:txBody>
      </p:sp>
    </p:spTree>
    <p:extLst>
      <p:ext uri="{BB962C8B-B14F-4D97-AF65-F5344CB8AC3E}">
        <p14:creationId xmlns:p14="http://schemas.microsoft.com/office/powerpoint/2010/main" val="11664176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3">
            <a:extLst xmlns:a="http://schemas.openxmlformats.org/drawingml/2006/main">
              <a:ext uri="{FF2B5EF4-FFF2-40B4-BE49-F238E27FC236}">
                <a16:creationId xmlns:a16="http://schemas.microsoft.com/office/drawing/2014/main" id="{E54D5917-99D6-4515-9B06-1CCA83A7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34">
            <a:extLst xmlns:a="http://schemas.openxmlformats.org/drawingml/2006/main">
              <a:ext uri="{FF2B5EF4-FFF2-40B4-BE49-F238E27FC236}">
                <a16:creationId xmlns:a16="http://schemas.microsoft.com/office/drawing/2014/main" id="{C7C3BDD0-89C2-474C-A4CB-67456E40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text-35">
            <a:extLst xmlns:a="http://schemas.openxmlformats.org/drawingml/2006/main">
              <a:ext uri="{FF2B5EF4-FFF2-40B4-BE49-F238E27FC236}">
                <a16:creationId xmlns:a16="http://schemas.microsoft.com/office/drawing/2014/main" id="{8F134BAA-81B6-4FCE-86B8-A5CA708B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MÉTODO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52171419-57DC-4111-8468-17421960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 captación se gestiona como un recorrido completo</a:t>
            </a:r>
          </a:p>
        </p:txBody>
      </p:sp>
      <p:sp>
        <p:nvSpPr>
          <p:cNvPr id="5" name="line-36">
            <a:extLst xmlns:a="http://schemas.openxmlformats.org/drawingml/2006/main">
              <a:ext uri="{FF2B5EF4-FFF2-40B4-BE49-F238E27FC236}">
                <a16:creationId xmlns:a16="http://schemas.microsoft.com/office/drawing/2014/main" id="{7B5D4EC5-D5EF-4F9E-ADBB-04BDE91D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line-37">
            <a:extLst xmlns:a="http://schemas.openxmlformats.org/drawingml/2006/main">
              <a:ext uri="{FF2B5EF4-FFF2-40B4-BE49-F238E27FC236}">
                <a16:creationId xmlns:a16="http://schemas.microsoft.com/office/drawing/2014/main" id="{628619BE-D828-4478-AA34-A4CF1788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7" name="rect-38">
            <a:extLst xmlns:a="http://schemas.openxmlformats.org/drawingml/2006/main">
              <a:ext uri="{FF2B5EF4-FFF2-40B4-BE49-F238E27FC236}">
                <a16:creationId xmlns:a16="http://schemas.microsoft.com/office/drawing/2014/main" id="{F22D70FE-BC6E-4A9A-9F50-5464A977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9">
            <a:extLst xmlns:a="http://schemas.openxmlformats.org/drawingml/2006/main">
              <a:ext uri="{FF2B5EF4-FFF2-40B4-BE49-F238E27FC236}">
                <a16:creationId xmlns:a16="http://schemas.microsoft.com/office/drawing/2014/main" id="{15D8985D-AAB1-40D4-A8ED-2541ABE2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-40">
            <a:extLst xmlns:a="http://schemas.openxmlformats.org/drawingml/2006/main">
              <a:ext uri="{FF2B5EF4-FFF2-40B4-BE49-F238E27FC236}">
                <a16:creationId xmlns:a16="http://schemas.microsoft.com/office/drawing/2014/main" id="{1D7F7CA2-C545-4AFE-B163-2CECB684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Demanda</a:t>
            </a:r>
          </a:p>
        </p:txBody>
      </p:sp>
      <p:sp>
        <p:nvSpPr>
          <p:cNvPr id="10" name="text-41">
            <a:extLst xmlns:a="http://schemas.openxmlformats.org/drawingml/2006/main">
              <a:ext uri="{FF2B5EF4-FFF2-40B4-BE49-F238E27FC236}">
                <a16:creationId xmlns:a16="http://schemas.microsoft.com/office/drawing/2014/main" id="{D2883241-9152-4F8D-AA41-F1095890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Canal e intención</a:t>
            </a:r>
          </a:p>
        </p:txBody>
      </p:sp>
      <p:sp>
        <p:nvSpPr>
          <p:cNvPr id="11" name="rect-42">
            <a:extLst xmlns:a="http://schemas.openxmlformats.org/drawingml/2006/main">
              <a:ext uri="{FF2B5EF4-FFF2-40B4-BE49-F238E27FC236}">
                <a16:creationId xmlns:a16="http://schemas.microsoft.com/office/drawing/2014/main" id="{080153C4-7735-47B1-8735-0D7848EA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43">
            <a:extLst xmlns:a="http://schemas.openxmlformats.org/drawingml/2006/main">
              <a:ext uri="{FF2B5EF4-FFF2-40B4-BE49-F238E27FC236}">
                <a16:creationId xmlns:a16="http://schemas.microsoft.com/office/drawing/2014/main" id="{44BB8625-7900-4C2A-A926-64F139DF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44">
            <a:extLst xmlns:a="http://schemas.openxmlformats.org/drawingml/2006/main">
              <a:ext uri="{FF2B5EF4-FFF2-40B4-BE49-F238E27FC236}">
                <a16:creationId xmlns:a16="http://schemas.microsoft.com/office/drawing/2014/main" id="{0C4B4509-9D54-4511-A7B0-0405B2B5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Conversión</a:t>
            </a:r>
          </a:p>
        </p:txBody>
      </p:sp>
      <p:sp>
        <p:nvSpPr>
          <p:cNvPr id="14" name="text-45">
            <a:extLst xmlns:a="http://schemas.openxmlformats.org/drawingml/2006/main">
              <a:ext uri="{FF2B5EF4-FFF2-40B4-BE49-F238E27FC236}">
                <a16:creationId xmlns:a16="http://schemas.microsoft.com/office/drawing/2014/main" id="{C4659B86-2A4C-49AD-AC48-51ACBC8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Landing y formulario</a:t>
            </a:r>
          </a:p>
        </p:txBody>
      </p:sp>
      <p:sp>
        <p:nvSpPr>
          <p:cNvPr id="15" name="rect-46">
            <a:extLst xmlns:a="http://schemas.openxmlformats.org/drawingml/2006/main">
              <a:ext uri="{FF2B5EF4-FFF2-40B4-BE49-F238E27FC236}">
                <a16:creationId xmlns:a16="http://schemas.microsoft.com/office/drawing/2014/main" id="{7C5FEAB6-D01D-4DD9-9E9B-5B0A6BED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7">
            <a:extLst xmlns:a="http://schemas.openxmlformats.org/drawingml/2006/main">
              <a:ext uri="{FF2B5EF4-FFF2-40B4-BE49-F238E27FC236}">
                <a16:creationId xmlns:a16="http://schemas.microsoft.com/office/drawing/2014/main" id="{E0DBC23B-1D91-40F3-9355-FA7D69E5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-48">
            <a:extLst xmlns:a="http://schemas.openxmlformats.org/drawingml/2006/main">
              <a:ext uri="{FF2B5EF4-FFF2-40B4-BE49-F238E27FC236}">
                <a16:creationId xmlns:a16="http://schemas.microsoft.com/office/drawing/2014/main" id="{5DBD90DA-FC60-490C-B63A-EF4451B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Contacto</a:t>
            </a:r>
          </a:p>
        </p:txBody>
      </p:sp>
      <p:sp>
        <p:nvSpPr>
          <p:cNvPr id="18" name="text-49">
            <a:extLst xmlns:a="http://schemas.openxmlformats.org/drawingml/2006/main">
              <a:ext uri="{FF2B5EF4-FFF2-40B4-BE49-F238E27FC236}">
                <a16:creationId xmlns:a16="http://schemas.microsoft.com/office/drawing/2014/main" id="{52826A80-7B48-4426-BDB7-E5192BAD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Respuesta y cualificación</a:t>
            </a:r>
          </a:p>
        </p:txBody>
      </p:sp>
      <p:sp>
        <p:nvSpPr>
          <p:cNvPr id="19" name="rect-50">
            <a:extLst xmlns:a="http://schemas.openxmlformats.org/drawingml/2006/main">
              <a:ext uri="{FF2B5EF4-FFF2-40B4-BE49-F238E27FC236}">
                <a16:creationId xmlns:a16="http://schemas.microsoft.com/office/drawing/2014/main" id="{A4B0F7E9-9DDC-44A3-B022-9148D03B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51">
            <a:extLst xmlns:a="http://schemas.openxmlformats.org/drawingml/2006/main">
              <a:ext uri="{FF2B5EF4-FFF2-40B4-BE49-F238E27FC236}">
                <a16:creationId xmlns:a16="http://schemas.microsoft.com/office/drawing/2014/main" id="{43600F43-5A9E-4167-A76F-A025F32D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text-52">
            <a:extLst xmlns:a="http://schemas.openxmlformats.org/drawingml/2006/main">
              <a:ext uri="{FF2B5EF4-FFF2-40B4-BE49-F238E27FC236}">
                <a16:creationId xmlns:a16="http://schemas.microsoft.com/office/drawing/2014/main" id="{C75B71EC-38C7-417B-95BE-E500CBFC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22" name="text-53">
            <a:extLst xmlns:a="http://schemas.openxmlformats.org/drawingml/2006/main">
              <a:ext uri="{FF2B5EF4-FFF2-40B4-BE49-F238E27FC236}">
                <a16:creationId xmlns:a16="http://schemas.microsoft.com/office/drawing/2014/main" id="{9A5C98F6-B18D-4498-A374-B8700717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Cita, venta o asunto</a:t>
            </a:r>
          </a:p>
        </p:txBody>
      </p:sp>
      <p:sp>
        <p:nvSpPr>
          <p:cNvPr id="23" name="rect-54">
            <a:extLst xmlns:a="http://schemas.openxmlformats.org/drawingml/2006/main">
              <a:ext uri="{FF2B5EF4-FFF2-40B4-BE49-F238E27FC236}">
                <a16:creationId xmlns:a16="http://schemas.microsoft.com/office/drawing/2014/main" id="{13E2C86C-8E72-4CD9-BFA7-261B793E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55">
            <a:extLst xmlns:a="http://schemas.openxmlformats.org/drawingml/2006/main">
              <a:ext uri="{FF2B5EF4-FFF2-40B4-BE49-F238E27FC236}">
                <a16:creationId xmlns:a16="http://schemas.microsoft.com/office/drawing/2014/main" id="{1382A875-0C1F-4DF9-8574-9AB5B5C7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24C9B90F-8BCA-4DE6-883F-5A790905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Aprendizaje</a:t>
            </a:r>
          </a:p>
        </p:txBody>
      </p:sp>
      <p:sp>
        <p:nvSpPr>
          <p:cNvPr id="26" name="text-57">
            <a:extLst xmlns:a="http://schemas.openxmlformats.org/drawingml/2006/main">
              <a:ext uri="{FF2B5EF4-FFF2-40B4-BE49-F238E27FC236}">
                <a16:creationId xmlns:a16="http://schemas.microsoft.com/office/drawing/2014/main" id="{9F79CABF-CA86-4FA3-AE42-EA25F994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Decidir, pausar o escalar</a:t>
            </a:r>
          </a:p>
        </p:txBody>
      </p:sp>
    </p:spTree>
    <p:extLst>
      <p:ext uri="{BB962C8B-B14F-4D97-AF65-F5344CB8AC3E}">
        <p14:creationId xmlns:p14="http://schemas.microsoft.com/office/powerpoint/2010/main" val="853588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58">
            <a:extLst xmlns:a="http://schemas.openxmlformats.org/drawingml/2006/main">
              <a:ext uri="{FF2B5EF4-FFF2-40B4-BE49-F238E27FC236}">
                <a16:creationId xmlns:a16="http://schemas.microsoft.com/office/drawing/2014/main" id="{1A8F932D-16C9-4842-9F14-FE79CE6A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B879C864-32C4-4924-A5F3-C4A01080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43BFBC54-1273-4405-9F67-F3DB8F15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FOCO</a:t>
            </a:r>
          </a:p>
        </p:txBody>
      </p:sp>
      <p:sp>
        <p:nvSpPr>
          <p:cNvPr id="4" name="text-61">
            <a:extLst xmlns:a="http://schemas.openxmlformats.org/drawingml/2006/main">
              <a:ext uri="{FF2B5EF4-FFF2-40B4-BE49-F238E27FC236}">
                <a16:creationId xmlns:a16="http://schemas.microsoft.com/office/drawing/2014/main" id="{5635C5BA-AFBC-43EF-9FB1-14DB81C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5105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Un sistema se diseña alrededor de una especialidad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79600323-4755-45BC-BC84-F42CC4C3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No mezclamos servicios, territorios y públicos incompatibles. Cada campaña parte de una oferta, un decisor, una zona y una conversión final definida.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9928b733f4aa7"/>
          <a:srcRect xmlns:a="http://schemas.openxmlformats.org/drawingml/2006/main" l="22742" t="0" r="227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57200"/>
            <a:ext cx="5391150" cy="556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25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64">
            <a:extLst xmlns:a="http://schemas.openxmlformats.org/drawingml/2006/main">
              <a:ext uri="{FF2B5EF4-FFF2-40B4-BE49-F238E27FC236}">
                <a16:creationId xmlns:a16="http://schemas.microsoft.com/office/drawing/2014/main" id="{EE15F00C-9008-4937-BCC3-46E2D99B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2864AC0A-53B2-4A84-AB8B-95BEE9AF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text-66">
            <a:extLst xmlns:a="http://schemas.openxmlformats.org/drawingml/2006/main">
              <a:ext uri="{FF2B5EF4-FFF2-40B4-BE49-F238E27FC236}">
                <a16:creationId xmlns:a16="http://schemas.microsoft.com/office/drawing/2014/main" id="{2D186C50-2D71-4837-B436-DCA8B93F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QUÉ SE CONSTRUYE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15F85B8B-AB98-4C97-BA29-B717B81F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Cada pieza debe ayudar a convertir, no decorar</a:t>
            </a:r>
          </a:p>
        </p:txBody>
      </p:sp>
      <p:sp>
        <p:nvSpPr>
          <p:cNvPr id="5" name="line-67">
            <a:extLst xmlns:a="http://schemas.openxmlformats.org/drawingml/2006/main">
              <a:ext uri="{FF2B5EF4-FFF2-40B4-BE49-F238E27FC236}">
                <a16:creationId xmlns:a16="http://schemas.microsoft.com/office/drawing/2014/main" id="{34527B77-19F3-4881-A8C4-E079E59C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BD8BCDFD-AB46-4226-984D-9C59971E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DE2C6A16-CC69-49C8-BD2C-308E2D23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Campaña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4B91A162-1A5F-495F-8E5B-891AD98D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Estructura por intención, negativas, ubicación y capacidad.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1B7435D2-5BC7-4CC1-B4B7-2BE4AEAD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AAED3E7D-4800-4C2F-B324-FDDE37AA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Landing</a:t>
            </a:r>
          </a:p>
        </p:txBody>
      </p:sp>
      <p:sp>
        <p:nvSpPr>
          <p:cNvPr id="11" name="text-73">
            <a:extLst xmlns:a="http://schemas.openxmlformats.org/drawingml/2006/main">
              <a:ext uri="{FF2B5EF4-FFF2-40B4-BE49-F238E27FC236}">
                <a16:creationId xmlns:a16="http://schemas.microsoft.com/office/drawing/2014/main" id="{6F77FB65-6EBA-44EC-9786-323A6FA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Mensaje específico, prueba verificable y formulario útil.</a:t>
            </a:r>
          </a:p>
        </p:txBody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06D3834A-DE74-4A82-9D3F-4BAE261A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D5D8B7C0-701F-437A-A4F9-25431017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Creatividad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ACE21D68-D533-4B18-900F-C5DD592D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Ángulos diferentes, formatos adaptados y revisión humana.</a:t>
            </a:r>
          </a:p>
        </p:txBody>
      </p:sp>
      <p:sp>
        <p:nvSpPr>
          <p:cNvPr id="15" name="text-77">
            <a:extLst xmlns:a="http://schemas.openxmlformats.org/drawingml/2006/main">
              <a:ext uri="{FF2B5EF4-FFF2-40B4-BE49-F238E27FC236}">
                <a16:creationId xmlns:a16="http://schemas.microsoft.com/office/drawing/2014/main" id="{6E3974F6-AB0F-47FE-8421-178A8A98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1FA51729-19A0-45C6-B270-ABEB0D63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17" name="text-79">
            <a:extLst xmlns:a="http://schemas.openxmlformats.org/drawingml/2006/main">
              <a:ext uri="{FF2B5EF4-FFF2-40B4-BE49-F238E27FC236}">
                <a16:creationId xmlns:a16="http://schemas.microsoft.com/office/drawing/2014/main" id="{06370B1B-73AA-4415-987E-215D0AF4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Contacto, agenda, recordatorios y motivo de pérdida.</a:t>
            </a:r>
          </a:p>
        </p:txBody>
      </p:sp>
    </p:spTree>
    <p:extLst>
      <p:ext uri="{BB962C8B-B14F-4D97-AF65-F5344CB8AC3E}">
        <p14:creationId xmlns:p14="http://schemas.microsoft.com/office/powerpoint/2010/main" val="1544121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95B2A598-FFE9-4794-BDD4-AE34AD45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81">
            <a:extLst xmlns:a="http://schemas.openxmlformats.org/drawingml/2006/main">
              <a:ext uri="{FF2B5EF4-FFF2-40B4-BE49-F238E27FC236}">
                <a16:creationId xmlns:a16="http://schemas.microsoft.com/office/drawing/2014/main" id="{3E692A9F-F0FD-442F-B214-B56A0199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09DE6417-15DA-4D47-8854-B1650BA9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CUALIFICACIÓN</a:t>
            </a:r>
          </a:p>
        </p:txBody>
      </p:sp>
      <p:sp>
        <p:nvSpPr>
          <p:cNvPr id="4" name="text-83">
            <a:extLst xmlns:a="http://schemas.openxmlformats.org/drawingml/2006/main">
              <a:ext uri="{FF2B5EF4-FFF2-40B4-BE49-F238E27FC236}">
                <a16:creationId xmlns:a16="http://schemas.microsoft.com/office/drawing/2014/main" id="{06565BC5-C71A-4C2E-AC3D-C9750655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5105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 calidad empieza por rechazar demanda que no encaja</a:t>
            </a:r>
          </a:p>
        </p:txBody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47807952-5184-447E-B993-20BE5BB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Definimos oportunidad válida e inválida antes de lanzar. Así el equipo no confunde volumen con trabajo comercial útil.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7b1cd86fe4da7"/>
          <a:srcRect xmlns:a="http://schemas.openxmlformats.org/drawingml/2006/main" l="22742" t="0" r="227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57200"/>
            <a:ext cx="5391150" cy="556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1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86">
            <a:extLst xmlns:a="http://schemas.openxmlformats.org/drawingml/2006/main">
              <a:ext uri="{FF2B5EF4-FFF2-40B4-BE49-F238E27FC236}">
                <a16:creationId xmlns:a16="http://schemas.microsoft.com/office/drawing/2014/main" id="{F3232921-6BED-46C4-A94F-69D08812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AA4AF182-3759-493E-B246-D08BC86F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text-88">
            <a:extLst xmlns:a="http://schemas.openxmlformats.org/drawingml/2006/main">
              <a:ext uri="{FF2B5EF4-FFF2-40B4-BE49-F238E27FC236}">
                <a16:creationId xmlns:a16="http://schemas.microsoft.com/office/drawing/2014/main" id="{C52F68A6-B432-4102-9FEE-5D8CEDCA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PILOTO CONTROLADO</a:t>
            </a:r>
          </a:p>
        </p:txBody>
      </p:sp>
      <p:sp>
        <p:nvSpPr>
          <p:cNvPr id="4" name="title-8">
            <a:extLst xmlns:a="http://schemas.openxmlformats.org/drawingml/2006/main">
              <a:ext uri="{FF2B5EF4-FFF2-40B4-BE49-F238E27FC236}">
                <a16:creationId xmlns:a16="http://schemas.microsoft.com/office/drawing/2014/main" id="{04429CE3-D627-4650-BD7A-A3173BD8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 prueba avanza por puertas, no por promesas</a:t>
            </a:r>
          </a:p>
        </p:txBody>
      </p:sp>
      <p:sp>
        <p:nvSpPr>
          <p:cNvPr id="5" name="line-89">
            <a:extLst xmlns:a="http://schemas.openxmlformats.org/drawingml/2006/main">
              <a:ext uri="{FF2B5EF4-FFF2-40B4-BE49-F238E27FC236}">
                <a16:creationId xmlns:a16="http://schemas.microsoft.com/office/drawing/2014/main" id="{668B4765-92D9-4B96-9832-A2C8B25B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line-90">
            <a:extLst xmlns:a="http://schemas.openxmlformats.org/drawingml/2006/main">
              <a:ext uri="{FF2B5EF4-FFF2-40B4-BE49-F238E27FC236}">
                <a16:creationId xmlns:a16="http://schemas.microsoft.com/office/drawing/2014/main" id="{D967BFA8-AB4C-40CF-880D-E2246D1A0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33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213A"/>
            </a:solidFill>
            <a:prstDash val="solid"/>
          </a:ln>
        </p:spPr>
      </p:sp>
      <p:sp>
        <p:nvSpPr>
          <p:cNvPr id="7" name="rect-91">
            <a:extLst xmlns:a="http://schemas.openxmlformats.org/drawingml/2006/main">
              <a:ext uri="{FF2B5EF4-FFF2-40B4-BE49-F238E27FC236}">
                <a16:creationId xmlns:a16="http://schemas.microsoft.com/office/drawing/2014/main" id="{6536D3FD-1793-4744-BE56-77A0EC4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92">
            <a:extLst xmlns:a="http://schemas.openxmlformats.org/drawingml/2006/main">
              <a:ext uri="{FF2B5EF4-FFF2-40B4-BE49-F238E27FC236}">
                <a16:creationId xmlns:a16="http://schemas.microsoft.com/office/drawing/2014/main" id="{C86F6E75-D23B-49B5-94A7-F49F57CB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PUERTA 1</a:t>
            </a:r>
          </a:p>
        </p:txBody>
      </p:sp>
      <p:sp>
        <p:nvSpPr>
          <p:cNvPr id="9" name="text-93">
            <a:extLst xmlns:a="http://schemas.openxmlformats.org/drawingml/2006/main">
              <a:ext uri="{FF2B5EF4-FFF2-40B4-BE49-F238E27FC236}">
                <a16:creationId xmlns:a16="http://schemas.microsoft.com/office/drawing/2014/main" id="{9D934ACA-C343-46DF-82DF-644F44B8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Encaje</a:t>
            </a:r>
          </a:p>
        </p:txBody>
      </p:sp>
      <p:sp>
        <p:nvSpPr>
          <p:cNvPr id="10" name="text-94">
            <a:extLst xmlns:a="http://schemas.openxmlformats.org/drawingml/2006/main">
              <a:ext uri="{FF2B5EF4-FFF2-40B4-BE49-F238E27FC236}">
                <a16:creationId xmlns:a16="http://schemas.microsoft.com/office/drawing/2014/main" id="{0F51A169-9FBF-4B8B-B74F-6315D55D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Oferta, margen y capacidad</a:t>
            </a:r>
          </a:p>
        </p:txBody>
      </p:sp>
      <p:sp>
        <p:nvSpPr>
          <p:cNvPr id="11" name="rect-95">
            <a:extLst xmlns:a="http://schemas.openxmlformats.org/drawingml/2006/main">
              <a:ext uri="{FF2B5EF4-FFF2-40B4-BE49-F238E27FC236}">
                <a16:creationId xmlns:a16="http://schemas.microsoft.com/office/drawing/2014/main" id="{4923977B-6C9C-4802-9417-3AEE8F65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5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F5AC4F8C-8BDF-46AD-9CC8-1F470F12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78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PUERTA 2</a:t>
            </a:r>
          </a:p>
        </p:txBody>
      </p:sp>
      <p:sp>
        <p:nvSpPr>
          <p:cNvPr id="13" name="text-97">
            <a:extLst xmlns:a="http://schemas.openxmlformats.org/drawingml/2006/main">
              <a:ext uri="{FF2B5EF4-FFF2-40B4-BE49-F238E27FC236}">
                <a16:creationId xmlns:a16="http://schemas.microsoft.com/office/drawing/2014/main" id="{A1BB4AE9-A062-42EF-85E2-8E059DA9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Preparación</a:t>
            </a:r>
          </a:p>
        </p:txBody>
      </p:sp>
      <p:sp>
        <p:nvSpPr>
          <p:cNvPr id="14" name="text-98">
            <a:extLst xmlns:a="http://schemas.openxmlformats.org/drawingml/2006/main">
              <a:ext uri="{FF2B5EF4-FFF2-40B4-BE49-F238E27FC236}">
                <a16:creationId xmlns:a16="http://schemas.microsoft.com/office/drawing/2014/main" id="{B3904B68-8558-4AB2-970D-2BAF34F6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10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Activos, legal y medición</a:t>
            </a:r>
          </a:p>
        </p:txBody>
      </p:sp>
      <p:sp>
        <p:nvSpPr>
          <p:cNvPr id="15" name="rect-99">
            <a:extLst xmlns:a="http://schemas.openxmlformats.org/drawingml/2006/main">
              <a:ext uri="{FF2B5EF4-FFF2-40B4-BE49-F238E27FC236}">
                <a16:creationId xmlns:a16="http://schemas.microsoft.com/office/drawing/2014/main" id="{B198AB90-8091-4E0D-A140-D0E4D55E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60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00">
            <a:extLst xmlns:a="http://schemas.openxmlformats.org/drawingml/2006/main">
              <a:ext uri="{FF2B5EF4-FFF2-40B4-BE49-F238E27FC236}">
                <a16:creationId xmlns:a16="http://schemas.microsoft.com/office/drawing/2014/main" id="{CA8CE9B5-E3F6-444D-A2CF-F66295D9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3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PUERTA 3</a:t>
            </a:r>
          </a:p>
        </p:txBody>
      </p:sp>
      <p:sp>
        <p:nvSpPr>
          <p:cNvPr id="17" name="text-101">
            <a:extLst xmlns:a="http://schemas.openxmlformats.org/drawingml/2006/main">
              <a:ext uri="{FF2B5EF4-FFF2-40B4-BE49-F238E27FC236}">
                <a16:creationId xmlns:a16="http://schemas.microsoft.com/office/drawing/2014/main" id="{932B2D5A-E384-4510-88F1-019BD3BE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78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18" name="text-102">
            <a:extLst xmlns:a="http://schemas.openxmlformats.org/drawingml/2006/main">
              <a:ext uri="{FF2B5EF4-FFF2-40B4-BE49-F238E27FC236}">
                <a16:creationId xmlns:a16="http://schemas.microsoft.com/office/drawing/2014/main" id="{24CE4673-8729-431F-BB9F-9F43373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Presupuesto y periodo acordados</a:t>
            </a:r>
          </a:p>
        </p:txBody>
      </p:sp>
      <p:sp>
        <p:nvSpPr>
          <p:cNvPr id="19" name="rect-103">
            <a:extLst xmlns:a="http://schemas.openxmlformats.org/drawingml/2006/main">
              <a:ext uri="{FF2B5EF4-FFF2-40B4-BE49-F238E27FC236}">
                <a16:creationId xmlns:a16="http://schemas.microsoft.com/office/drawing/2014/main" id="{90A1C536-21E6-4DD4-9822-CC1F6BC8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48025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A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104">
            <a:extLst xmlns:a="http://schemas.openxmlformats.org/drawingml/2006/main">
              <a:ext uri="{FF2B5EF4-FFF2-40B4-BE49-F238E27FC236}">
                <a16:creationId xmlns:a16="http://schemas.microsoft.com/office/drawing/2014/main" id="{DB00DEF0-33E5-448D-83D8-79F52129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7622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PUERTA 4</a:t>
            </a:r>
          </a:p>
        </p:txBody>
      </p:sp>
      <p:sp>
        <p:nvSpPr>
          <p:cNvPr id="21" name="text-105">
            <a:extLst xmlns:a="http://schemas.openxmlformats.org/drawingml/2006/main">
              <a:ext uri="{FF2B5EF4-FFF2-40B4-BE49-F238E27FC236}">
                <a16:creationId xmlns:a16="http://schemas.microsoft.com/office/drawing/2014/main" id="{876C6F13-1E79-4C7D-8BF3-0F7A5632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7190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22" name="text-106">
            <a:extLst xmlns:a="http://schemas.openxmlformats.org/drawingml/2006/main">
              <a:ext uri="{FF2B5EF4-FFF2-40B4-BE49-F238E27FC236}">
                <a16:creationId xmlns:a16="http://schemas.microsoft.com/office/drawing/2014/main" id="{47505867-1132-4B2F-BDEB-FB948EE1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76725"/>
            <a:ext cx="2438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Escalar, corregir o detener</a:t>
            </a:r>
          </a:p>
        </p:txBody>
      </p:sp>
    </p:spTree>
    <p:extLst>
      <p:ext uri="{BB962C8B-B14F-4D97-AF65-F5344CB8AC3E}">
        <p14:creationId xmlns:p14="http://schemas.microsoft.com/office/powerpoint/2010/main" val="2156207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07">
            <a:extLst xmlns:a="http://schemas.openxmlformats.org/drawingml/2006/main">
              <a:ext uri="{FF2B5EF4-FFF2-40B4-BE49-F238E27FC236}">
                <a16:creationId xmlns:a16="http://schemas.microsoft.com/office/drawing/2014/main" id="{E6D63180-9F08-4D5A-8DC9-E368482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0310975C-F357-4245-A76E-19BE2908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49801989-A8DB-4020-A8E6-11FE720F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MEDICIÓN</a:t>
            </a:r>
          </a:p>
        </p:txBody>
      </p:sp>
      <p:sp>
        <p:nvSpPr>
          <p:cNvPr id="4" name="title-9">
            <a:extLst xmlns:a="http://schemas.openxmlformats.org/drawingml/2006/main">
              <a:ext uri="{FF2B5EF4-FFF2-40B4-BE49-F238E27FC236}">
                <a16:creationId xmlns:a16="http://schemas.microsoft.com/office/drawing/2014/main" id="{C6F075E5-4A35-448B-B01D-50A79AB2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El CPL es una señal; el resultado comercial decide</a:t>
            </a:r>
          </a:p>
        </p:txBody>
      </p:sp>
      <p:sp>
        <p:nvSpPr>
          <p:cNvPr id="5" name="line-110">
            <a:extLst xmlns:a="http://schemas.openxmlformats.org/drawingml/2006/main">
              <a:ext uri="{FF2B5EF4-FFF2-40B4-BE49-F238E27FC236}">
                <a16:creationId xmlns:a16="http://schemas.microsoft.com/office/drawing/2014/main" id="{15DDAC87-9478-45DF-8CBF-4C76D836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111">
            <a:extLst xmlns:a="http://schemas.openxmlformats.org/drawingml/2006/main">
              <a:ext uri="{FF2B5EF4-FFF2-40B4-BE49-F238E27FC236}">
                <a16:creationId xmlns:a16="http://schemas.microsoft.com/office/drawing/2014/main" id="{A693F2E8-2B2D-48A0-9675-1E84EFD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Medimos el trayecto</a:t>
            </a:r>
          </a:p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736FA59C-65EE-4556-A94C-2367D5FC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495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Contacto válido, cualificación, cita, asistencia, presupuesto o consulta, venta o asunto aceptado y valor económico.</a:t>
            </a:r>
          </a:p>
        </p:txBody>
      </p:sp>
      <p:sp>
        <p:nvSpPr>
          <p:cNvPr id="8" name="line-113">
            <a:extLst xmlns:a="http://schemas.openxmlformats.org/drawingml/2006/main">
              <a:ext uri="{FF2B5EF4-FFF2-40B4-BE49-F238E27FC236}">
                <a16:creationId xmlns:a16="http://schemas.microsoft.com/office/drawing/2014/main" id="{47276C14-93F3-4DE7-846E-2EBF2438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9" name="rect-114">
            <a:extLst xmlns:a="http://schemas.openxmlformats.org/drawingml/2006/main">
              <a:ext uri="{FF2B5EF4-FFF2-40B4-BE49-F238E27FC236}">
                <a16:creationId xmlns:a16="http://schemas.microsoft.com/office/drawing/2014/main" id="{5D836CE7-C1C4-4724-B262-7A4C83BB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53911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83282EC1-A55E-4036-B032-7A7CCBE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33650"/>
            <a:ext cx="4705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Tomamos decisiones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5C341DDF-8BCF-427D-82A1-E2E34F51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76600"/>
            <a:ext cx="47053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13A"/>
                </a:solidFill>
                <a:latin typeface="Arial"/>
                <a:ea typeface="Arial"/>
                <a:cs typeface="Arial"/>
              </a:rPr>
              <a:t>Se escala únicamente cuando el resultado final y la capacidad lo justifican. Si falta trazabilidad, se corrige antes de gastar más.</a:t>
            </a:r>
          </a:p>
        </p:txBody>
      </p:sp>
    </p:spTree>
    <p:extLst>
      <p:ext uri="{BB962C8B-B14F-4D97-AF65-F5344CB8AC3E}">
        <p14:creationId xmlns:p14="http://schemas.microsoft.com/office/powerpoint/2010/main" val="389086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2C5DD8FA-0405-4E48-B16D-FAD9AD23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9578D18C-5FD9-4440-BDBC-D8DAD563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text-119">
            <a:extLst xmlns:a="http://schemas.openxmlformats.org/drawingml/2006/main">
              <a:ext uri="{FF2B5EF4-FFF2-40B4-BE49-F238E27FC236}">
                <a16:creationId xmlns:a16="http://schemas.microsoft.com/office/drawing/2014/main" id="{4B1BE54F-65CA-417B-8AA1-EA85113A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CONDICIONES DE ÉXITO</a:t>
            </a:r>
          </a:p>
        </p:txBody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4C242EF5-1B13-4C60-8925-34FCDF3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5105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El negocio también debe estar preparado para convertir</a:t>
            </a:r>
          </a:p>
        </p:txBody>
      </p:sp>
      <p:sp>
        <p:nvSpPr>
          <p:cNvPr id="5" name="text-121">
            <a:extLst xmlns:a="http://schemas.openxmlformats.org/drawingml/2006/main">
              <a:ext uri="{FF2B5EF4-FFF2-40B4-BE49-F238E27FC236}">
                <a16:creationId xmlns:a16="http://schemas.microsoft.com/office/drawing/2014/main" id="{E7E81C88-9A4E-4ACC-A595-7F78D2ED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Necesitamos respuesta rápida, agenda disponible, criterios de aceptación, seguimiento consistente y devolución del resultado. Sin esas condiciones, aumentar tráfico solo amplifica la pérdida.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41a1f16b24f39"/>
          <a:srcRect xmlns:a="http://schemas.openxmlformats.org/drawingml/2006/main" l="22742" t="0" r="227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57200"/>
            <a:ext cx="5391150" cy="556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85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23">
            <a:extLst xmlns:a="http://schemas.openxmlformats.org/drawingml/2006/main">
              <a:ext uri="{FF2B5EF4-FFF2-40B4-BE49-F238E27FC236}">
                <a16:creationId xmlns:a16="http://schemas.microsoft.com/office/drawing/2014/main" id="{4F610897-54F9-425C-8380-30B82354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24">
            <a:extLst xmlns:a="http://schemas.openxmlformats.org/drawingml/2006/main">
              <a:ext uri="{FF2B5EF4-FFF2-40B4-BE49-F238E27FC236}">
                <a16:creationId xmlns:a16="http://schemas.microsoft.com/office/drawing/2014/main" id="{3987A57C-380A-4F03-9477-FDEA1513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708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text-125">
            <a:extLst xmlns:a="http://schemas.openxmlformats.org/drawingml/2006/main">
              <a:ext uri="{FF2B5EF4-FFF2-40B4-BE49-F238E27FC236}">
                <a16:creationId xmlns:a16="http://schemas.microsoft.com/office/drawing/2014/main" id="{3328CBD7-EEDE-4E8D-81A3-E2259389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PRIMERA CONVERSACIÓN</a:t>
            </a:r>
          </a:p>
        </p:txBody>
      </p:sp>
      <p:sp>
        <p:nvSpPr>
          <p:cNvPr id="4" name="title-11">
            <a:extLst xmlns:a="http://schemas.openxmlformats.org/drawingml/2006/main">
              <a:ext uri="{FF2B5EF4-FFF2-40B4-BE49-F238E27FC236}">
                <a16:creationId xmlns:a16="http://schemas.microsoft.com/office/drawing/2014/main" id="{1596120A-8D62-441C-B64C-27DF9F42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La reunión de diagnóstico debe responder cuatro preguntas</a:t>
            </a:r>
          </a:p>
        </p:txBody>
      </p:sp>
      <p:sp>
        <p:nvSpPr>
          <p:cNvPr id="5" name="line-126">
            <a:extLst xmlns:a="http://schemas.openxmlformats.org/drawingml/2006/main">
              <a:ext uri="{FF2B5EF4-FFF2-40B4-BE49-F238E27FC236}">
                <a16:creationId xmlns:a16="http://schemas.microsoft.com/office/drawing/2014/main" id="{E5234729-0909-4831-B800-9AC57BD2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B"/>
            </a:solidFill>
            <a:prstDash val="solid"/>
          </a:ln>
        </p:spPr>
      </p:sp>
      <p:sp>
        <p:nvSpPr>
          <p:cNvPr id="6" name="text-127">
            <a:extLst xmlns:a="http://schemas.openxmlformats.org/drawingml/2006/main">
              <a:ext uri="{FF2B5EF4-FFF2-40B4-BE49-F238E27FC236}">
                <a16:creationId xmlns:a16="http://schemas.microsoft.com/office/drawing/2014/main" id="{80C2D9D8-1FCE-45BE-9C79-03D8C371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-128">
            <a:extLst xmlns:a="http://schemas.openxmlformats.org/drawingml/2006/main">
              <a:ext uri="{FF2B5EF4-FFF2-40B4-BE49-F238E27FC236}">
                <a16:creationId xmlns:a16="http://schemas.microsoft.com/office/drawing/2014/main" id="{AC463664-4F55-4637-91AA-075AF582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¿Qué vender?</a:t>
            </a:r>
          </a:p>
        </p:txBody>
      </p:sp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CF47A4FB-A0AE-49EA-9C1B-B608A77F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Servicio prioritario, ticket, margen y diferenciación real.</a:t>
            </a:r>
          </a:p>
        </p:txBody>
      </p:sp>
      <p:sp>
        <p:nvSpPr>
          <p:cNvPr id="9" name="text-130">
            <a:extLst xmlns:a="http://schemas.openxmlformats.org/drawingml/2006/main">
              <a:ext uri="{FF2B5EF4-FFF2-40B4-BE49-F238E27FC236}">
                <a16:creationId xmlns:a16="http://schemas.microsoft.com/office/drawing/2014/main" id="{09947616-F851-489B-89EE-5477EB7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131">
            <a:extLst xmlns:a="http://schemas.openxmlformats.org/drawingml/2006/main">
              <a:ext uri="{FF2B5EF4-FFF2-40B4-BE49-F238E27FC236}">
                <a16:creationId xmlns:a16="http://schemas.microsoft.com/office/drawing/2014/main" id="{FEEC9504-0304-48F8-BEA2-A7FCA527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907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¿A quién?</a:t>
            </a:r>
          </a:p>
        </p:txBody>
      </p:sp>
      <p:sp>
        <p:nvSpPr>
          <p:cNvPr id="11" name="text-132">
            <a:extLst xmlns:a="http://schemas.openxmlformats.org/drawingml/2006/main">
              <a:ext uri="{FF2B5EF4-FFF2-40B4-BE49-F238E27FC236}">
                <a16:creationId xmlns:a16="http://schemas.microsoft.com/office/drawing/2014/main" id="{9205421E-CE91-4EE1-B339-C101F922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Zona, perfil, urgencia y criterios de rechazo.</a:t>
            </a:r>
          </a:p>
        </p:txBody>
      </p:sp>
      <p:sp>
        <p:nvSpPr>
          <p:cNvPr id="12" name="text-133">
            <a:extLst xmlns:a="http://schemas.openxmlformats.org/drawingml/2006/main">
              <a:ext uri="{FF2B5EF4-FFF2-40B4-BE49-F238E27FC236}">
                <a16:creationId xmlns:a16="http://schemas.microsoft.com/office/drawing/2014/main" id="{85906599-02E0-4087-A254-542B31DD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text-134">
            <a:extLst xmlns:a="http://schemas.openxmlformats.org/drawingml/2006/main">
              <a:ext uri="{FF2B5EF4-FFF2-40B4-BE49-F238E27FC236}">
                <a16:creationId xmlns:a16="http://schemas.microsoft.com/office/drawing/2014/main" id="{29C2DB99-113D-4714-9BE4-7E94E49B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¿Cuánto absorber?</a:t>
            </a:r>
          </a:p>
        </p:txBody>
      </p:sp>
      <p:sp>
        <p:nvSpPr>
          <p:cNvPr id="14" name="text-135">
            <a:extLst xmlns:a="http://schemas.openxmlformats.org/drawingml/2006/main">
              <a:ext uri="{FF2B5EF4-FFF2-40B4-BE49-F238E27FC236}">
                <a16:creationId xmlns:a16="http://schemas.microsoft.com/office/drawing/2014/main" id="{F0704386-5BC9-4ECE-A952-44BE51AD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Capacidad semanal, tiempos de respuesta y agenda.</a:t>
            </a:r>
          </a:p>
        </p:txBody>
      </p:sp>
      <p:sp>
        <p:nvSpPr>
          <p:cNvPr id="15" name="text-136">
            <a:extLst xmlns:a="http://schemas.openxmlformats.org/drawingml/2006/main">
              <a:ext uri="{FF2B5EF4-FFF2-40B4-BE49-F238E27FC236}">
                <a16:creationId xmlns:a16="http://schemas.microsoft.com/office/drawing/2014/main" id="{1DFB5D04-A741-4BBF-816A-90A0AAAC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767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57D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57D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497D425F-DAEB-449F-9228-6134C7BE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76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13A"/>
                </a:solidFill>
                <a:latin typeface="Arial"/>
                <a:ea typeface="Arial"/>
                <a:cs typeface="Arial"/>
              </a:rPr>
              <a:t>¿Cómo medir?</a:t>
            </a:r>
          </a:p>
        </p:txBody>
      </p:sp>
      <p:sp>
        <p:nvSpPr>
          <p:cNvPr id="17" name="text-138">
            <a:extLst xmlns:a="http://schemas.openxmlformats.org/drawingml/2006/main">
              <a:ext uri="{FF2B5EF4-FFF2-40B4-BE49-F238E27FC236}">
                <a16:creationId xmlns:a16="http://schemas.microsoft.com/office/drawing/2014/main" id="{43200002-2CF2-4ABF-A1AC-D0DE0AF1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686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9"/>
                </a:solidFill>
                <a:latin typeface="Arial"/>
                <a:ea typeface="Arial"/>
                <a:cs typeface="Arial"/>
              </a:rPr>
              <a:t>Etapas, datos disponibles y resultado económico final.</a:t>
            </a:r>
          </a:p>
        </p:txBody>
      </p:sp>
    </p:spTree>
    <p:extLst>
      <p:ext uri="{BB962C8B-B14F-4D97-AF65-F5344CB8AC3E}">
        <p14:creationId xmlns:p14="http://schemas.microsoft.com/office/powerpoint/2010/main" val="12441852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39">
            <a:extLst xmlns:a="http://schemas.openxmlformats.org/drawingml/2006/main">
              <a:ext uri="{FF2B5EF4-FFF2-40B4-BE49-F238E27FC236}">
                <a16:creationId xmlns:a16="http://schemas.microsoft.com/office/drawing/2014/main" id="{66D1C1FB-D8BD-4598-8F7F-9250AC9D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B4F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AB4F8"/>
                </a:solidFill>
                <a:latin typeface="Arial"/>
                <a:ea typeface="Arial"/>
                <a:cs typeface="Arial"/>
              </a:rPr>
              <a:t>REDVITALIA</a:t>
            </a:r>
          </a:p>
        </p:txBody>
      </p:sp>
      <p:sp>
        <p:nvSpPr>
          <p:cNvPr id="2" name="text-140">
            <a:extLst xmlns:a="http://schemas.openxmlformats.org/drawingml/2006/main">
              <a:ext uri="{FF2B5EF4-FFF2-40B4-BE49-F238E27FC236}">
                <a16:creationId xmlns:a16="http://schemas.microsoft.com/office/drawing/2014/main" id="{73CDAD25-C42F-4CA9-89B6-F3C31ECB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76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siguiente paso es decidir si existe un piloto defendible</a:t>
            </a:r>
          </a:p>
        </p:txBody>
      </p:sp>
      <p:sp>
        <p:nvSpPr>
          <p:cNvPr id="3" name="text-141">
            <a:extLst xmlns:a="http://schemas.openxmlformats.org/drawingml/2006/main">
              <a:ext uri="{FF2B5EF4-FFF2-40B4-BE49-F238E27FC236}">
                <a16:creationId xmlns:a16="http://schemas.microsoft.com/office/drawing/2014/main" id="{D22D3A52-A86E-4B8A-9A9D-6DE22A12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781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3F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E3F8"/>
                </a:solidFill>
                <a:latin typeface="Arial"/>
                <a:ea typeface="Arial"/>
                <a:cs typeface="Arial"/>
              </a:rPr>
              <a:t>Revisamos oferta, margen, capacidad, territorio y medición. Si el encaje existe, diseñamos una prueba concreta. Si no, lo decimos antes de invertir.</a:t>
            </a:r>
          </a:p>
        </p:txBody>
      </p:sp>
      <p:sp>
        <p:nvSpPr>
          <p:cNvPr id="4" name="rect-142">
            <a:extLst xmlns:a="http://schemas.openxmlformats.org/drawingml/2006/main">
              <a:ext uri="{FF2B5EF4-FFF2-40B4-BE49-F238E27FC236}">
                <a16:creationId xmlns:a16="http://schemas.microsoft.com/office/drawing/2014/main" id="{3F5B136F-88BE-47FF-88AD-E75381D2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962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57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143">
            <a:extLst xmlns:a="http://schemas.openxmlformats.org/drawingml/2006/main">
              <a:ext uri="{FF2B5EF4-FFF2-40B4-BE49-F238E27FC236}">
                <a16:creationId xmlns:a16="http://schemas.microsoft.com/office/drawing/2014/main" id="{21F48983-FDDD-4935-ABF6-F54108ED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Reunión de diagnóstico de encaje</a:t>
            </a:r>
          </a:p>
        </p:txBody>
      </p:sp>
      <p:sp>
        <p:nvSpPr>
          <p:cNvPr id="6" name="text-144">
            <a:extLst xmlns:a="http://schemas.openxmlformats.org/drawingml/2006/main">
              <a:ext uri="{FF2B5EF4-FFF2-40B4-BE49-F238E27FC236}">
                <a16:creationId xmlns:a16="http://schemas.microsoft.com/office/drawing/2014/main" id="{9B4EA91D-101D-41C8-B117-79228AAF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8C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8C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9883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2026-09-03T16:07:24.4580000Z</dcterms:created>
  <dcterms:modified xsi:type="dcterms:W3CDTF">2026-09-03T16:07:24.4580000Z</dcterms:modified>
</coreProperties>
</file>