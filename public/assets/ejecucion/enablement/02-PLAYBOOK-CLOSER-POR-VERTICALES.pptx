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d5d8479034429c" /><Relationship Type="http://schemas.openxmlformats.org/officeDocument/2006/relationships/extended-properties" Target="/docProps/app.xml" Id="R214f9ab71d4d4c0f" /><Relationship Type="http://schemas.openxmlformats.org/officeDocument/2006/relationships/officeDocument" Target="/ppt/presentation.xml" Id="Rb2b781bf23af47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dfebc4b79e4863"/>
  </p:sldMasterIdLst>
  <p:notesMasterIdLst>
    <p:notesMasterId xmlns:r="http://schemas.openxmlformats.org/officeDocument/2006/relationships" r:id="R194f17ee556b4f71"/>
  </p:notesMasterIdLst>
  <p:sldIdLst>
    <p:sldId xmlns:r="http://schemas.openxmlformats.org/officeDocument/2006/relationships" id="256" r:id="R4fc047a8f20c4672"/>
    <p:sldId xmlns:r="http://schemas.openxmlformats.org/officeDocument/2006/relationships" id="257" r:id="R33e8b58866234a2d"/>
    <p:sldId xmlns:r="http://schemas.openxmlformats.org/officeDocument/2006/relationships" id="258" r:id="Rb363b69e27314358"/>
    <p:sldId xmlns:r="http://schemas.openxmlformats.org/officeDocument/2006/relationships" id="259" r:id="Rd64be9660ad4435d"/>
    <p:sldId xmlns:r="http://schemas.openxmlformats.org/officeDocument/2006/relationships" id="260" r:id="R9458c2e9990843a8"/>
    <p:sldId xmlns:r="http://schemas.openxmlformats.org/officeDocument/2006/relationships" id="261" r:id="R711d856305df4af3"/>
    <p:sldId xmlns:r="http://schemas.openxmlformats.org/officeDocument/2006/relationships" id="262" r:id="Rfc8cd925cb394378"/>
    <p:sldId xmlns:r="http://schemas.openxmlformats.org/officeDocument/2006/relationships" id="263" r:id="Re07fb8020df144c1"/>
    <p:sldId xmlns:r="http://schemas.openxmlformats.org/officeDocument/2006/relationships" id="264" r:id="R548034b1c6884733"/>
    <p:sldId xmlns:r="http://schemas.openxmlformats.org/officeDocument/2006/relationships" id="265" r:id="R549879719761416e"/>
    <p:sldId xmlns:r="http://schemas.openxmlformats.org/officeDocument/2006/relationships" id="266" r:id="R73c86f22ef854c44"/>
    <p:sldId xmlns:r="http://schemas.openxmlformats.org/officeDocument/2006/relationships" id="267" r:id="R7a27a02922804df3"/>
    <p:sldId xmlns:r="http://schemas.openxmlformats.org/officeDocument/2006/relationships" id="268" r:id="Re255aee99f8a4d9c"/>
    <p:sldId xmlns:r="http://schemas.openxmlformats.org/officeDocument/2006/relationships" id="269" r:id="Rd51995a7285c43d6"/>
    <p:sldId xmlns:r="http://schemas.openxmlformats.org/officeDocument/2006/relationships" id="270" r:id="R609eb5ec51134ee0"/>
    <p:sldId xmlns:r="http://schemas.openxmlformats.org/officeDocument/2006/relationships" id="271" r:id="R88c7d07c73d04cc9"/>
    <p:sldId xmlns:r="http://schemas.openxmlformats.org/officeDocument/2006/relationships" id="272" r:id="Ra0a6e3353b124cb7"/>
    <p:sldId xmlns:r="http://schemas.openxmlformats.org/officeDocument/2006/relationships" id="273" r:id="R0bd8d99427dd4c58"/>
    <p:sldId xmlns:r="http://schemas.openxmlformats.org/officeDocument/2006/relationships" id="274" r:id="Rc9b3b74f518d43c8"/>
    <p:sldId xmlns:r="http://schemas.openxmlformats.org/officeDocument/2006/relationships" id="275" r:id="R98530fa05c054d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50499a90ac4559" /><Relationship Type="http://schemas.openxmlformats.org/officeDocument/2006/relationships/slideMaster" Target="/ppt/slideMasters/slideMaster1.xml" Id="Rd1dfebc4b79e4863" /><Relationship Type="http://schemas.openxmlformats.org/officeDocument/2006/relationships/notesMaster" Target="/ppt/notesMasters/notesMaster1.xml" Id="R194f17ee556b4f71" /><Relationship Type="http://schemas.openxmlformats.org/officeDocument/2006/relationships/presProps" Target="/ppt/presProps.xml" Id="R477475addc5247e3" /><Relationship Type="http://schemas.openxmlformats.org/officeDocument/2006/relationships/tableStyles" Target="/ppt/tableStyles.xml" Id="Rf7710171e6d14836" /><Relationship Type="http://schemas.openxmlformats.org/officeDocument/2006/relationships/slide" Target="/ppt/slides/slide1.xml" Id="R4fc047a8f20c4672" /><Relationship Type="http://schemas.openxmlformats.org/officeDocument/2006/relationships/slide" Target="/ppt/slides/slide2.xml" Id="R33e8b58866234a2d" /><Relationship Type="http://schemas.openxmlformats.org/officeDocument/2006/relationships/slide" Target="/ppt/slides/slide3.xml" Id="Rb363b69e27314358" /><Relationship Type="http://schemas.openxmlformats.org/officeDocument/2006/relationships/slide" Target="/ppt/slides/slide4.xml" Id="Rd64be9660ad4435d" /><Relationship Type="http://schemas.openxmlformats.org/officeDocument/2006/relationships/slide" Target="/ppt/slides/slide5.xml" Id="R9458c2e9990843a8" /><Relationship Type="http://schemas.openxmlformats.org/officeDocument/2006/relationships/slide" Target="/ppt/slides/slide6.xml" Id="R711d856305df4af3" /><Relationship Type="http://schemas.openxmlformats.org/officeDocument/2006/relationships/slide" Target="/ppt/slides/slide7.xml" Id="Rfc8cd925cb394378" /><Relationship Type="http://schemas.openxmlformats.org/officeDocument/2006/relationships/slide" Target="/ppt/slides/slide8.xml" Id="Re07fb8020df144c1" /><Relationship Type="http://schemas.openxmlformats.org/officeDocument/2006/relationships/slide" Target="/ppt/slides/slide9.xml" Id="R548034b1c6884733" /><Relationship Type="http://schemas.openxmlformats.org/officeDocument/2006/relationships/slide" Target="/ppt/slides/slide10.xml" Id="R549879719761416e" /><Relationship Type="http://schemas.openxmlformats.org/officeDocument/2006/relationships/slide" Target="/ppt/slides/slide11.xml" Id="R73c86f22ef854c44" /><Relationship Type="http://schemas.openxmlformats.org/officeDocument/2006/relationships/slide" Target="/ppt/slides/slide12.xml" Id="R7a27a02922804df3" /><Relationship Type="http://schemas.openxmlformats.org/officeDocument/2006/relationships/slide" Target="/ppt/slides/slide13.xml" Id="Re255aee99f8a4d9c" /><Relationship Type="http://schemas.openxmlformats.org/officeDocument/2006/relationships/slide" Target="/ppt/slides/slide14.xml" Id="Rd51995a7285c43d6" /><Relationship Type="http://schemas.openxmlformats.org/officeDocument/2006/relationships/slide" Target="/ppt/slides/slide15.xml" Id="R609eb5ec51134ee0" /><Relationship Type="http://schemas.openxmlformats.org/officeDocument/2006/relationships/slide" Target="/ppt/slides/slide16.xml" Id="R88c7d07c73d04cc9" /><Relationship Type="http://schemas.openxmlformats.org/officeDocument/2006/relationships/slide" Target="/ppt/slides/slide17.xml" Id="Ra0a6e3353b124cb7" /><Relationship Type="http://schemas.openxmlformats.org/officeDocument/2006/relationships/slide" Target="/ppt/slides/slide18.xml" Id="R0bd8d99427dd4c58" /><Relationship Type="http://schemas.openxmlformats.org/officeDocument/2006/relationships/slide" Target="/ppt/slides/slide19.xml" Id="Rc9b3b74f518d43c8" /><Relationship Type="http://schemas.openxmlformats.org/officeDocument/2006/relationships/slide" Target="/ppt/slides/slide20.xml" Id="R98530fa05c054d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6f814c313e47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02af6bed34430b" /><Relationship Type="http://schemas.openxmlformats.org/officeDocument/2006/relationships/notesMaster" Target="/ppt/notesMasters/notesMaster1.xml" Id="R32f73ebdaead4d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8781359bc4cd7" /><Relationship Type="http://schemas.openxmlformats.org/officeDocument/2006/relationships/notesMaster" Target="/ppt/notesMasters/notesMaster1.xml" Id="Rfefb99c897d64b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426f681546436c" /><Relationship Type="http://schemas.openxmlformats.org/officeDocument/2006/relationships/notesMaster" Target="/ppt/notesMasters/notesMaster1.xml" Id="R10a7c2abd9df46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343a6840b0401f" /><Relationship Type="http://schemas.openxmlformats.org/officeDocument/2006/relationships/notesMaster" Target="/ppt/notesMasters/notesMaster1.xml" Id="R44f93200d6f947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f8357036ea400b" /><Relationship Type="http://schemas.openxmlformats.org/officeDocument/2006/relationships/notesMaster" Target="/ppt/notesMasters/notesMaster1.xml" Id="R31d5bf9daffb48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449a42ba6a4ad0" /><Relationship Type="http://schemas.openxmlformats.org/officeDocument/2006/relationships/notesMaster" Target="/ppt/notesMasters/notesMaster1.xml" Id="R9bcf2a4e536145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4cecf3dbb84d98" /><Relationship Type="http://schemas.openxmlformats.org/officeDocument/2006/relationships/notesMaster" Target="/ppt/notesMasters/notesMaster1.xml" Id="R2d6118dcee954e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d367a95fae4b06" /><Relationship Type="http://schemas.openxmlformats.org/officeDocument/2006/relationships/notesMaster" Target="/ppt/notesMasters/notesMaster1.xml" Id="Rb3431edb2f5742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a26152c2e14c62" /><Relationship Type="http://schemas.openxmlformats.org/officeDocument/2006/relationships/notesMaster" Target="/ppt/notesMasters/notesMaster1.xml" Id="R31713b5a13a641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66e88147bb4c6f" /><Relationship Type="http://schemas.openxmlformats.org/officeDocument/2006/relationships/notesMaster" Target="/ppt/notesMasters/notesMaster1.xml" Id="Rdbe14eb0c4ef47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b6c28877a14dff" /><Relationship Type="http://schemas.openxmlformats.org/officeDocument/2006/relationships/notesMaster" Target="/ppt/notesMasters/notesMaster1.xml" Id="R66efcfe4eb8b4e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1757cd0ad1461f" /><Relationship Type="http://schemas.openxmlformats.org/officeDocument/2006/relationships/notesMaster" Target="/ppt/notesMasters/notesMaster1.xml" Id="R170af7cef89643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f2844ba510476c" /><Relationship Type="http://schemas.openxmlformats.org/officeDocument/2006/relationships/notesMaster" Target="/ppt/notesMasters/notesMaster1.xml" Id="Rd6f5f3b229004a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d5dd354ac9478d" /><Relationship Type="http://schemas.openxmlformats.org/officeDocument/2006/relationships/notesMaster" Target="/ppt/notesMasters/notesMaster1.xml" Id="Rc3191a4081254e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59019143ee4f59" /><Relationship Type="http://schemas.openxmlformats.org/officeDocument/2006/relationships/notesMaster" Target="/ppt/notesMasters/notesMaster1.xml" Id="R28ffe7b145724e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d2d172e8c34b44" /><Relationship Type="http://schemas.openxmlformats.org/officeDocument/2006/relationships/notesMaster" Target="/ppt/notesMasters/notesMaster1.xml" Id="Rc4c471d19dae45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c671a4866d4c66" /><Relationship Type="http://schemas.openxmlformats.org/officeDocument/2006/relationships/notesMaster" Target="/ppt/notesMasters/notesMaster1.xml" Id="R16d3e44dc60a41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2accd4e0f64e20" /><Relationship Type="http://schemas.openxmlformats.org/officeDocument/2006/relationships/notesMaster" Target="/ppt/notesMasters/notesMaster1.xml" Id="R3075a255ec414a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dfbface620498a" /><Relationship Type="http://schemas.openxmlformats.org/officeDocument/2006/relationships/notesMaster" Target="/ppt/notesMasters/notesMaster1.xml" Id="R40b8181f2d2d4d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53c593b32744e8" /><Relationship Type="http://schemas.openxmlformats.org/officeDocument/2006/relationships/notesMaster" Target="/ppt/notesMasters/notesMaster1.xml" Id="Rcc380d0b5ff14c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public/assets/ejecucion/base/legal-herencias.webp.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public/assets/ejecucion/base/legal-segunda-oportunidad.webp.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public/assets/ejecucion/base/legal-herencias.webp.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public/assets/ejecucion/base/legal-divorcios.webp.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public/assets/ejecucion/base/toldos.webp.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public/assets/ejecucion/base/coches.webp.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public/assets/ejecucion/base/estetica.webp.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public/assets/ejecucion/base/climatizacion.webp.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public/assets/ejecucion/base/reformas.webp.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public/assets/ejecucion/base/dental.webp.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public/assets/ejecucion/base/inmobiliario.webp.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public/assets/ejecucion/base/auditivos.webp.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public/assets/ejecucion/base/logistica.webp.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c98f954774f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23be37dbfe4969" /><Relationship Type="http://schemas.openxmlformats.org/officeDocument/2006/relationships/slideLayout" Target="/ppt/slideLayouts/slideLayout1.xml" Id="Rdeda9170815349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a9170815349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572d92589449f" /><Relationship Type="http://schemas.openxmlformats.org/officeDocument/2006/relationships/image" Target="/ppt/media/image.bin" Id="Rc083c7489da842d9" /><Relationship Type="http://schemas.openxmlformats.org/officeDocument/2006/relationships/notesSlide" Target="/ppt/notesSlides/notesSlide1.xml" Id="R671452e2f56948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70a26dce4404f" /><Relationship Type="http://schemas.openxmlformats.org/officeDocument/2006/relationships/notesSlide" Target="/ppt/notesSlides/notesSlide2.xml" Id="R5d3e123859304a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99f040d144e2d" /><Relationship Type="http://schemas.openxmlformats.org/officeDocument/2006/relationships/notesSlide" Target="/ppt/notesSlides/notesSlide3.xml" Id="R41b3d83959db4a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a962eb83c481a" /><Relationship Type="http://schemas.openxmlformats.org/officeDocument/2006/relationships/notesSlide" Target="/ppt/notesSlides/notesSlide4.xml" Id="R4c6b057cc6444d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50cfc892945e5" /><Relationship Type="http://schemas.openxmlformats.org/officeDocument/2006/relationships/notesSlide" Target="/ppt/notesSlides/notesSlide5.xml" Id="Ra29fd8f54cf749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2c48454df4d50" /><Relationship Type="http://schemas.openxmlformats.org/officeDocument/2006/relationships/notesSlide" Target="/ppt/notesSlides/notesSlide6.xml" Id="R5d4eaaefca6647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2fbc0de1a48be" /><Relationship Type="http://schemas.openxmlformats.org/officeDocument/2006/relationships/image" Target="/ppt/media/image2.bin" Id="Rd8c27a5ca0d64a91" /><Relationship Type="http://schemas.openxmlformats.org/officeDocument/2006/relationships/notesSlide" Target="/ppt/notesSlides/notesSlide7.xml" Id="Rd71e3734ea0444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fde31b13d4d9f" /><Relationship Type="http://schemas.openxmlformats.org/officeDocument/2006/relationships/image" Target="/ppt/media/image3.bin" Id="R5c41b84da4ef43fe" /><Relationship Type="http://schemas.openxmlformats.org/officeDocument/2006/relationships/notesSlide" Target="/ppt/notesSlides/notesSlide8.xml" Id="Rd1fac717906d43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b840de6f34fe3" /><Relationship Type="http://schemas.openxmlformats.org/officeDocument/2006/relationships/image" Target="/ppt/media/image4.bin" Id="Rabd2363a724144a4" /><Relationship Type="http://schemas.openxmlformats.org/officeDocument/2006/relationships/notesSlide" Target="/ppt/notesSlides/notesSlide9.xml" Id="R1b0733d340d140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00f4b11bd4400" /><Relationship Type="http://schemas.openxmlformats.org/officeDocument/2006/relationships/image" Target="/ppt/media/image5.bin" Id="Rf44e414251bf4046" /><Relationship Type="http://schemas.openxmlformats.org/officeDocument/2006/relationships/notesSlide" Target="/ppt/notesSlides/notesSlide10.xml" Id="R8cc6a54f39da41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8c75b302d4a91" /><Relationship Type="http://schemas.openxmlformats.org/officeDocument/2006/relationships/image" Target="/ppt/media/image6.bin" Id="Rdcd0b3beba4e4ea2" /><Relationship Type="http://schemas.openxmlformats.org/officeDocument/2006/relationships/notesSlide" Target="/ppt/notesSlides/notesSlide11.xml" Id="R1d9a78d0a69147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631d785fc479c" /><Relationship Type="http://schemas.openxmlformats.org/officeDocument/2006/relationships/image" Target="/ppt/media/image7.bin" Id="R8c2272f425654686" /><Relationship Type="http://schemas.openxmlformats.org/officeDocument/2006/relationships/notesSlide" Target="/ppt/notesSlides/notesSlide12.xml" Id="R5ec70966b7e244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1503acb954261" /><Relationship Type="http://schemas.openxmlformats.org/officeDocument/2006/relationships/image" Target="/ppt/media/image8.bin" Id="R746e9c2357e54324" /><Relationship Type="http://schemas.openxmlformats.org/officeDocument/2006/relationships/notesSlide" Target="/ppt/notesSlides/notesSlide13.xml" Id="R3af90563b58244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66623987945d1" /><Relationship Type="http://schemas.openxmlformats.org/officeDocument/2006/relationships/image" Target="/ppt/media/image9.bin" Id="R0d387a5577ba44d4" /><Relationship Type="http://schemas.openxmlformats.org/officeDocument/2006/relationships/notesSlide" Target="/ppt/notesSlides/notesSlide14.xml" Id="R1c4110eeca7e4e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f6e3325954c3f" /><Relationship Type="http://schemas.openxmlformats.org/officeDocument/2006/relationships/image" Target="/ppt/media/image10.bin" Id="Rb755c0b0d31a4f14" /><Relationship Type="http://schemas.openxmlformats.org/officeDocument/2006/relationships/notesSlide" Target="/ppt/notesSlides/notesSlide15.xml" Id="Ra013e9599aa844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7c77afe0f4d97" /><Relationship Type="http://schemas.openxmlformats.org/officeDocument/2006/relationships/image" Target="/ppt/media/image11.bin" Id="R76a6c3f99e534bd2" /><Relationship Type="http://schemas.openxmlformats.org/officeDocument/2006/relationships/notesSlide" Target="/ppt/notesSlides/notesSlide16.xml" Id="Ra079f1fde9b944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cb3f7868c44cb" /><Relationship Type="http://schemas.openxmlformats.org/officeDocument/2006/relationships/image" Target="/ppt/media/image12.bin" Id="Rd3db5a31aa2948b0" /><Relationship Type="http://schemas.openxmlformats.org/officeDocument/2006/relationships/notesSlide" Target="/ppt/notesSlides/notesSlide17.xml" Id="R949088dbc7a544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7ed29e43f482a" /><Relationship Type="http://schemas.openxmlformats.org/officeDocument/2006/relationships/image" Target="/ppt/media/image.png" Id="Rb85683bbee3b4769" /><Relationship Type="http://schemas.openxmlformats.org/officeDocument/2006/relationships/notesSlide" Target="/ppt/notesSlides/notesSlide18.xml" Id="R1a25f917d6554d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f4a496b7f4f23" /><Relationship Type="http://schemas.openxmlformats.org/officeDocument/2006/relationships/notesSlide" Target="/ppt/notesSlides/notesSlide19.xml" Id="R9c689ee7a79d4a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0bdfbb406424a" /><Relationship Type="http://schemas.openxmlformats.org/officeDocument/2006/relationships/notesSlide" Target="/ppt/notesSlides/notesSlide20.xml" Id="Rda6d0dab2c2c4b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9C9A47C1-64D9-4C6A-983F-BC00308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46">
            <a:extLst xmlns:a="http://schemas.openxmlformats.org/drawingml/2006/main">
              <a:ext uri="{FF2B5EF4-FFF2-40B4-BE49-F238E27FC236}">
                <a16:creationId xmlns:a16="http://schemas.microsoft.com/office/drawing/2014/main" id="{5DA44B03-3C84-4CB9-96B4-2AE06E94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MATERIAL INTERNO · EQUIPO COMERCIAL</a:t>
            </a:r>
          </a:p>
        </p:txBody>
      </p:sp>
      <p:sp>
        <p:nvSpPr>
          <p:cNvPr id="3" name="text-147">
            <a:extLst xmlns:a="http://schemas.openxmlformats.org/drawingml/2006/main">
              <a:ext uri="{FF2B5EF4-FFF2-40B4-BE49-F238E27FC236}">
                <a16:creationId xmlns:a16="http://schemas.microsoft.com/office/drawing/2014/main" id="{0E07935D-488A-4716-BD5A-7F69FC4F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51244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Vender RedVitalia sin vender humo</a:t>
            </a:r>
          </a:p>
        </p:txBody>
      </p:sp>
      <p:sp>
        <p:nvSpPr>
          <p:cNvPr id="4" name="text-148">
            <a:extLst xmlns:a="http://schemas.openxmlformats.org/drawingml/2006/main">
              <a:ext uri="{FF2B5EF4-FFF2-40B4-BE49-F238E27FC236}">
                <a16:creationId xmlns:a16="http://schemas.microsoft.com/office/drawing/2014/main" id="{6ACAFDE9-28D0-46C1-A974-88893B25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Playbook visual para diagnosticar, presentar y cerrar sistemas de captación B2B por vertical.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3c7489da842d9"/>
          <a:srcRect xmlns:a="http://schemas.openxmlformats.org/drawingml/2006/main" l="23019" t="0" r="230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391150" cy="5619750"/>
          </a:xfrm>
          <a:prstGeom xmlns:a="http://schemas.openxmlformats.org/drawingml/2006/main" prst="rect">
            <a:avLst/>
          </a:prstGeom>
        </p:spPr>
      </p:pic>
      <p:sp>
        <p:nvSpPr>
          <p:cNvPr id="6" name="text-150">
            <a:extLst xmlns:a="http://schemas.openxmlformats.org/drawingml/2006/main">
              <a:ext uri="{FF2B5EF4-FFF2-40B4-BE49-F238E27FC236}">
                <a16:creationId xmlns:a16="http://schemas.microsoft.com/office/drawing/2014/main" id="{5BFAF931-BC4C-444B-B2CE-0BE41C54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Uso interno</a:t>
            </a:r>
          </a:p>
        </p:txBody>
      </p:sp>
    </p:spTree>
    <p:extLst>
      <p:ext uri="{BB962C8B-B14F-4D97-AF65-F5344CB8AC3E}">
        <p14:creationId xmlns:p14="http://schemas.microsoft.com/office/powerpoint/2010/main" val="761580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51">
            <a:extLst xmlns:a="http://schemas.openxmlformats.org/drawingml/2006/main">
              <a:ext uri="{FF2B5EF4-FFF2-40B4-BE49-F238E27FC236}">
                <a16:creationId xmlns:a16="http://schemas.microsoft.com/office/drawing/2014/main" id="{47A1DD76-75C8-4BD5-83DA-39657F6A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52">
            <a:extLst xmlns:a="http://schemas.openxmlformats.org/drawingml/2006/main">
              <a:ext uri="{FF2B5EF4-FFF2-40B4-BE49-F238E27FC236}">
                <a16:creationId xmlns:a16="http://schemas.microsoft.com/office/drawing/2014/main" id="{E8ACDF04-3B80-41F9-AF52-15CE4B84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153">
            <a:extLst xmlns:a="http://schemas.openxmlformats.org/drawingml/2006/main">
              <a:ext uri="{FF2B5EF4-FFF2-40B4-BE49-F238E27FC236}">
                <a16:creationId xmlns:a16="http://schemas.microsoft.com/office/drawing/2014/main" id="{21DC962E-36AC-41B2-AC40-04A22CC0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ANTES DE LA REUNIÓN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319C40F0-3EEA-4869-A5B1-BE7B0FAA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La llamada abre el diagnóstico; no intenta cerrar</a:t>
            </a:r>
          </a:p>
        </p:txBody>
      </p:sp>
      <p:sp>
        <p:nvSpPr>
          <p:cNvPr id="5" name="line-154">
            <a:extLst xmlns:a="http://schemas.openxmlformats.org/drawingml/2006/main">
              <a:ext uri="{FF2B5EF4-FFF2-40B4-BE49-F238E27FC236}">
                <a16:creationId xmlns:a16="http://schemas.microsoft.com/office/drawing/2014/main" id="{C481621D-6D36-4E52-A4A5-32F6752E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155">
            <a:extLst xmlns:a="http://schemas.openxmlformats.org/drawingml/2006/main">
              <a:ext uri="{FF2B5EF4-FFF2-40B4-BE49-F238E27FC236}">
                <a16:creationId xmlns:a16="http://schemas.microsoft.com/office/drawing/2014/main" id="{BEBD54D2-F1B5-409E-A6E9-C9E6F914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Objetivo correcto</a:t>
            </a:r>
          </a:p>
        </p:txBody>
      </p:sp>
      <p:sp>
        <p:nvSpPr>
          <p:cNvPr id="7" name="text-156">
            <a:extLst xmlns:a="http://schemas.openxmlformats.org/drawingml/2006/main">
              <a:ext uri="{FF2B5EF4-FFF2-40B4-BE49-F238E27FC236}">
                <a16:creationId xmlns:a16="http://schemas.microsoft.com/office/drawing/2014/main" id="{B6026C79-57C1-4D6B-AE69-9208D72E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Confirmar dolor, capacidad y curiosidad suficiente para reservar una reunión con el decisor.</a:t>
            </a:r>
          </a:p>
        </p:txBody>
      </p:sp>
      <p:sp>
        <p:nvSpPr>
          <p:cNvPr id="8" name="line-157">
            <a:extLst xmlns:a="http://schemas.openxmlformats.org/drawingml/2006/main">
              <a:ext uri="{FF2B5EF4-FFF2-40B4-BE49-F238E27FC236}">
                <a16:creationId xmlns:a16="http://schemas.microsoft.com/office/drawing/2014/main" id="{55809EEC-9CA3-420A-9541-CC52DCF8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9" name="rect-158">
            <a:extLst xmlns:a="http://schemas.openxmlformats.org/drawingml/2006/main">
              <a:ext uri="{FF2B5EF4-FFF2-40B4-BE49-F238E27FC236}">
                <a16:creationId xmlns:a16="http://schemas.microsoft.com/office/drawing/2014/main" id="{7D0A9A7C-B5BD-4690-95F2-C9D17223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53911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59">
            <a:extLst xmlns:a="http://schemas.openxmlformats.org/drawingml/2006/main">
              <a:ext uri="{FF2B5EF4-FFF2-40B4-BE49-F238E27FC236}">
                <a16:creationId xmlns:a16="http://schemas.microsoft.com/office/drawing/2014/main" id="{A049D38A-84BF-4EC3-8684-182A4D62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Evita</a:t>
            </a:r>
          </a:p>
        </p:txBody>
      </p:sp>
      <p:sp>
        <p:nvSpPr>
          <p:cNvPr id="11" name="text-160">
            <a:extLst xmlns:a="http://schemas.openxmlformats.org/drawingml/2006/main">
              <a:ext uri="{FF2B5EF4-FFF2-40B4-BE49-F238E27FC236}">
                <a16:creationId xmlns:a16="http://schemas.microsoft.com/office/drawing/2014/main" id="{506A3C4F-3814-4067-8987-6E968E66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76600"/>
            <a:ext cx="47053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Recitar servicios, prometer resultados, discutir precio sin contexto o perseguir a un negocio que no puede absorber demanda.</a:t>
            </a:r>
          </a:p>
        </p:txBody>
      </p:sp>
    </p:spTree>
    <p:extLst>
      <p:ext uri="{BB962C8B-B14F-4D97-AF65-F5344CB8AC3E}">
        <p14:creationId xmlns:p14="http://schemas.microsoft.com/office/powerpoint/2010/main" val="2018002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61">
            <a:extLst xmlns:a="http://schemas.openxmlformats.org/drawingml/2006/main">
              <a:ext uri="{FF2B5EF4-FFF2-40B4-BE49-F238E27FC236}">
                <a16:creationId xmlns:a16="http://schemas.microsoft.com/office/drawing/2014/main" id="{3C3B8EAE-46AA-4AC4-8B25-BD79AA9C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62">
            <a:extLst xmlns:a="http://schemas.openxmlformats.org/drawingml/2006/main">
              <a:ext uri="{FF2B5EF4-FFF2-40B4-BE49-F238E27FC236}">
                <a16:creationId xmlns:a16="http://schemas.microsoft.com/office/drawing/2014/main" id="{1F2A388F-80AE-4466-A712-9C347651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163">
            <a:extLst xmlns:a="http://schemas.openxmlformats.org/drawingml/2006/main">
              <a:ext uri="{FF2B5EF4-FFF2-40B4-BE49-F238E27FC236}">
                <a16:creationId xmlns:a16="http://schemas.microsoft.com/office/drawing/2014/main" id="{549799D3-1049-482A-86E6-2FC8C476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B0CC3743-6BE4-4FC9-97AC-0695EA26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El discovery debe descubrir si el negocio merece captación</a:t>
            </a:r>
          </a:p>
        </p:txBody>
      </p:sp>
      <p:sp>
        <p:nvSpPr>
          <p:cNvPr id="5" name="line-164">
            <a:extLst xmlns:a="http://schemas.openxmlformats.org/drawingml/2006/main">
              <a:ext uri="{FF2B5EF4-FFF2-40B4-BE49-F238E27FC236}">
                <a16:creationId xmlns:a16="http://schemas.microsoft.com/office/drawing/2014/main" id="{0A08F741-8A18-4DA2-8A26-FEA79F82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165">
            <a:extLst xmlns:a="http://schemas.openxmlformats.org/drawingml/2006/main">
              <a:ext uri="{FF2B5EF4-FFF2-40B4-BE49-F238E27FC236}">
                <a16:creationId xmlns:a16="http://schemas.microsoft.com/office/drawing/2014/main" id="{DDE44793-4C56-4C13-A08C-DAFD1F03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166">
            <a:extLst xmlns:a="http://schemas.openxmlformats.org/drawingml/2006/main">
              <a:ext uri="{FF2B5EF4-FFF2-40B4-BE49-F238E27FC236}">
                <a16:creationId xmlns:a16="http://schemas.microsoft.com/office/drawing/2014/main" id="{DC4C5F6F-F91F-4DFA-946D-5F98F439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Oferta</a:t>
            </a:r>
          </a:p>
        </p:txBody>
      </p:sp>
      <p:sp>
        <p:nvSpPr>
          <p:cNvPr id="8" name="text-167">
            <a:extLst xmlns:a="http://schemas.openxmlformats.org/drawingml/2006/main">
              <a:ext uri="{FF2B5EF4-FFF2-40B4-BE49-F238E27FC236}">
                <a16:creationId xmlns:a16="http://schemas.microsoft.com/office/drawing/2014/main" id="{8E9FD7E0-3D9A-47CC-96D3-84A5E6AB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Servicio prioritario, ticket, margen y motivo para elegirlo.</a:t>
            </a:r>
          </a:p>
        </p:txBody>
      </p:sp>
      <p:sp>
        <p:nvSpPr>
          <p:cNvPr id="9" name="text-168">
            <a:extLst xmlns:a="http://schemas.openxmlformats.org/drawingml/2006/main">
              <a:ext uri="{FF2B5EF4-FFF2-40B4-BE49-F238E27FC236}">
                <a16:creationId xmlns:a16="http://schemas.microsoft.com/office/drawing/2014/main" id="{8315ED81-DD2B-4E3D-B8D3-5D1AE6B6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-169">
            <a:extLst xmlns:a="http://schemas.openxmlformats.org/drawingml/2006/main">
              <a:ext uri="{FF2B5EF4-FFF2-40B4-BE49-F238E27FC236}">
                <a16:creationId xmlns:a16="http://schemas.microsoft.com/office/drawing/2014/main" id="{DF90D24B-DFF0-4605-8B71-2AA1507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Capacidad</a:t>
            </a:r>
          </a:p>
        </p:txBody>
      </p:sp>
      <p:sp>
        <p:nvSpPr>
          <p:cNvPr id="11" name="text-170">
            <a:extLst xmlns:a="http://schemas.openxmlformats.org/drawingml/2006/main">
              <a:ext uri="{FF2B5EF4-FFF2-40B4-BE49-F238E27FC236}">
                <a16:creationId xmlns:a16="http://schemas.microsoft.com/office/drawing/2014/main" id="{981B15C5-85A2-4249-BD81-B3CE439A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Agenda, cobertura, equipo y tiempo de respuesta.</a:t>
            </a:r>
          </a:p>
        </p:txBody>
      </p:sp>
      <p:sp>
        <p:nvSpPr>
          <p:cNvPr id="12" name="text-171">
            <a:extLst xmlns:a="http://schemas.openxmlformats.org/drawingml/2006/main">
              <a:ext uri="{FF2B5EF4-FFF2-40B4-BE49-F238E27FC236}">
                <a16:creationId xmlns:a16="http://schemas.microsoft.com/office/drawing/2014/main" id="{C050986C-E48F-4441-8170-1AA9960D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172">
            <a:extLst xmlns:a="http://schemas.openxmlformats.org/drawingml/2006/main">
              <a:ext uri="{FF2B5EF4-FFF2-40B4-BE49-F238E27FC236}">
                <a16:creationId xmlns:a16="http://schemas.microsoft.com/office/drawing/2014/main" id="{C14AE30A-EFDE-45DB-9A39-06DBC7FE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Conversión</a:t>
            </a:r>
          </a:p>
        </p:txBody>
      </p:sp>
      <p:sp>
        <p:nvSpPr>
          <p:cNvPr id="14" name="text-173">
            <a:extLst xmlns:a="http://schemas.openxmlformats.org/drawingml/2006/main">
              <a:ext uri="{FF2B5EF4-FFF2-40B4-BE49-F238E27FC236}">
                <a16:creationId xmlns:a16="http://schemas.microsoft.com/office/drawing/2014/main" id="{F8E76F63-B131-4C78-B193-D003FD6B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Contacto, seguimiento, citas, presupuestos y cierres.</a:t>
            </a:r>
          </a:p>
        </p:txBody>
      </p:sp>
      <p:sp>
        <p:nvSpPr>
          <p:cNvPr id="15" name="text-174">
            <a:extLst xmlns:a="http://schemas.openxmlformats.org/drawingml/2006/main">
              <a:ext uri="{FF2B5EF4-FFF2-40B4-BE49-F238E27FC236}">
                <a16:creationId xmlns:a16="http://schemas.microsoft.com/office/drawing/2014/main" id="{12228B0B-194E-41A8-BCA5-5A7EF8BF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-175">
            <a:extLst xmlns:a="http://schemas.openxmlformats.org/drawingml/2006/main">
              <a:ext uri="{FF2B5EF4-FFF2-40B4-BE49-F238E27FC236}">
                <a16:creationId xmlns:a16="http://schemas.microsoft.com/office/drawing/2014/main" id="{29B1E6F4-A155-4184-9B9C-3E0290A4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76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Medición</a:t>
            </a:r>
          </a:p>
        </p:txBody>
      </p:sp>
      <p:sp>
        <p:nvSpPr>
          <p:cNvPr id="17" name="text-176">
            <a:extLst xmlns:a="http://schemas.openxmlformats.org/drawingml/2006/main">
              <a:ext uri="{FF2B5EF4-FFF2-40B4-BE49-F238E27FC236}">
                <a16:creationId xmlns:a16="http://schemas.microsoft.com/office/drawing/2014/main" id="{F8AE8376-4BB2-4110-A618-06BFD693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9105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Datos reales disponibles y etapa final registrable.</a:t>
            </a:r>
          </a:p>
        </p:txBody>
      </p:sp>
    </p:spTree>
    <p:extLst>
      <p:ext uri="{BB962C8B-B14F-4D97-AF65-F5344CB8AC3E}">
        <p14:creationId xmlns:p14="http://schemas.microsoft.com/office/powerpoint/2010/main" val="497845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77">
            <a:extLst xmlns:a="http://schemas.openxmlformats.org/drawingml/2006/main">
              <a:ext uri="{FF2B5EF4-FFF2-40B4-BE49-F238E27FC236}">
                <a16:creationId xmlns:a16="http://schemas.microsoft.com/office/drawing/2014/main" id="{845920D4-1680-49D6-B0D2-F08A562C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78">
            <a:extLst xmlns:a="http://schemas.openxmlformats.org/drawingml/2006/main">
              <a:ext uri="{FF2B5EF4-FFF2-40B4-BE49-F238E27FC236}">
                <a16:creationId xmlns:a16="http://schemas.microsoft.com/office/drawing/2014/main" id="{B6B1B00B-ADFB-4680-AF70-5692155C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-179">
            <a:extLst xmlns:a="http://schemas.openxmlformats.org/drawingml/2006/main">
              <a:ext uri="{FF2B5EF4-FFF2-40B4-BE49-F238E27FC236}">
                <a16:creationId xmlns:a16="http://schemas.microsoft.com/office/drawing/2014/main" id="{2B1EA80A-055D-4EFA-9539-CE82DA05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ESTRUCTURA DE REUNIÓN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E779D18D-18FF-42DB-8453-EA3FAC15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Presenta solo después de confirmar el problema</a:t>
            </a:r>
          </a:p>
        </p:txBody>
      </p:sp>
      <p:sp>
        <p:nvSpPr>
          <p:cNvPr id="5" name="line-180">
            <a:extLst xmlns:a="http://schemas.openxmlformats.org/drawingml/2006/main">
              <a:ext uri="{FF2B5EF4-FFF2-40B4-BE49-F238E27FC236}">
                <a16:creationId xmlns:a16="http://schemas.microsoft.com/office/drawing/2014/main" id="{85D55808-EE10-429D-96E6-AF50E373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line-181">
            <a:extLst xmlns:a="http://schemas.openxmlformats.org/drawingml/2006/main">
              <a:ext uri="{FF2B5EF4-FFF2-40B4-BE49-F238E27FC236}">
                <a16:creationId xmlns:a16="http://schemas.microsoft.com/office/drawing/2014/main" id="{3B1C6D46-95B1-45B7-9F47-0B7BD3AC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13A"/>
            </a:solidFill>
            <a:prstDash val="solid"/>
          </a:ln>
        </p:spPr>
      </p:sp>
      <p:sp>
        <p:nvSpPr>
          <p:cNvPr id="7" name="rect-182">
            <a:extLst xmlns:a="http://schemas.openxmlformats.org/drawingml/2006/main">
              <a:ext uri="{FF2B5EF4-FFF2-40B4-BE49-F238E27FC236}">
                <a16:creationId xmlns:a16="http://schemas.microsoft.com/office/drawing/2014/main" id="{1D548292-1D55-4D72-AB94-2E7654BE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83">
            <a:extLst xmlns:a="http://schemas.openxmlformats.org/drawingml/2006/main">
              <a:ext uri="{FF2B5EF4-FFF2-40B4-BE49-F238E27FC236}">
                <a16:creationId xmlns:a16="http://schemas.microsoft.com/office/drawing/2014/main" id="{A370E14A-33A9-4C82-A9CC-C945C843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ESCUCHAR</a:t>
            </a:r>
          </a:p>
        </p:txBody>
      </p:sp>
      <p:sp>
        <p:nvSpPr>
          <p:cNvPr id="9" name="text-184">
            <a:extLst xmlns:a="http://schemas.openxmlformats.org/drawingml/2006/main">
              <a:ext uri="{FF2B5EF4-FFF2-40B4-BE49-F238E27FC236}">
                <a16:creationId xmlns:a16="http://schemas.microsoft.com/office/drawing/2014/main" id="{76FEC902-8978-40CB-94ED-932B7DC4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Dolor</a:t>
            </a:r>
          </a:p>
        </p:txBody>
      </p:sp>
      <p:sp>
        <p:nvSpPr>
          <p:cNvPr id="10" name="text-185">
            <a:extLst xmlns:a="http://schemas.openxmlformats.org/drawingml/2006/main">
              <a:ext uri="{FF2B5EF4-FFF2-40B4-BE49-F238E27FC236}">
                <a16:creationId xmlns:a16="http://schemas.microsoft.com/office/drawing/2014/main" id="{A2843CF1-591D-4954-B84A-FABA4117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Qué falla hoy</a:t>
            </a:r>
          </a:p>
        </p:txBody>
      </p:sp>
      <p:sp>
        <p:nvSpPr>
          <p:cNvPr id="11" name="rect-186">
            <a:extLst xmlns:a="http://schemas.openxmlformats.org/drawingml/2006/main">
              <a:ext uri="{FF2B5EF4-FFF2-40B4-BE49-F238E27FC236}">
                <a16:creationId xmlns:a16="http://schemas.microsoft.com/office/drawing/2014/main" id="{CC01E395-AEC1-4CDE-B6DA-C02FB5EA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87">
            <a:extLst xmlns:a="http://schemas.openxmlformats.org/drawingml/2006/main">
              <a:ext uri="{FF2B5EF4-FFF2-40B4-BE49-F238E27FC236}">
                <a16:creationId xmlns:a16="http://schemas.microsoft.com/office/drawing/2014/main" id="{B0B891D7-69E9-410F-A463-23632D11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8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ATERRIZAR</a:t>
            </a:r>
          </a:p>
        </p:txBody>
      </p:sp>
      <p:sp>
        <p:nvSpPr>
          <p:cNvPr id="13" name="text-188">
            <a:extLst xmlns:a="http://schemas.openxmlformats.org/drawingml/2006/main">
              <a:ext uri="{FF2B5EF4-FFF2-40B4-BE49-F238E27FC236}">
                <a16:creationId xmlns:a16="http://schemas.microsoft.com/office/drawing/2014/main" id="{6B564F91-32DD-47A3-9E53-DC8DEEA1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14" name="text-189">
            <a:extLst xmlns:a="http://schemas.openxmlformats.org/drawingml/2006/main">
              <a:ext uri="{FF2B5EF4-FFF2-40B4-BE49-F238E27FC236}">
                <a16:creationId xmlns:a16="http://schemas.microsoft.com/office/drawing/2014/main" id="{88E6D7A0-680A-436B-86FB-E9F5B72B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05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Qué cuesta no resolverlo</a:t>
            </a:r>
          </a:p>
        </p:txBody>
      </p:sp>
      <p:sp>
        <p:nvSpPr>
          <p:cNvPr id="15" name="rect-190">
            <a:extLst xmlns:a="http://schemas.openxmlformats.org/drawingml/2006/main">
              <a:ext uri="{FF2B5EF4-FFF2-40B4-BE49-F238E27FC236}">
                <a16:creationId xmlns:a16="http://schemas.microsoft.com/office/drawing/2014/main" id="{BB2D590B-2484-4288-AAAB-234FB070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02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91">
            <a:extLst xmlns:a="http://schemas.openxmlformats.org/drawingml/2006/main">
              <a:ext uri="{FF2B5EF4-FFF2-40B4-BE49-F238E27FC236}">
                <a16:creationId xmlns:a16="http://schemas.microsoft.com/office/drawing/2014/main" id="{E51F2C07-2BD7-4AA9-AB20-55614D4C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ENSEÑAR</a:t>
            </a:r>
          </a:p>
        </p:txBody>
      </p:sp>
      <p:sp>
        <p:nvSpPr>
          <p:cNvPr id="17" name="text-192">
            <a:extLst xmlns:a="http://schemas.openxmlformats.org/drawingml/2006/main">
              <a:ext uri="{FF2B5EF4-FFF2-40B4-BE49-F238E27FC236}">
                <a16:creationId xmlns:a16="http://schemas.microsoft.com/office/drawing/2014/main" id="{3D6BB497-ADBB-4AF7-B852-BCA21CAB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80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8" name="text-193">
            <a:extLst xmlns:a="http://schemas.openxmlformats.org/drawingml/2006/main">
              <a:ext uri="{FF2B5EF4-FFF2-40B4-BE49-F238E27FC236}">
                <a16:creationId xmlns:a16="http://schemas.microsoft.com/office/drawing/2014/main" id="{F939C994-A588-455C-8C68-39D2095B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Cómo se conecta el recorrido</a:t>
            </a:r>
          </a:p>
        </p:txBody>
      </p:sp>
      <p:sp>
        <p:nvSpPr>
          <p:cNvPr id="19" name="rect-194">
            <a:extLst xmlns:a="http://schemas.openxmlformats.org/drawingml/2006/main">
              <a:ext uri="{FF2B5EF4-FFF2-40B4-BE49-F238E27FC236}">
                <a16:creationId xmlns:a16="http://schemas.microsoft.com/office/drawing/2014/main" id="{73201984-4AB6-42FF-B201-00AAD54A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95">
            <a:extLst xmlns:a="http://schemas.openxmlformats.org/drawingml/2006/main">
              <a:ext uri="{FF2B5EF4-FFF2-40B4-BE49-F238E27FC236}">
                <a16:creationId xmlns:a16="http://schemas.microsoft.com/office/drawing/2014/main" id="{57698CC7-8E76-4A88-9508-26D61161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ACORDAR</a:t>
            </a:r>
          </a:p>
        </p:txBody>
      </p:sp>
      <p:sp>
        <p:nvSpPr>
          <p:cNvPr id="21" name="text-196">
            <a:extLst xmlns:a="http://schemas.openxmlformats.org/drawingml/2006/main">
              <a:ext uri="{FF2B5EF4-FFF2-40B4-BE49-F238E27FC236}">
                <a16:creationId xmlns:a16="http://schemas.microsoft.com/office/drawing/2014/main" id="{1A7CE23E-E4BB-46AE-BECD-EB8420D6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Prueba</a:t>
            </a:r>
          </a:p>
        </p:txBody>
      </p:sp>
      <p:sp>
        <p:nvSpPr>
          <p:cNvPr id="22" name="text-197">
            <a:extLst xmlns:a="http://schemas.openxmlformats.org/drawingml/2006/main">
              <a:ext uri="{FF2B5EF4-FFF2-40B4-BE49-F238E27FC236}">
                <a16:creationId xmlns:a16="http://schemas.microsoft.com/office/drawing/2014/main" id="{C354A163-DCD3-4956-BA25-DF289B50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Qué habría que validar</a:t>
            </a:r>
          </a:p>
        </p:txBody>
      </p:sp>
    </p:spTree>
    <p:extLst>
      <p:ext uri="{BB962C8B-B14F-4D97-AF65-F5344CB8AC3E}">
        <p14:creationId xmlns:p14="http://schemas.microsoft.com/office/powerpoint/2010/main" val="417670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98">
            <a:extLst xmlns:a="http://schemas.openxmlformats.org/drawingml/2006/main">
              <a:ext uri="{FF2B5EF4-FFF2-40B4-BE49-F238E27FC236}">
                <a16:creationId xmlns:a16="http://schemas.microsoft.com/office/drawing/2014/main" id="{CB89316F-163F-450D-92D5-61968B6B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99">
            <a:extLst xmlns:a="http://schemas.openxmlformats.org/drawingml/2006/main">
              <a:ext uri="{FF2B5EF4-FFF2-40B4-BE49-F238E27FC236}">
                <a16:creationId xmlns:a16="http://schemas.microsoft.com/office/drawing/2014/main" id="{49EE1387-961C-4399-A1D5-9D4BA0D8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200">
            <a:extLst xmlns:a="http://schemas.openxmlformats.org/drawingml/2006/main">
              <a:ext uri="{FF2B5EF4-FFF2-40B4-BE49-F238E27FC236}">
                <a16:creationId xmlns:a16="http://schemas.microsoft.com/office/drawing/2014/main" id="{E3EA08D8-B59A-45B7-9B2E-80A3EBBA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CRITERIOS DE RECHAZO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B1D45D0D-A20B-4544-9332-C922F12E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Hay cuatro motivos legítimos para no vender</a:t>
            </a:r>
          </a:p>
        </p:txBody>
      </p:sp>
      <p:sp>
        <p:nvSpPr>
          <p:cNvPr id="5" name="line-201">
            <a:extLst xmlns:a="http://schemas.openxmlformats.org/drawingml/2006/main">
              <a:ext uri="{FF2B5EF4-FFF2-40B4-BE49-F238E27FC236}">
                <a16:creationId xmlns:a16="http://schemas.microsoft.com/office/drawing/2014/main" id="{D8B2A483-E556-4691-B0C7-085436A8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202">
            <a:extLst xmlns:a="http://schemas.openxmlformats.org/drawingml/2006/main">
              <a:ext uri="{FF2B5EF4-FFF2-40B4-BE49-F238E27FC236}">
                <a16:creationId xmlns:a16="http://schemas.microsoft.com/office/drawing/2014/main" id="{6B0C637B-6CF1-4CC9-A43F-DE8DDEF0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203">
            <a:extLst xmlns:a="http://schemas.openxmlformats.org/drawingml/2006/main">
              <a:ext uri="{FF2B5EF4-FFF2-40B4-BE49-F238E27FC236}">
                <a16:creationId xmlns:a16="http://schemas.microsoft.com/office/drawing/2014/main" id="{0F4FCA34-3371-4BB6-94BB-268CCBF3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Sin margen</a:t>
            </a:r>
          </a:p>
        </p:txBody>
      </p:sp>
      <p:sp>
        <p:nvSpPr>
          <p:cNvPr id="8" name="text-204">
            <a:extLst xmlns:a="http://schemas.openxmlformats.org/drawingml/2006/main">
              <a:ext uri="{FF2B5EF4-FFF2-40B4-BE49-F238E27FC236}">
                <a16:creationId xmlns:a16="http://schemas.microsoft.com/office/drawing/2014/main" id="{B5302934-9517-42F7-8B62-C6849A39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La economía no soporta adquisición y seguimiento.</a:t>
            </a:r>
          </a:p>
        </p:txBody>
      </p:sp>
      <p:sp>
        <p:nvSpPr>
          <p:cNvPr id="9" name="text-205">
            <a:extLst xmlns:a="http://schemas.openxmlformats.org/drawingml/2006/main">
              <a:ext uri="{FF2B5EF4-FFF2-40B4-BE49-F238E27FC236}">
                <a16:creationId xmlns:a16="http://schemas.microsoft.com/office/drawing/2014/main" id="{C5089D5C-CEB6-482D-82C8-B444E56A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-206">
            <a:extLst xmlns:a="http://schemas.openxmlformats.org/drawingml/2006/main">
              <a:ext uri="{FF2B5EF4-FFF2-40B4-BE49-F238E27FC236}">
                <a16:creationId xmlns:a16="http://schemas.microsoft.com/office/drawing/2014/main" id="{3204BAFF-AB69-4936-8FBF-13F620DF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Sin capacidad</a:t>
            </a:r>
          </a:p>
        </p:txBody>
      </p:sp>
      <p:sp>
        <p:nvSpPr>
          <p:cNvPr id="11" name="text-207">
            <a:extLst xmlns:a="http://schemas.openxmlformats.org/drawingml/2006/main">
              <a:ext uri="{FF2B5EF4-FFF2-40B4-BE49-F238E27FC236}">
                <a16:creationId xmlns:a16="http://schemas.microsoft.com/office/drawing/2014/main" id="{A5E7F674-BBB0-4513-8133-DCF4902E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hay agenda, cobertura o velocidad de respuesta.</a:t>
            </a:r>
          </a:p>
        </p:txBody>
      </p:sp>
      <p:sp>
        <p:nvSpPr>
          <p:cNvPr id="12" name="text-208">
            <a:extLst xmlns:a="http://schemas.openxmlformats.org/drawingml/2006/main">
              <a:ext uri="{FF2B5EF4-FFF2-40B4-BE49-F238E27FC236}">
                <a16:creationId xmlns:a16="http://schemas.microsoft.com/office/drawing/2014/main" id="{2D1DC371-1458-46EC-9374-538C5E3C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209">
            <a:extLst xmlns:a="http://schemas.openxmlformats.org/drawingml/2006/main">
              <a:ext uri="{FF2B5EF4-FFF2-40B4-BE49-F238E27FC236}">
                <a16:creationId xmlns:a16="http://schemas.microsoft.com/office/drawing/2014/main" id="{1523DCB4-DFF3-406E-B601-D21B10EB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Sin trazabilidad</a:t>
            </a:r>
          </a:p>
        </p:txBody>
      </p:sp>
      <p:sp>
        <p:nvSpPr>
          <p:cNvPr id="14" name="text-210">
            <a:extLst xmlns:a="http://schemas.openxmlformats.org/drawingml/2006/main">
              <a:ext uri="{FF2B5EF4-FFF2-40B4-BE49-F238E27FC236}">
                <a16:creationId xmlns:a16="http://schemas.microsoft.com/office/drawing/2014/main" id="{C65F7B06-6CB4-457D-9C3E-81E9E84D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El negocio no puede devolver citas, ventas o valor.</a:t>
            </a:r>
          </a:p>
        </p:txBody>
      </p:sp>
      <p:sp>
        <p:nvSpPr>
          <p:cNvPr id="15" name="text-211">
            <a:extLst xmlns:a="http://schemas.openxmlformats.org/drawingml/2006/main">
              <a:ext uri="{FF2B5EF4-FFF2-40B4-BE49-F238E27FC236}">
                <a16:creationId xmlns:a16="http://schemas.microsoft.com/office/drawing/2014/main" id="{473AFDEA-B506-43C2-B383-E55CD5DD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-212">
            <a:extLst xmlns:a="http://schemas.openxmlformats.org/drawingml/2006/main">
              <a:ext uri="{FF2B5EF4-FFF2-40B4-BE49-F238E27FC236}">
                <a16:creationId xmlns:a16="http://schemas.microsoft.com/office/drawing/2014/main" id="{9AAADF71-1C99-44D9-B1C8-28DE5C8F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76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Sin integridad</a:t>
            </a:r>
          </a:p>
        </p:txBody>
      </p:sp>
      <p:sp>
        <p:nvSpPr>
          <p:cNvPr id="17" name="text-213">
            <a:extLst xmlns:a="http://schemas.openxmlformats.org/drawingml/2006/main">
              <a:ext uri="{FF2B5EF4-FFF2-40B4-BE49-F238E27FC236}">
                <a16:creationId xmlns:a16="http://schemas.microsoft.com/office/drawing/2014/main" id="{A2F71EFC-0974-4715-801A-B323ED7E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9105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Exige promesas, pruebas o prácticas no defendibles.</a:t>
            </a:r>
          </a:p>
        </p:txBody>
      </p:sp>
    </p:spTree>
    <p:extLst>
      <p:ext uri="{BB962C8B-B14F-4D97-AF65-F5344CB8AC3E}">
        <p14:creationId xmlns:p14="http://schemas.microsoft.com/office/powerpoint/2010/main" val="7612493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14">
            <a:extLst xmlns:a="http://schemas.openxmlformats.org/drawingml/2006/main">
              <a:ext uri="{FF2B5EF4-FFF2-40B4-BE49-F238E27FC236}">
                <a16:creationId xmlns:a16="http://schemas.microsoft.com/office/drawing/2014/main" id="{698B83B0-B8FC-4CDA-8CF5-D94ED950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215">
            <a:extLst xmlns:a="http://schemas.openxmlformats.org/drawingml/2006/main">
              <a:ext uri="{FF2B5EF4-FFF2-40B4-BE49-F238E27FC236}">
                <a16:creationId xmlns:a16="http://schemas.microsoft.com/office/drawing/2014/main" id="{5AE91283-ABA9-44EA-9A73-90B31EE7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216">
            <a:extLst xmlns:a="http://schemas.openxmlformats.org/drawingml/2006/main">
              <a:ext uri="{FF2B5EF4-FFF2-40B4-BE49-F238E27FC236}">
                <a16:creationId xmlns:a16="http://schemas.microsoft.com/office/drawing/2014/main" id="{EC8731CC-5D5B-434C-A126-6DC0DCA5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OBJECIONES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1BABC4A3-02F4-477E-8849-CB31901F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Las objeciones se responden con diagnóstico, no presión</a:t>
            </a:r>
          </a:p>
        </p:txBody>
      </p:sp>
      <p:sp>
        <p:nvSpPr>
          <p:cNvPr id="5" name="line-217">
            <a:extLst xmlns:a="http://schemas.openxmlformats.org/drawingml/2006/main">
              <a:ext uri="{FF2B5EF4-FFF2-40B4-BE49-F238E27FC236}">
                <a16:creationId xmlns:a16="http://schemas.microsoft.com/office/drawing/2014/main" id="{44BE3C9F-A029-486A-9AD5-374E330B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218">
            <a:extLst xmlns:a="http://schemas.openxmlformats.org/drawingml/2006/main">
              <a:ext uri="{FF2B5EF4-FFF2-40B4-BE49-F238E27FC236}">
                <a16:creationId xmlns:a16="http://schemas.microsoft.com/office/drawing/2014/main" id="{714ED12F-2A30-4F05-8076-9DAE9CBE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219">
            <a:extLst xmlns:a="http://schemas.openxmlformats.org/drawingml/2006/main">
              <a:ext uri="{FF2B5EF4-FFF2-40B4-BE49-F238E27FC236}">
                <a16:creationId xmlns:a16="http://schemas.microsoft.com/office/drawing/2014/main" id="{01EA30F9-5E99-4F4E-807F-6B224E5C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“Ya tengo agencia”</a:t>
            </a:r>
          </a:p>
        </p:txBody>
      </p:sp>
      <p:sp>
        <p:nvSpPr>
          <p:cNvPr id="8" name="text-220">
            <a:extLst xmlns:a="http://schemas.openxmlformats.org/drawingml/2006/main">
              <a:ext uri="{FF2B5EF4-FFF2-40B4-BE49-F238E27FC236}">
                <a16:creationId xmlns:a16="http://schemas.microsoft.com/office/drawing/2014/main" id="{91C76813-FD5E-4DB3-A5A3-718A4B49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Preguntar qué resultado final miden y dónde se pierde el recorrido.</a:t>
            </a:r>
          </a:p>
        </p:txBody>
      </p:sp>
      <p:sp>
        <p:nvSpPr>
          <p:cNvPr id="9" name="text-221">
            <a:extLst xmlns:a="http://schemas.openxmlformats.org/drawingml/2006/main">
              <a:ext uri="{FF2B5EF4-FFF2-40B4-BE49-F238E27FC236}">
                <a16:creationId xmlns:a16="http://schemas.microsoft.com/office/drawing/2014/main" id="{FC13ED04-4BEC-4B87-9CCE-FE74B42D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-222">
            <a:extLst xmlns:a="http://schemas.openxmlformats.org/drawingml/2006/main">
              <a:ext uri="{FF2B5EF4-FFF2-40B4-BE49-F238E27FC236}">
                <a16:creationId xmlns:a16="http://schemas.microsoft.com/office/drawing/2014/main" id="{9175BA43-2E52-415C-8975-5DCB7EB0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“Los leads son malos”</a:t>
            </a:r>
          </a:p>
        </p:txBody>
      </p:sp>
      <p:sp>
        <p:nvSpPr>
          <p:cNvPr id="11" name="text-223">
            <a:extLst xmlns:a="http://schemas.openxmlformats.org/drawingml/2006/main">
              <a:ext uri="{FF2B5EF4-FFF2-40B4-BE49-F238E27FC236}">
                <a16:creationId xmlns:a16="http://schemas.microsoft.com/office/drawing/2014/main" id="{20F63D66-08FD-48A7-916B-97F837F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Separar origen, filtro, contacto, agenda y cierre antes de culpar al canal.</a:t>
            </a:r>
          </a:p>
        </p:txBody>
      </p:sp>
      <p:sp>
        <p:nvSpPr>
          <p:cNvPr id="12" name="text-224">
            <a:extLst xmlns:a="http://schemas.openxmlformats.org/drawingml/2006/main">
              <a:ext uri="{FF2B5EF4-FFF2-40B4-BE49-F238E27FC236}">
                <a16:creationId xmlns:a16="http://schemas.microsoft.com/office/drawing/2014/main" id="{73BC4FCD-995D-4784-B4B2-315406CB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225">
            <a:extLst xmlns:a="http://schemas.openxmlformats.org/drawingml/2006/main">
              <a:ext uri="{FF2B5EF4-FFF2-40B4-BE49-F238E27FC236}">
                <a16:creationId xmlns:a16="http://schemas.microsoft.com/office/drawing/2014/main" id="{D8C12B7C-FED2-44E4-9DEB-049FB3C1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“Es caro”</a:t>
            </a:r>
          </a:p>
        </p:txBody>
      </p:sp>
      <p:sp>
        <p:nvSpPr>
          <p:cNvPr id="14" name="text-226">
            <a:extLst xmlns:a="http://schemas.openxmlformats.org/drawingml/2006/main">
              <a:ext uri="{FF2B5EF4-FFF2-40B4-BE49-F238E27FC236}">
                <a16:creationId xmlns:a16="http://schemas.microsoft.com/office/drawing/2014/main" id="{46AA2394-5B60-4847-AEC3-EC400E3D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Volver a margen, capacidad y coste de oportunidad; no improvisar descuentos.</a:t>
            </a:r>
          </a:p>
        </p:txBody>
      </p:sp>
      <p:sp>
        <p:nvSpPr>
          <p:cNvPr id="15" name="text-227">
            <a:extLst xmlns:a="http://schemas.openxmlformats.org/drawingml/2006/main">
              <a:ext uri="{FF2B5EF4-FFF2-40B4-BE49-F238E27FC236}">
                <a16:creationId xmlns:a16="http://schemas.microsoft.com/office/drawing/2014/main" id="{EEE1C47C-2965-4025-A621-F758D85B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-228">
            <a:extLst xmlns:a="http://schemas.openxmlformats.org/drawingml/2006/main">
              <a:ext uri="{FF2B5EF4-FFF2-40B4-BE49-F238E27FC236}">
                <a16:creationId xmlns:a16="http://schemas.microsoft.com/office/drawing/2014/main" id="{427A7695-EA40-43B0-80BC-5A9CCB9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76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“Quiero garantía”</a:t>
            </a:r>
          </a:p>
        </p:txBody>
      </p:sp>
      <p:sp>
        <p:nvSpPr>
          <p:cNvPr id="17" name="text-229">
            <a:extLst xmlns:a="http://schemas.openxmlformats.org/drawingml/2006/main">
              <a:ext uri="{FF2B5EF4-FFF2-40B4-BE49-F238E27FC236}">
                <a16:creationId xmlns:a16="http://schemas.microsoft.com/office/drawing/2014/main" id="{A08A26C9-032A-4841-A09D-4BB4EAEB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9105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Acordar entregables y reglas controlables; nunca garantizar ventas.</a:t>
            </a:r>
          </a:p>
        </p:txBody>
      </p:sp>
    </p:spTree>
    <p:extLst>
      <p:ext uri="{BB962C8B-B14F-4D97-AF65-F5344CB8AC3E}">
        <p14:creationId xmlns:p14="http://schemas.microsoft.com/office/powerpoint/2010/main" val="8641159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230">
            <a:extLst xmlns:a="http://schemas.openxmlformats.org/drawingml/2006/main">
              <a:ext uri="{FF2B5EF4-FFF2-40B4-BE49-F238E27FC236}">
                <a16:creationId xmlns:a16="http://schemas.microsoft.com/office/drawing/2014/main" id="{5231336B-259F-4F4B-960C-49925709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 · BATTLECARD</a:t>
            </a:r>
          </a:p>
        </p:txBody>
      </p:sp>
      <p:sp>
        <p:nvSpPr>
          <p:cNvPr id="2" name="text-231">
            <a:extLst xmlns:a="http://schemas.openxmlformats.org/drawingml/2006/main">
              <a:ext uri="{FF2B5EF4-FFF2-40B4-BE49-F238E27FC236}">
                <a16:creationId xmlns:a16="http://schemas.microsoft.com/office/drawing/2014/main" id="{622B8FA0-8FE2-49AB-9D32-0827A789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-232">
            <a:extLst xmlns:a="http://schemas.openxmlformats.org/drawingml/2006/main">
              <a:ext uri="{FF2B5EF4-FFF2-40B4-BE49-F238E27FC236}">
                <a16:creationId xmlns:a16="http://schemas.microsoft.com/office/drawing/2014/main" id="{3C4FB071-3824-4215-8B37-01A9AC8B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2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Ley de Segunda Oportunidad</a:t>
            </a:r>
          </a:p>
        </p:txBody>
      </p:sp>
      <p:sp>
        <p:nvSpPr>
          <p:cNvPr id="4" name="text-233">
            <a:extLst xmlns:a="http://schemas.openxmlformats.org/drawingml/2006/main">
              <a:ext uri="{FF2B5EF4-FFF2-40B4-BE49-F238E27FC236}">
                <a16:creationId xmlns:a16="http://schemas.microsoft.com/office/drawing/2014/main" id="{B7606D9B-043B-4B7C-9713-306F6925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PROSPECTO</a:t>
            </a:r>
          </a:p>
        </p:txBody>
      </p:sp>
      <p:sp>
        <p:nvSpPr>
          <p:cNvPr id="5" name="text-234">
            <a:extLst xmlns:a="http://schemas.openxmlformats.org/drawingml/2006/main">
              <a:ext uri="{FF2B5EF4-FFF2-40B4-BE49-F238E27FC236}">
                <a16:creationId xmlns:a16="http://schemas.microsoft.com/office/drawing/2014/main" id="{AC541E40-FBDC-4DC0-9210-FE567393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Despachos con área concursal e intake estable.</a:t>
            </a:r>
          </a:p>
        </p:txBody>
      </p:sp>
      <p:sp>
        <p:nvSpPr>
          <p:cNvPr id="6" name="text-235">
            <a:extLst xmlns:a="http://schemas.openxmlformats.org/drawingml/2006/main">
              <a:ext uri="{FF2B5EF4-FFF2-40B4-BE49-F238E27FC236}">
                <a16:creationId xmlns:a16="http://schemas.microsoft.com/office/drawing/2014/main" id="{79983253-E3A6-43ED-87FA-FE811C0A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ÁNGULO DE ENTRADA</a:t>
            </a:r>
          </a:p>
        </p:txBody>
      </p:sp>
      <p:sp>
        <p:nvSpPr>
          <p:cNvPr id="7" name="text-236">
            <a:extLst xmlns:a="http://schemas.openxmlformats.org/drawingml/2006/main">
              <a:ext uri="{FF2B5EF4-FFF2-40B4-BE49-F238E27FC236}">
                <a16:creationId xmlns:a16="http://schemas.microsoft.com/office/drawing/2014/main" id="{E6AD0D89-B515-4003-9A49-8C09D52E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Captación separada por especialidad y medida hasta consulta efectiva y asunto aceptado.</a:t>
            </a:r>
          </a:p>
        </p:txBody>
      </p:sp>
      <p:sp>
        <p:nvSpPr>
          <p:cNvPr id="8" name="text-237">
            <a:extLst xmlns:a="http://schemas.openxmlformats.org/drawingml/2006/main">
              <a:ext uri="{FF2B5EF4-FFF2-40B4-BE49-F238E27FC236}">
                <a16:creationId xmlns:a16="http://schemas.microsoft.com/office/drawing/2014/main" id="{7F4E41A3-8179-4783-B288-550F239C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AVANZAR</a:t>
            </a:r>
          </a:p>
        </p:txBody>
      </p:sp>
      <p:sp>
        <p:nvSpPr>
          <p:cNvPr id="9" name="text-238">
            <a:extLst xmlns:a="http://schemas.openxmlformats.org/drawingml/2006/main">
              <a:ext uri="{FF2B5EF4-FFF2-40B4-BE49-F238E27FC236}">
                <a16:creationId xmlns:a16="http://schemas.microsoft.com/office/drawing/2014/main" id="{5DC9E18D-CF93-442A-A98D-FD78BECF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vender si se exige prometer cancelación de deuda o no existe capacidad de consulta.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27a5ca0d64a91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19100"/>
            <a:ext cx="54864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rect-240">
            <a:extLst xmlns:a="http://schemas.openxmlformats.org/drawingml/2006/main">
              <a:ext uri="{FF2B5EF4-FFF2-40B4-BE49-F238E27FC236}">
                <a16:creationId xmlns:a16="http://schemas.microsoft.com/office/drawing/2014/main" id="{BDBFD742-13FD-4E1F-BB75-EEC29D8A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41">
            <a:extLst xmlns:a="http://schemas.openxmlformats.org/drawingml/2006/main">
              <a:ext uri="{FF2B5EF4-FFF2-40B4-BE49-F238E27FC236}">
                <a16:creationId xmlns:a16="http://schemas.microsoft.com/office/drawing/2014/main" id="{F9EDE959-8278-412B-B562-DE4AE894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PREGUNTAS QUE ABREN EL DISCOVERY</a:t>
            </a:r>
          </a:p>
        </p:txBody>
      </p:sp>
      <p:sp>
        <p:nvSpPr>
          <p:cNvPr id="13" name="rect-242">
            <a:extLst xmlns:a="http://schemas.openxmlformats.org/drawingml/2006/main">
              <a:ext uri="{FF2B5EF4-FFF2-40B4-BE49-F238E27FC236}">
                <a16:creationId xmlns:a16="http://schemas.microsoft.com/office/drawing/2014/main" id="{41A5AF88-C318-421A-B95A-7121B3FD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43">
            <a:extLst xmlns:a="http://schemas.openxmlformats.org/drawingml/2006/main">
              <a:ext uri="{FF2B5EF4-FFF2-40B4-BE49-F238E27FC236}">
                <a16:creationId xmlns:a16="http://schemas.microsoft.com/office/drawing/2014/main" id="{9023485E-F707-4839-9BEB-CE75EA68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¿Cuántas consultas puede atender el despacho por semana?</a:t>
            </a:r>
          </a:p>
        </p:txBody>
      </p:sp>
      <p:sp>
        <p:nvSpPr>
          <p:cNvPr id="15" name="rect-244">
            <a:extLst xmlns:a="http://schemas.openxmlformats.org/drawingml/2006/main">
              <a:ext uri="{FF2B5EF4-FFF2-40B4-BE49-F238E27FC236}">
                <a16:creationId xmlns:a16="http://schemas.microsoft.com/office/drawing/2014/main" id="{007C18D3-4E71-4FE9-B8D9-4C605B27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45">
            <a:extLst xmlns:a="http://schemas.openxmlformats.org/drawingml/2006/main">
              <a:ext uri="{FF2B5EF4-FFF2-40B4-BE49-F238E27FC236}">
                <a16:creationId xmlns:a16="http://schemas.microsoft.com/office/drawing/2014/main" id="{0E90A54E-6A7F-413F-B688-B00815EA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hace que un asunto sea aceptable?</a:t>
            </a:r>
          </a:p>
        </p:txBody>
      </p:sp>
      <p:sp>
        <p:nvSpPr>
          <p:cNvPr id="17" name="rect-246">
            <a:extLst xmlns:a="http://schemas.openxmlformats.org/drawingml/2006/main">
              <a:ext uri="{FF2B5EF4-FFF2-40B4-BE49-F238E27FC236}">
                <a16:creationId xmlns:a16="http://schemas.microsoft.com/office/drawing/2014/main" id="{F4E81827-0EC1-401C-84E0-610B8A06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387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47">
            <a:extLst xmlns:a="http://schemas.openxmlformats.org/drawingml/2006/main">
              <a:ext uri="{FF2B5EF4-FFF2-40B4-BE49-F238E27FC236}">
                <a16:creationId xmlns:a16="http://schemas.microsoft.com/office/drawing/2014/main" id="{DE0581B1-D2C9-440C-BF72-3509B221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¿Registráis el valor del asunto en el CRM?</a:t>
            </a:r>
          </a:p>
        </p:txBody>
      </p:sp>
    </p:spTree>
    <p:extLst>
      <p:ext uri="{BB962C8B-B14F-4D97-AF65-F5344CB8AC3E}">
        <p14:creationId xmlns:p14="http://schemas.microsoft.com/office/powerpoint/2010/main" val="15628931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248">
            <a:extLst xmlns:a="http://schemas.openxmlformats.org/drawingml/2006/main">
              <a:ext uri="{FF2B5EF4-FFF2-40B4-BE49-F238E27FC236}">
                <a16:creationId xmlns:a16="http://schemas.microsoft.com/office/drawing/2014/main" id="{5B94DCF1-2035-4A2E-8133-2BE9F1ED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 · BATTLECARD</a:t>
            </a:r>
          </a:p>
        </p:txBody>
      </p:sp>
      <p:sp>
        <p:nvSpPr>
          <p:cNvPr id="2" name="text-249">
            <a:extLst xmlns:a="http://schemas.openxmlformats.org/drawingml/2006/main">
              <a:ext uri="{FF2B5EF4-FFF2-40B4-BE49-F238E27FC236}">
                <a16:creationId xmlns:a16="http://schemas.microsoft.com/office/drawing/2014/main" id="{1C9A171F-7A2D-42F0-8A2C-73EA3BE3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250">
            <a:extLst xmlns:a="http://schemas.openxmlformats.org/drawingml/2006/main">
              <a:ext uri="{FF2B5EF4-FFF2-40B4-BE49-F238E27FC236}">
                <a16:creationId xmlns:a16="http://schemas.microsoft.com/office/drawing/2014/main" id="{74853927-86EE-4A4D-9DDE-3DAF6470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Herencias</a:t>
            </a:r>
          </a:p>
        </p:txBody>
      </p:sp>
      <p:sp>
        <p:nvSpPr>
          <p:cNvPr id="4" name="text-251">
            <a:extLst xmlns:a="http://schemas.openxmlformats.org/drawingml/2006/main">
              <a:ext uri="{FF2B5EF4-FFF2-40B4-BE49-F238E27FC236}">
                <a16:creationId xmlns:a16="http://schemas.microsoft.com/office/drawing/2014/main" id="{6204D3F3-5049-454F-8ED4-3ACA8BFC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PROSPECTO</a:t>
            </a:r>
          </a:p>
        </p:txBody>
      </p:sp>
      <p:sp>
        <p:nvSpPr>
          <p:cNvPr id="5" name="text-252">
            <a:extLst xmlns:a="http://schemas.openxmlformats.org/drawingml/2006/main">
              <a:ext uri="{FF2B5EF4-FFF2-40B4-BE49-F238E27FC236}">
                <a16:creationId xmlns:a16="http://schemas.microsoft.com/office/drawing/2014/main" id="{40C43FA2-E330-4E81-9116-F6BBB8A8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Despachos con sucesiones, inmuebles y revisión documental.</a:t>
            </a:r>
          </a:p>
        </p:txBody>
      </p:sp>
      <p:sp>
        <p:nvSpPr>
          <p:cNvPr id="6" name="text-253">
            <a:extLst xmlns:a="http://schemas.openxmlformats.org/drawingml/2006/main">
              <a:ext uri="{FF2B5EF4-FFF2-40B4-BE49-F238E27FC236}">
                <a16:creationId xmlns:a16="http://schemas.microsoft.com/office/drawing/2014/main" id="{438B13BC-0B08-4E1A-9DB1-1D60D3B0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ÁNGULO DE ENTRADA</a:t>
            </a:r>
          </a:p>
        </p:txBody>
      </p:sp>
      <p:sp>
        <p:nvSpPr>
          <p:cNvPr id="7" name="text-254">
            <a:extLst xmlns:a="http://schemas.openxmlformats.org/drawingml/2006/main">
              <a:ext uri="{FF2B5EF4-FFF2-40B4-BE49-F238E27FC236}">
                <a16:creationId xmlns:a16="http://schemas.microsoft.com/office/drawing/2014/main" id="{777BA4C5-F932-4284-95B6-558B6C7C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Campañas por casuística: bloqueo, conflicto, inmueble, deuda o internacional.</a:t>
            </a:r>
          </a:p>
        </p:txBody>
      </p:sp>
      <p:sp>
        <p:nvSpPr>
          <p:cNvPr id="8" name="text-255">
            <a:extLst xmlns:a="http://schemas.openxmlformats.org/drawingml/2006/main">
              <a:ext uri="{FF2B5EF4-FFF2-40B4-BE49-F238E27FC236}">
                <a16:creationId xmlns:a16="http://schemas.microsoft.com/office/drawing/2014/main" id="{31ECB605-973C-4B65-A168-C59ADD3D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AVANZAR</a:t>
            </a:r>
          </a:p>
        </p:txBody>
      </p:sp>
      <p:sp>
        <p:nvSpPr>
          <p:cNvPr id="9" name="text-256">
            <a:extLst xmlns:a="http://schemas.openxmlformats.org/drawingml/2006/main">
              <a:ext uri="{FF2B5EF4-FFF2-40B4-BE49-F238E27FC236}">
                <a16:creationId xmlns:a16="http://schemas.microsoft.com/office/drawing/2014/main" id="{7616C18B-01E3-420B-A0BC-65BC2DB2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mezclar casuísticas ni prometer reparto, plazo o resultado.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1b84da4ef43fe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19100"/>
            <a:ext cx="54864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rect-258">
            <a:extLst xmlns:a="http://schemas.openxmlformats.org/drawingml/2006/main">
              <a:ext uri="{FF2B5EF4-FFF2-40B4-BE49-F238E27FC236}">
                <a16:creationId xmlns:a16="http://schemas.microsoft.com/office/drawing/2014/main" id="{7603AEB7-C4D9-4F25-ABFE-096B17E5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59">
            <a:extLst xmlns:a="http://schemas.openxmlformats.org/drawingml/2006/main">
              <a:ext uri="{FF2B5EF4-FFF2-40B4-BE49-F238E27FC236}">
                <a16:creationId xmlns:a16="http://schemas.microsoft.com/office/drawing/2014/main" id="{6D5B43DF-6739-4AF8-ADA0-1E64E562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PREGUNTAS QUE ABREN EL DISCOVERY</a:t>
            </a:r>
          </a:p>
        </p:txBody>
      </p:sp>
      <p:sp>
        <p:nvSpPr>
          <p:cNvPr id="13" name="rect-260">
            <a:extLst xmlns:a="http://schemas.openxmlformats.org/drawingml/2006/main">
              <a:ext uri="{FF2B5EF4-FFF2-40B4-BE49-F238E27FC236}">
                <a16:creationId xmlns:a16="http://schemas.microsoft.com/office/drawing/2014/main" id="{3597C859-3BF7-4CBA-94D2-20585EFC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61">
            <a:extLst xmlns:a="http://schemas.openxmlformats.org/drawingml/2006/main">
              <a:ext uri="{FF2B5EF4-FFF2-40B4-BE49-F238E27FC236}">
                <a16:creationId xmlns:a16="http://schemas.microsoft.com/office/drawing/2014/main" id="{A74161F7-6E16-4FD6-BFEC-C1F4239B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tipos de herencia queréis priorizar?</a:t>
            </a:r>
          </a:p>
        </p:txBody>
      </p:sp>
      <p:sp>
        <p:nvSpPr>
          <p:cNvPr id="15" name="rect-262">
            <a:extLst xmlns:a="http://schemas.openxmlformats.org/drawingml/2006/main">
              <a:ext uri="{FF2B5EF4-FFF2-40B4-BE49-F238E27FC236}">
                <a16:creationId xmlns:a16="http://schemas.microsoft.com/office/drawing/2014/main" id="{885883C5-52AD-4FD0-9EE8-087B5588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63">
            <a:extLst xmlns:a="http://schemas.openxmlformats.org/drawingml/2006/main">
              <a:ext uri="{FF2B5EF4-FFF2-40B4-BE49-F238E27FC236}">
                <a16:creationId xmlns:a16="http://schemas.microsoft.com/office/drawing/2014/main" id="{247F7777-7DD9-403A-BC05-905A53DD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¿Cuánto tarda la revisión inicial?</a:t>
            </a:r>
          </a:p>
        </p:txBody>
      </p:sp>
      <p:sp>
        <p:nvSpPr>
          <p:cNvPr id="17" name="rect-264">
            <a:extLst xmlns:a="http://schemas.openxmlformats.org/drawingml/2006/main">
              <a:ext uri="{FF2B5EF4-FFF2-40B4-BE49-F238E27FC236}">
                <a16:creationId xmlns:a16="http://schemas.microsoft.com/office/drawing/2014/main" id="{034BAA7A-FEC0-4B5F-A1FF-3EE766EF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387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65">
            <a:extLst xmlns:a="http://schemas.openxmlformats.org/drawingml/2006/main">
              <a:ext uri="{FF2B5EF4-FFF2-40B4-BE49-F238E27FC236}">
                <a16:creationId xmlns:a16="http://schemas.microsoft.com/office/drawing/2014/main" id="{FA132018-8185-4205-8FFC-FABE517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¿Quién sigue una consulta no contratada?</a:t>
            </a:r>
          </a:p>
        </p:txBody>
      </p:sp>
    </p:spTree>
    <p:extLst>
      <p:ext uri="{BB962C8B-B14F-4D97-AF65-F5344CB8AC3E}">
        <p14:creationId xmlns:p14="http://schemas.microsoft.com/office/powerpoint/2010/main" val="11650135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266">
            <a:extLst xmlns:a="http://schemas.openxmlformats.org/drawingml/2006/main">
              <a:ext uri="{FF2B5EF4-FFF2-40B4-BE49-F238E27FC236}">
                <a16:creationId xmlns:a16="http://schemas.microsoft.com/office/drawing/2014/main" id="{1F6F04C9-D3B2-420C-A827-848AB3BC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 · BATTLECARD</a:t>
            </a:r>
          </a:p>
        </p:txBody>
      </p:sp>
      <p:sp>
        <p:nvSpPr>
          <p:cNvPr id="2" name="text-267">
            <a:extLst xmlns:a="http://schemas.openxmlformats.org/drawingml/2006/main">
              <a:ext uri="{FF2B5EF4-FFF2-40B4-BE49-F238E27FC236}">
                <a16:creationId xmlns:a16="http://schemas.microsoft.com/office/drawing/2014/main" id="{969BBAC3-423D-461D-AB36-4BD39F47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-268">
            <a:extLst xmlns:a="http://schemas.openxmlformats.org/drawingml/2006/main">
              <a:ext uri="{FF2B5EF4-FFF2-40B4-BE49-F238E27FC236}">
                <a16:creationId xmlns:a16="http://schemas.microsoft.com/office/drawing/2014/main" id="{D8D20545-7097-4F44-8484-82B8D029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Divorcios</a:t>
            </a:r>
          </a:p>
        </p:txBody>
      </p:sp>
      <p:sp>
        <p:nvSpPr>
          <p:cNvPr id="4" name="text-269">
            <a:extLst xmlns:a="http://schemas.openxmlformats.org/drawingml/2006/main">
              <a:ext uri="{FF2B5EF4-FFF2-40B4-BE49-F238E27FC236}">
                <a16:creationId xmlns:a16="http://schemas.microsoft.com/office/drawing/2014/main" id="{5ABE57C4-7F1E-4806-9F34-BC88597B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PROSPECTO</a:t>
            </a:r>
          </a:p>
        </p:txBody>
      </p:sp>
      <p:sp>
        <p:nvSpPr>
          <p:cNvPr id="5" name="text-270">
            <a:extLst xmlns:a="http://schemas.openxmlformats.org/drawingml/2006/main">
              <a:ext uri="{FF2B5EF4-FFF2-40B4-BE49-F238E27FC236}">
                <a16:creationId xmlns:a16="http://schemas.microsoft.com/office/drawing/2014/main" id="{A511D084-A8FE-4E83-90F7-9E6C5B06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Despachos de familia con agenda diferenciada.</a:t>
            </a:r>
          </a:p>
        </p:txBody>
      </p:sp>
      <p:sp>
        <p:nvSpPr>
          <p:cNvPr id="6" name="text-271">
            <a:extLst xmlns:a="http://schemas.openxmlformats.org/drawingml/2006/main">
              <a:ext uri="{FF2B5EF4-FFF2-40B4-BE49-F238E27FC236}">
                <a16:creationId xmlns:a16="http://schemas.microsoft.com/office/drawing/2014/main" id="{8F18D5F5-917D-4705-968E-824C6EA3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ÁNGULO DE ENTRADA</a:t>
            </a:r>
          </a:p>
        </p:txBody>
      </p:sp>
      <p:sp>
        <p:nvSpPr>
          <p:cNvPr id="7" name="text-272">
            <a:extLst xmlns:a="http://schemas.openxmlformats.org/drawingml/2006/main">
              <a:ext uri="{FF2B5EF4-FFF2-40B4-BE49-F238E27FC236}">
                <a16:creationId xmlns:a16="http://schemas.microsoft.com/office/drawing/2014/main" id="{94D74DF1-5AFD-4B58-9674-2385C5D3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Mutuo acuerdo, contencioso y modificación de medidas necesitan mensajes y economía propios.</a:t>
            </a:r>
          </a:p>
        </p:txBody>
      </p:sp>
      <p:sp>
        <p:nvSpPr>
          <p:cNvPr id="8" name="text-273">
            <a:extLst xmlns:a="http://schemas.openxmlformats.org/drawingml/2006/main">
              <a:ext uri="{FF2B5EF4-FFF2-40B4-BE49-F238E27FC236}">
                <a16:creationId xmlns:a16="http://schemas.microsoft.com/office/drawing/2014/main" id="{0D1657A6-73A8-4CA5-A3DF-D5CD3D50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AVANZAR</a:t>
            </a:r>
          </a:p>
        </p:txBody>
      </p:sp>
      <p:sp>
        <p:nvSpPr>
          <p:cNvPr id="9" name="text-274">
            <a:extLst xmlns:a="http://schemas.openxmlformats.org/drawingml/2006/main">
              <a:ext uri="{FF2B5EF4-FFF2-40B4-BE49-F238E27FC236}">
                <a16:creationId xmlns:a16="http://schemas.microsoft.com/office/drawing/2014/main" id="{2593669A-8E1A-4594-BC6B-CD133A02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usar miedo, menores ni promesas sobre custodia o sentencia.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2363a724144a4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19100"/>
            <a:ext cx="54864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rect-276">
            <a:extLst xmlns:a="http://schemas.openxmlformats.org/drawingml/2006/main">
              <a:ext uri="{FF2B5EF4-FFF2-40B4-BE49-F238E27FC236}">
                <a16:creationId xmlns:a16="http://schemas.microsoft.com/office/drawing/2014/main" id="{1DCA11FC-D5BF-497C-B5FE-F139754E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77">
            <a:extLst xmlns:a="http://schemas.openxmlformats.org/drawingml/2006/main">
              <a:ext uri="{FF2B5EF4-FFF2-40B4-BE49-F238E27FC236}">
                <a16:creationId xmlns:a16="http://schemas.microsoft.com/office/drawing/2014/main" id="{1E8B665F-25BD-43DB-B61B-158416BE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PREGUNTAS QUE ABREN EL DISCOVERY</a:t>
            </a:r>
          </a:p>
        </p:txBody>
      </p:sp>
      <p:sp>
        <p:nvSpPr>
          <p:cNvPr id="13" name="rect-278">
            <a:extLst xmlns:a="http://schemas.openxmlformats.org/drawingml/2006/main">
              <a:ext uri="{FF2B5EF4-FFF2-40B4-BE49-F238E27FC236}">
                <a16:creationId xmlns:a16="http://schemas.microsoft.com/office/drawing/2014/main" id="{E4E27F9B-747D-4143-A088-6CEE1805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79">
            <a:extLst xmlns:a="http://schemas.openxmlformats.org/drawingml/2006/main">
              <a:ext uri="{FF2B5EF4-FFF2-40B4-BE49-F238E27FC236}">
                <a16:creationId xmlns:a16="http://schemas.microsoft.com/office/drawing/2014/main" id="{B357E856-EEEA-46FA-8EE6-6FED63DC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modalidad aporta mejor encaje?</a:t>
            </a:r>
          </a:p>
        </p:txBody>
      </p:sp>
      <p:sp>
        <p:nvSpPr>
          <p:cNvPr id="15" name="rect-280">
            <a:extLst xmlns:a="http://schemas.openxmlformats.org/drawingml/2006/main">
              <a:ext uri="{FF2B5EF4-FFF2-40B4-BE49-F238E27FC236}">
                <a16:creationId xmlns:a16="http://schemas.microsoft.com/office/drawing/2014/main" id="{78D4B0C1-F75D-4D5C-8456-C1C8FEB1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81">
            <a:extLst xmlns:a="http://schemas.openxmlformats.org/drawingml/2006/main">
              <a:ext uri="{FF2B5EF4-FFF2-40B4-BE49-F238E27FC236}">
                <a16:creationId xmlns:a16="http://schemas.microsoft.com/office/drawing/2014/main" id="{19BFF63E-65EE-4FD3-8990-8F7B8290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¿Quién realiza la primera llamada?</a:t>
            </a:r>
          </a:p>
        </p:txBody>
      </p:sp>
      <p:sp>
        <p:nvSpPr>
          <p:cNvPr id="17" name="rect-282">
            <a:extLst xmlns:a="http://schemas.openxmlformats.org/drawingml/2006/main">
              <a:ext uri="{FF2B5EF4-FFF2-40B4-BE49-F238E27FC236}">
                <a16:creationId xmlns:a16="http://schemas.microsoft.com/office/drawing/2014/main" id="{7D941C20-709B-4CD5-9635-2504A364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387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83">
            <a:extLst xmlns:a="http://schemas.openxmlformats.org/drawingml/2006/main">
              <a:ext uri="{FF2B5EF4-FFF2-40B4-BE49-F238E27FC236}">
                <a16:creationId xmlns:a16="http://schemas.microsoft.com/office/drawing/2014/main" id="{619178CE-5C83-4435-BD9F-47ED10F2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¿Cómo se registra consulta y asunto aceptado?</a:t>
            </a:r>
          </a:p>
        </p:txBody>
      </p:sp>
    </p:spTree>
    <p:extLst>
      <p:ext uri="{BB962C8B-B14F-4D97-AF65-F5344CB8AC3E}">
        <p14:creationId xmlns:p14="http://schemas.microsoft.com/office/powerpoint/2010/main" val="8714724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284">
            <a:extLst xmlns:a="http://schemas.openxmlformats.org/drawingml/2006/main">
              <a:ext uri="{FF2B5EF4-FFF2-40B4-BE49-F238E27FC236}">
                <a16:creationId xmlns:a16="http://schemas.microsoft.com/office/drawing/2014/main" id="{1B9C80D8-D20F-4BE4-872E-F98E90B9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 · BATTLECARD</a:t>
            </a:r>
          </a:p>
        </p:txBody>
      </p:sp>
      <p:sp>
        <p:nvSpPr>
          <p:cNvPr id="2" name="text-285">
            <a:extLst xmlns:a="http://schemas.openxmlformats.org/drawingml/2006/main">
              <a:ext uri="{FF2B5EF4-FFF2-40B4-BE49-F238E27FC236}">
                <a16:creationId xmlns:a16="http://schemas.microsoft.com/office/drawing/2014/main" id="{FC2366F3-B36E-4F0E-9203-83B154F8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286">
            <a:extLst xmlns:a="http://schemas.openxmlformats.org/drawingml/2006/main">
              <a:ext uri="{FF2B5EF4-FFF2-40B4-BE49-F238E27FC236}">
                <a16:creationId xmlns:a16="http://schemas.microsoft.com/office/drawing/2014/main" id="{BA7F28EE-8A43-45CF-A61F-2C40668C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Pérgolas y cerramientos</a:t>
            </a:r>
          </a:p>
        </p:txBody>
      </p:sp>
      <p:sp>
        <p:nvSpPr>
          <p:cNvPr id="4" name="text-287">
            <a:extLst xmlns:a="http://schemas.openxmlformats.org/drawingml/2006/main">
              <a:ext uri="{FF2B5EF4-FFF2-40B4-BE49-F238E27FC236}">
                <a16:creationId xmlns:a16="http://schemas.microsoft.com/office/drawing/2014/main" id="{8B3D3394-761E-4247-88EE-AEEEBFE9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PROSPECTO</a:t>
            </a:r>
          </a:p>
        </p:txBody>
      </p:sp>
      <p:sp>
        <p:nvSpPr>
          <p:cNvPr id="5" name="text-288">
            <a:extLst xmlns:a="http://schemas.openxmlformats.org/drawingml/2006/main">
              <a:ext uri="{FF2B5EF4-FFF2-40B4-BE49-F238E27FC236}">
                <a16:creationId xmlns:a16="http://schemas.microsoft.com/office/drawing/2014/main" id="{39AB577B-1D46-4747-950C-F958E8E3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Instaladores con ticket premium, visita técnica y portfolio real.</a:t>
            </a:r>
          </a:p>
        </p:txBody>
      </p:sp>
      <p:sp>
        <p:nvSpPr>
          <p:cNvPr id="6" name="text-289">
            <a:extLst xmlns:a="http://schemas.openxmlformats.org/drawingml/2006/main">
              <a:ext uri="{FF2B5EF4-FFF2-40B4-BE49-F238E27FC236}">
                <a16:creationId xmlns:a16="http://schemas.microsoft.com/office/drawing/2014/main" id="{29383F91-824E-4E9B-ADCE-43498837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ÁNGULO DE ENTRADA</a:t>
            </a:r>
          </a:p>
        </p:txBody>
      </p:sp>
      <p:sp>
        <p:nvSpPr>
          <p:cNvPr id="7" name="text-290">
            <a:extLst xmlns:a="http://schemas.openxmlformats.org/drawingml/2006/main">
              <a:ext uri="{FF2B5EF4-FFF2-40B4-BE49-F238E27FC236}">
                <a16:creationId xmlns:a16="http://schemas.microsoft.com/office/drawing/2014/main" id="{D0E7B120-DA7C-45DC-8B38-6A1B3153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Llenar visitas de proyectos compatibles con producto, zona y capacidad de instalación.</a:t>
            </a:r>
          </a:p>
        </p:txBody>
      </p:sp>
      <p:sp>
        <p:nvSpPr>
          <p:cNvPr id="8" name="text-291">
            <a:extLst xmlns:a="http://schemas.openxmlformats.org/drawingml/2006/main">
              <a:ext uri="{FF2B5EF4-FFF2-40B4-BE49-F238E27FC236}">
                <a16:creationId xmlns:a16="http://schemas.microsoft.com/office/drawing/2014/main" id="{8994B696-DFE8-478D-8152-D6D8EF0B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AVANZAR</a:t>
            </a:r>
          </a:p>
        </p:txBody>
      </p:sp>
      <p:sp>
        <p:nvSpPr>
          <p:cNvPr id="9" name="text-292">
            <a:extLst xmlns:a="http://schemas.openxmlformats.org/drawingml/2006/main">
              <a:ext uri="{FF2B5EF4-FFF2-40B4-BE49-F238E27FC236}">
                <a16:creationId xmlns:a16="http://schemas.microsoft.com/office/drawing/2014/main" id="{B3BD6E21-B2A9-47B4-A289-AFFA82BB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vender si buscan volumen de recambios o no presupuestan con rapidez.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e414251bf4046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19100"/>
            <a:ext cx="54864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rect-294">
            <a:extLst xmlns:a="http://schemas.openxmlformats.org/drawingml/2006/main">
              <a:ext uri="{FF2B5EF4-FFF2-40B4-BE49-F238E27FC236}">
                <a16:creationId xmlns:a16="http://schemas.microsoft.com/office/drawing/2014/main" id="{C1A35316-ABEC-4EF3-841A-BACCF891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95">
            <a:extLst xmlns:a="http://schemas.openxmlformats.org/drawingml/2006/main">
              <a:ext uri="{FF2B5EF4-FFF2-40B4-BE49-F238E27FC236}">
                <a16:creationId xmlns:a16="http://schemas.microsoft.com/office/drawing/2014/main" id="{2264AFA8-71E2-41C5-8D4F-9B917C26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PREGUNTAS QUE ABREN EL DISCOVERY</a:t>
            </a:r>
          </a:p>
        </p:txBody>
      </p:sp>
      <p:sp>
        <p:nvSpPr>
          <p:cNvPr id="13" name="rect-296">
            <a:extLst xmlns:a="http://schemas.openxmlformats.org/drawingml/2006/main">
              <a:ext uri="{FF2B5EF4-FFF2-40B4-BE49-F238E27FC236}">
                <a16:creationId xmlns:a16="http://schemas.microsoft.com/office/drawing/2014/main" id="{FF5FEB89-4640-4DB3-9AEC-05BC78F9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97">
            <a:extLst xmlns:a="http://schemas.openxmlformats.org/drawingml/2006/main">
              <a:ext uri="{FF2B5EF4-FFF2-40B4-BE49-F238E27FC236}">
                <a16:creationId xmlns:a16="http://schemas.microsoft.com/office/drawing/2014/main" id="{8962D51C-DFBC-4F1A-91F5-FCE8F011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¿Cuál es el ticket mínimo rentable?</a:t>
            </a:r>
          </a:p>
        </p:txBody>
      </p:sp>
      <p:sp>
        <p:nvSpPr>
          <p:cNvPr id="15" name="rect-298">
            <a:extLst xmlns:a="http://schemas.openxmlformats.org/drawingml/2006/main">
              <a:ext uri="{FF2B5EF4-FFF2-40B4-BE49-F238E27FC236}">
                <a16:creationId xmlns:a16="http://schemas.microsoft.com/office/drawing/2014/main" id="{C0EF0079-9C08-4619-A7D8-29F6AC26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99">
            <a:extLst xmlns:a="http://schemas.openxmlformats.org/drawingml/2006/main">
              <a:ext uri="{FF2B5EF4-FFF2-40B4-BE49-F238E27FC236}">
                <a16:creationId xmlns:a16="http://schemas.microsoft.com/office/drawing/2014/main" id="{B6C57D51-5000-43FA-ADB3-17B60A8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¿Cuántas visitas podéis atender?</a:t>
            </a:r>
          </a:p>
        </p:txBody>
      </p:sp>
      <p:sp>
        <p:nvSpPr>
          <p:cNvPr id="17" name="rect-300">
            <a:extLst xmlns:a="http://schemas.openxmlformats.org/drawingml/2006/main">
              <a:ext uri="{FF2B5EF4-FFF2-40B4-BE49-F238E27FC236}">
                <a16:creationId xmlns:a16="http://schemas.microsoft.com/office/drawing/2014/main" id="{436074FE-4214-4EFF-9726-6613E31B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387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01">
            <a:extLst xmlns:a="http://schemas.openxmlformats.org/drawingml/2006/main">
              <a:ext uri="{FF2B5EF4-FFF2-40B4-BE49-F238E27FC236}">
                <a16:creationId xmlns:a16="http://schemas.microsoft.com/office/drawing/2014/main" id="{813C9C7C-B2EF-40AF-950A-CBDB73A0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¿Tenéis obras propias autorizadas?</a:t>
            </a:r>
          </a:p>
        </p:txBody>
      </p:sp>
    </p:spTree>
    <p:extLst>
      <p:ext uri="{BB962C8B-B14F-4D97-AF65-F5344CB8AC3E}">
        <p14:creationId xmlns:p14="http://schemas.microsoft.com/office/powerpoint/2010/main" val="950394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302">
            <a:extLst xmlns:a="http://schemas.openxmlformats.org/drawingml/2006/main">
              <a:ext uri="{FF2B5EF4-FFF2-40B4-BE49-F238E27FC236}">
                <a16:creationId xmlns:a16="http://schemas.microsoft.com/office/drawing/2014/main" id="{D48B53B4-A3AA-4F1E-BCBF-083882D0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 · BATTLECARD</a:t>
            </a:r>
          </a:p>
        </p:txBody>
      </p:sp>
      <p:sp>
        <p:nvSpPr>
          <p:cNvPr id="2" name="text-303">
            <a:extLst xmlns:a="http://schemas.openxmlformats.org/drawingml/2006/main">
              <a:ext uri="{FF2B5EF4-FFF2-40B4-BE49-F238E27FC236}">
                <a16:creationId xmlns:a16="http://schemas.microsoft.com/office/drawing/2014/main" id="{DE85E16B-D984-41B0-B6F8-A924447F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ext-304">
            <a:extLst xmlns:a="http://schemas.openxmlformats.org/drawingml/2006/main">
              <a:ext uri="{FF2B5EF4-FFF2-40B4-BE49-F238E27FC236}">
                <a16:creationId xmlns:a16="http://schemas.microsoft.com/office/drawing/2014/main" id="{F06AE03F-AC54-484D-A1EE-894FF5A9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Compra de coches problemáticos</a:t>
            </a:r>
          </a:p>
        </p:txBody>
      </p:sp>
      <p:sp>
        <p:nvSpPr>
          <p:cNvPr id="4" name="text-305">
            <a:extLst xmlns:a="http://schemas.openxmlformats.org/drawingml/2006/main">
              <a:ext uri="{FF2B5EF4-FFF2-40B4-BE49-F238E27FC236}">
                <a16:creationId xmlns:a16="http://schemas.microsoft.com/office/drawing/2014/main" id="{DEE5770E-3E5B-4D06-9221-FC08FA1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PROSPECTO</a:t>
            </a:r>
          </a:p>
        </p:txBody>
      </p:sp>
      <p:sp>
        <p:nvSpPr>
          <p:cNvPr id="5" name="text-306">
            <a:extLst xmlns:a="http://schemas.openxmlformats.org/drawingml/2006/main">
              <a:ext uri="{FF2B5EF4-FFF2-40B4-BE49-F238E27FC236}">
                <a16:creationId xmlns:a16="http://schemas.microsoft.com/office/drawing/2014/main" id="{EF06C07C-C33F-42B6-8102-A0E74E84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Compradores con liquidez, logística y tasación rápida.</a:t>
            </a:r>
          </a:p>
        </p:txBody>
      </p:sp>
      <p:sp>
        <p:nvSpPr>
          <p:cNvPr id="6" name="text-307">
            <a:extLst xmlns:a="http://schemas.openxmlformats.org/drawingml/2006/main">
              <a:ext uri="{FF2B5EF4-FFF2-40B4-BE49-F238E27FC236}">
                <a16:creationId xmlns:a16="http://schemas.microsoft.com/office/drawing/2014/main" id="{E4772971-BB3A-4425-9B57-4EB8FE13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ÁNGULO DE ENTRADA</a:t>
            </a:r>
          </a:p>
        </p:txBody>
      </p:sp>
      <p:sp>
        <p:nvSpPr>
          <p:cNvPr id="7" name="text-308">
            <a:extLst xmlns:a="http://schemas.openxmlformats.org/drawingml/2006/main">
              <a:ext uri="{FF2B5EF4-FFF2-40B4-BE49-F238E27FC236}">
                <a16:creationId xmlns:a16="http://schemas.microsoft.com/office/drawing/2014/main" id="{FC427569-DDC3-45CE-9A2E-3F957780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Silos por reserva, embargo, financiado, avería o siniestro; decisión por margen, no por formulario.</a:t>
            </a:r>
          </a:p>
        </p:txBody>
      </p:sp>
      <p:sp>
        <p:nvSpPr>
          <p:cNvPr id="8" name="text-309">
            <a:extLst xmlns:a="http://schemas.openxmlformats.org/drawingml/2006/main">
              <a:ext uri="{FF2B5EF4-FFF2-40B4-BE49-F238E27FC236}">
                <a16:creationId xmlns:a16="http://schemas.microsoft.com/office/drawing/2014/main" id="{F9BCCE55-61BB-4E63-9166-6319FA7E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AVANZAR</a:t>
            </a:r>
          </a:p>
        </p:txBody>
      </p:sp>
      <p:sp>
        <p:nvSpPr>
          <p:cNvPr id="9" name="text-310">
            <a:extLst xmlns:a="http://schemas.openxmlformats.org/drawingml/2006/main">
              <a:ext uri="{FF2B5EF4-FFF2-40B4-BE49-F238E27FC236}">
                <a16:creationId xmlns:a16="http://schemas.microsoft.com/office/drawing/2014/main" id="{BEA93E47-590B-4198-88B3-CEDA62AA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vender sin criterios de compra, caja o proceso documental.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0b3beba4e4ea2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19100"/>
            <a:ext cx="54864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rect-312">
            <a:extLst xmlns:a="http://schemas.openxmlformats.org/drawingml/2006/main">
              <a:ext uri="{FF2B5EF4-FFF2-40B4-BE49-F238E27FC236}">
                <a16:creationId xmlns:a16="http://schemas.microsoft.com/office/drawing/2014/main" id="{6B505E50-C4F1-4DEF-8606-35C60D77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13">
            <a:extLst xmlns:a="http://schemas.openxmlformats.org/drawingml/2006/main">
              <a:ext uri="{FF2B5EF4-FFF2-40B4-BE49-F238E27FC236}">
                <a16:creationId xmlns:a16="http://schemas.microsoft.com/office/drawing/2014/main" id="{D666862A-A12F-4D18-ADA9-21FCF4C0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PREGUNTAS QUE ABREN EL DISCOVERY</a:t>
            </a:r>
          </a:p>
        </p:txBody>
      </p:sp>
      <p:sp>
        <p:nvSpPr>
          <p:cNvPr id="13" name="rect-314">
            <a:extLst xmlns:a="http://schemas.openxmlformats.org/drawingml/2006/main">
              <a:ext uri="{FF2B5EF4-FFF2-40B4-BE49-F238E27FC236}">
                <a16:creationId xmlns:a16="http://schemas.microsoft.com/office/drawing/2014/main" id="{053A2F00-D80B-4A9B-8530-4F81C764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15">
            <a:extLst xmlns:a="http://schemas.openxmlformats.org/drawingml/2006/main">
              <a:ext uri="{FF2B5EF4-FFF2-40B4-BE49-F238E27FC236}">
                <a16:creationId xmlns:a16="http://schemas.microsoft.com/office/drawing/2014/main" id="{F3253B15-B744-498F-84D9-7B7834A6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vehículos compráis esta semana?</a:t>
            </a:r>
          </a:p>
        </p:txBody>
      </p:sp>
      <p:sp>
        <p:nvSpPr>
          <p:cNvPr id="15" name="rect-316">
            <a:extLst xmlns:a="http://schemas.openxmlformats.org/drawingml/2006/main">
              <a:ext uri="{FF2B5EF4-FFF2-40B4-BE49-F238E27FC236}">
                <a16:creationId xmlns:a16="http://schemas.microsoft.com/office/drawing/2014/main" id="{1FE18468-8511-44B6-826D-F0A863D6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17">
            <a:extLst xmlns:a="http://schemas.openxmlformats.org/drawingml/2006/main">
              <a:ext uri="{FF2B5EF4-FFF2-40B4-BE49-F238E27FC236}">
                <a16:creationId xmlns:a16="http://schemas.microsoft.com/office/drawing/2014/main" id="{BC7C2B7A-2535-4C60-8933-6F16AE2F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¿En cuánto tiempo emitís una oferta?</a:t>
            </a:r>
          </a:p>
        </p:txBody>
      </p:sp>
      <p:sp>
        <p:nvSpPr>
          <p:cNvPr id="17" name="rect-318">
            <a:extLst xmlns:a="http://schemas.openxmlformats.org/drawingml/2006/main">
              <a:ext uri="{FF2B5EF4-FFF2-40B4-BE49-F238E27FC236}">
                <a16:creationId xmlns:a16="http://schemas.microsoft.com/office/drawing/2014/main" id="{0681589F-4785-4866-98E7-ED83D407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387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19">
            <a:extLst xmlns:a="http://schemas.openxmlformats.org/drawingml/2006/main">
              <a:ext uri="{FF2B5EF4-FFF2-40B4-BE49-F238E27FC236}">
                <a16:creationId xmlns:a16="http://schemas.microsoft.com/office/drawing/2014/main" id="{BB33E6AD-69CC-4336-AB90-09CFB625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¿Podéis devolver compra y margen?</a:t>
            </a:r>
          </a:p>
        </p:txBody>
      </p:sp>
    </p:spTree>
    <p:extLst>
      <p:ext uri="{BB962C8B-B14F-4D97-AF65-F5344CB8AC3E}">
        <p14:creationId xmlns:p14="http://schemas.microsoft.com/office/powerpoint/2010/main" val="9695416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320">
            <a:extLst xmlns:a="http://schemas.openxmlformats.org/drawingml/2006/main">
              <a:ext uri="{FF2B5EF4-FFF2-40B4-BE49-F238E27FC236}">
                <a16:creationId xmlns:a16="http://schemas.microsoft.com/office/drawing/2014/main" id="{CF0397FF-40F3-4615-9FF8-CF403018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 · BATTLECARD</a:t>
            </a:r>
          </a:p>
        </p:txBody>
      </p:sp>
      <p:sp>
        <p:nvSpPr>
          <p:cNvPr id="2" name="text-321">
            <a:extLst xmlns:a="http://schemas.openxmlformats.org/drawingml/2006/main">
              <a:ext uri="{FF2B5EF4-FFF2-40B4-BE49-F238E27FC236}">
                <a16:creationId xmlns:a16="http://schemas.microsoft.com/office/drawing/2014/main" id="{0478109A-5A1F-404E-9797-E282EA9B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ext-322">
            <a:extLst xmlns:a="http://schemas.openxmlformats.org/drawingml/2006/main">
              <a:ext uri="{FF2B5EF4-FFF2-40B4-BE49-F238E27FC236}">
                <a16:creationId xmlns:a16="http://schemas.microsoft.com/office/drawing/2014/main" id="{F24268F9-3659-455F-B529-A7575B04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Estética y capilar</a:t>
            </a:r>
          </a:p>
        </p:txBody>
      </p:sp>
      <p:sp>
        <p:nvSpPr>
          <p:cNvPr id="4" name="text-323">
            <a:extLst xmlns:a="http://schemas.openxmlformats.org/drawingml/2006/main">
              <a:ext uri="{FF2B5EF4-FFF2-40B4-BE49-F238E27FC236}">
                <a16:creationId xmlns:a16="http://schemas.microsoft.com/office/drawing/2014/main" id="{B739AFA6-7D44-4E7F-BB8C-2F39F9A1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PROSPECTO</a:t>
            </a:r>
          </a:p>
        </p:txBody>
      </p:sp>
      <p:sp>
        <p:nvSpPr>
          <p:cNvPr id="5" name="text-324">
            <a:extLst xmlns:a="http://schemas.openxmlformats.org/drawingml/2006/main">
              <a:ext uri="{FF2B5EF4-FFF2-40B4-BE49-F238E27FC236}">
                <a16:creationId xmlns:a16="http://schemas.microsoft.com/office/drawing/2014/main" id="{2350EAF5-14B6-4D6C-9D89-DB4AB0B6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Clínicas con tratamiento prioritario y coordinación comercial.</a:t>
            </a:r>
          </a:p>
        </p:txBody>
      </p:sp>
      <p:sp>
        <p:nvSpPr>
          <p:cNvPr id="6" name="text-325">
            <a:extLst xmlns:a="http://schemas.openxmlformats.org/drawingml/2006/main">
              <a:ext uri="{FF2B5EF4-FFF2-40B4-BE49-F238E27FC236}">
                <a16:creationId xmlns:a16="http://schemas.microsoft.com/office/drawing/2014/main" id="{15946000-2B1B-4E64-AAE0-E7F0F15C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ÁNGULO DE ENTRADA</a:t>
            </a:r>
          </a:p>
        </p:txBody>
      </p:sp>
      <p:sp>
        <p:nvSpPr>
          <p:cNvPr id="7" name="text-326">
            <a:extLst xmlns:a="http://schemas.openxmlformats.org/drawingml/2006/main">
              <a:ext uri="{FF2B5EF4-FFF2-40B4-BE49-F238E27FC236}">
                <a16:creationId xmlns:a16="http://schemas.microsoft.com/office/drawing/2014/main" id="{A471D92F-10BD-4107-AD11-195EF0D3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Campaña monoproducto optimizada a valoración asistida y tratamiento vendido.</a:t>
            </a:r>
          </a:p>
        </p:txBody>
      </p:sp>
      <p:sp>
        <p:nvSpPr>
          <p:cNvPr id="8" name="text-327">
            <a:extLst xmlns:a="http://schemas.openxmlformats.org/drawingml/2006/main">
              <a:ext uri="{FF2B5EF4-FFF2-40B4-BE49-F238E27FC236}">
                <a16:creationId xmlns:a16="http://schemas.microsoft.com/office/drawing/2014/main" id="{A3B09176-5344-4FD5-814B-984ED03F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AVANZAR</a:t>
            </a:r>
          </a:p>
        </p:txBody>
      </p:sp>
      <p:sp>
        <p:nvSpPr>
          <p:cNvPr id="9" name="text-328">
            <a:extLst xmlns:a="http://schemas.openxmlformats.org/drawingml/2006/main">
              <a:ext uri="{FF2B5EF4-FFF2-40B4-BE49-F238E27FC236}">
                <a16:creationId xmlns:a16="http://schemas.microsoft.com/office/drawing/2014/main" id="{14FDDB38-8A83-4F85-9C50-68C8903F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vender sin revisión de claims, agenda o seguimiento comercial.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272f425654686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19100"/>
            <a:ext cx="54864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rect-330">
            <a:extLst xmlns:a="http://schemas.openxmlformats.org/drawingml/2006/main">
              <a:ext uri="{FF2B5EF4-FFF2-40B4-BE49-F238E27FC236}">
                <a16:creationId xmlns:a16="http://schemas.microsoft.com/office/drawing/2014/main" id="{49F47F89-6B2F-4AA5-9DDF-3F5B9A38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31">
            <a:extLst xmlns:a="http://schemas.openxmlformats.org/drawingml/2006/main">
              <a:ext uri="{FF2B5EF4-FFF2-40B4-BE49-F238E27FC236}">
                <a16:creationId xmlns:a16="http://schemas.microsoft.com/office/drawing/2014/main" id="{6A833850-EF68-4F27-AB91-D1AE1210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PREGUNTAS QUE ABREN EL DISCOVERY</a:t>
            </a:r>
          </a:p>
        </p:txBody>
      </p:sp>
      <p:sp>
        <p:nvSpPr>
          <p:cNvPr id="13" name="rect-332">
            <a:extLst xmlns:a="http://schemas.openxmlformats.org/drawingml/2006/main">
              <a:ext uri="{FF2B5EF4-FFF2-40B4-BE49-F238E27FC236}">
                <a16:creationId xmlns:a16="http://schemas.microsoft.com/office/drawing/2014/main" id="{3611C47C-4BC1-4A11-B051-278EAF3D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33">
            <a:extLst xmlns:a="http://schemas.openxmlformats.org/drawingml/2006/main">
              <a:ext uri="{FF2B5EF4-FFF2-40B4-BE49-F238E27FC236}">
                <a16:creationId xmlns:a16="http://schemas.microsoft.com/office/drawing/2014/main" id="{B8D004B1-82AE-4841-9A13-BC5571C3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tratamiento queréis llenar?</a:t>
            </a:r>
          </a:p>
        </p:txBody>
      </p:sp>
      <p:sp>
        <p:nvSpPr>
          <p:cNvPr id="15" name="rect-334">
            <a:extLst xmlns:a="http://schemas.openxmlformats.org/drawingml/2006/main">
              <a:ext uri="{FF2B5EF4-FFF2-40B4-BE49-F238E27FC236}">
                <a16:creationId xmlns:a16="http://schemas.microsoft.com/office/drawing/2014/main" id="{2B5F0804-BA5F-40D5-87DB-EB3E5707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35">
            <a:extLst xmlns:a="http://schemas.openxmlformats.org/drawingml/2006/main">
              <a:ext uri="{FF2B5EF4-FFF2-40B4-BE49-F238E27FC236}">
                <a16:creationId xmlns:a16="http://schemas.microsoft.com/office/drawing/2014/main" id="{C5355A3A-FE95-4FFB-B927-B0F79388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¿Quién confirma y recupera no-shows?</a:t>
            </a:r>
          </a:p>
        </p:txBody>
      </p:sp>
      <p:sp>
        <p:nvSpPr>
          <p:cNvPr id="17" name="rect-336">
            <a:extLst xmlns:a="http://schemas.openxmlformats.org/drawingml/2006/main">
              <a:ext uri="{FF2B5EF4-FFF2-40B4-BE49-F238E27FC236}">
                <a16:creationId xmlns:a16="http://schemas.microsoft.com/office/drawing/2014/main" id="{6233D051-CF03-4798-B593-8133A929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387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37">
            <a:extLst xmlns:a="http://schemas.openxmlformats.org/drawingml/2006/main">
              <a:ext uri="{FF2B5EF4-FFF2-40B4-BE49-F238E27FC236}">
                <a16:creationId xmlns:a16="http://schemas.microsoft.com/office/drawing/2014/main" id="{75AB66F7-2172-43D0-9AC1-5F624DD2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¿Se registra la venta por origen?</a:t>
            </a:r>
          </a:p>
        </p:txBody>
      </p:sp>
    </p:spTree>
    <p:extLst>
      <p:ext uri="{BB962C8B-B14F-4D97-AF65-F5344CB8AC3E}">
        <p14:creationId xmlns:p14="http://schemas.microsoft.com/office/powerpoint/2010/main" val="6935478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338">
            <a:extLst xmlns:a="http://schemas.openxmlformats.org/drawingml/2006/main">
              <a:ext uri="{FF2B5EF4-FFF2-40B4-BE49-F238E27FC236}">
                <a16:creationId xmlns:a16="http://schemas.microsoft.com/office/drawing/2014/main" id="{16A1E05E-5DCD-413A-B992-7E5778DA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 · BATTLECARD</a:t>
            </a:r>
          </a:p>
        </p:txBody>
      </p:sp>
      <p:sp>
        <p:nvSpPr>
          <p:cNvPr id="2" name="text-339">
            <a:extLst xmlns:a="http://schemas.openxmlformats.org/drawingml/2006/main">
              <a:ext uri="{FF2B5EF4-FFF2-40B4-BE49-F238E27FC236}">
                <a16:creationId xmlns:a16="http://schemas.microsoft.com/office/drawing/2014/main" id="{A475DDD7-7527-4B27-BD36-D96BCFD5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text-340">
            <a:extLst xmlns:a="http://schemas.openxmlformats.org/drawingml/2006/main">
              <a:ext uri="{FF2B5EF4-FFF2-40B4-BE49-F238E27FC236}">
                <a16:creationId xmlns:a16="http://schemas.microsoft.com/office/drawing/2014/main" id="{C8333200-0984-4840-9CEE-E6AD5C26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Climatización y aerotermia</a:t>
            </a:r>
          </a:p>
        </p:txBody>
      </p:sp>
      <p:sp>
        <p:nvSpPr>
          <p:cNvPr id="4" name="text-341">
            <a:extLst xmlns:a="http://schemas.openxmlformats.org/drawingml/2006/main">
              <a:ext uri="{FF2B5EF4-FFF2-40B4-BE49-F238E27FC236}">
                <a16:creationId xmlns:a16="http://schemas.microsoft.com/office/drawing/2014/main" id="{082C8B75-EEF6-46E9-9B8E-148D62D2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PROSPECTO</a:t>
            </a:r>
          </a:p>
        </p:txBody>
      </p:sp>
      <p:sp>
        <p:nvSpPr>
          <p:cNvPr id="5" name="text-342">
            <a:extLst xmlns:a="http://schemas.openxmlformats.org/drawingml/2006/main">
              <a:ext uri="{FF2B5EF4-FFF2-40B4-BE49-F238E27FC236}">
                <a16:creationId xmlns:a16="http://schemas.microsoft.com/office/drawing/2014/main" id="{4A8D7D7F-289D-4897-B111-D85E3FBA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Instaladores con zonas, horarios y técnicos controlados.</a:t>
            </a:r>
          </a:p>
        </p:txBody>
      </p:sp>
      <p:sp>
        <p:nvSpPr>
          <p:cNvPr id="6" name="text-343">
            <a:extLst xmlns:a="http://schemas.openxmlformats.org/drawingml/2006/main">
              <a:ext uri="{FF2B5EF4-FFF2-40B4-BE49-F238E27FC236}">
                <a16:creationId xmlns:a16="http://schemas.microsoft.com/office/drawing/2014/main" id="{58B7B419-875A-4A78-91A3-739E6A65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ÁNGULO DE ENTRADA</a:t>
            </a:r>
          </a:p>
        </p:txBody>
      </p:sp>
      <p:sp>
        <p:nvSpPr>
          <p:cNvPr id="7" name="text-344">
            <a:extLst xmlns:a="http://schemas.openxmlformats.org/drawingml/2006/main">
              <a:ext uri="{FF2B5EF4-FFF2-40B4-BE49-F238E27FC236}">
                <a16:creationId xmlns:a16="http://schemas.microsoft.com/office/drawing/2014/main" id="{0196510B-64AB-4745-B86F-4A3E1AA5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Campañas sincronizadas con capacidad y separadas por instalación, reparación y aerotermia.</a:t>
            </a:r>
          </a:p>
        </p:txBody>
      </p:sp>
      <p:sp>
        <p:nvSpPr>
          <p:cNvPr id="8" name="text-345">
            <a:extLst xmlns:a="http://schemas.openxmlformats.org/drawingml/2006/main">
              <a:ext uri="{FF2B5EF4-FFF2-40B4-BE49-F238E27FC236}">
                <a16:creationId xmlns:a16="http://schemas.microsoft.com/office/drawing/2014/main" id="{D84F72DD-DEF9-4D3B-9DC0-D1ED496F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AVANZAR</a:t>
            </a:r>
          </a:p>
        </p:txBody>
      </p:sp>
      <p:sp>
        <p:nvSpPr>
          <p:cNvPr id="9" name="text-346">
            <a:extLst xmlns:a="http://schemas.openxmlformats.org/drawingml/2006/main">
              <a:ext uri="{FF2B5EF4-FFF2-40B4-BE49-F238E27FC236}">
                <a16:creationId xmlns:a16="http://schemas.microsoft.com/office/drawing/2014/main" id="{1183D992-41AE-4D8A-A70C-E9186264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vender urgencias si no pueden atenderlas ni prometer ahorro sin cálculo.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e9c2357e54324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19100"/>
            <a:ext cx="54864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rect-348">
            <a:extLst xmlns:a="http://schemas.openxmlformats.org/drawingml/2006/main">
              <a:ext uri="{FF2B5EF4-FFF2-40B4-BE49-F238E27FC236}">
                <a16:creationId xmlns:a16="http://schemas.microsoft.com/office/drawing/2014/main" id="{CBB57ABF-CAC8-4340-B526-BE2EBF6D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49">
            <a:extLst xmlns:a="http://schemas.openxmlformats.org/drawingml/2006/main">
              <a:ext uri="{FF2B5EF4-FFF2-40B4-BE49-F238E27FC236}">
                <a16:creationId xmlns:a16="http://schemas.microsoft.com/office/drawing/2014/main" id="{A4F7AC8F-3617-4F6B-8B0B-BF77577F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PREGUNTAS QUE ABREN EL DISCOVERY</a:t>
            </a:r>
          </a:p>
        </p:txBody>
      </p:sp>
      <p:sp>
        <p:nvSpPr>
          <p:cNvPr id="13" name="rect-350">
            <a:extLst xmlns:a="http://schemas.openxmlformats.org/drawingml/2006/main">
              <a:ext uri="{FF2B5EF4-FFF2-40B4-BE49-F238E27FC236}">
                <a16:creationId xmlns:a16="http://schemas.microsoft.com/office/drawing/2014/main" id="{4437D983-72F8-493C-A91E-9812C6EC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51">
            <a:extLst xmlns:a="http://schemas.openxmlformats.org/drawingml/2006/main">
              <a:ext uri="{FF2B5EF4-FFF2-40B4-BE49-F238E27FC236}">
                <a16:creationId xmlns:a16="http://schemas.microsoft.com/office/drawing/2014/main" id="{1DA4E04C-BBA3-4CEB-9683-DE235DC0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servicio deja mejor margen?</a:t>
            </a:r>
          </a:p>
        </p:txBody>
      </p:sp>
      <p:sp>
        <p:nvSpPr>
          <p:cNvPr id="15" name="rect-352">
            <a:extLst xmlns:a="http://schemas.openxmlformats.org/drawingml/2006/main">
              <a:ext uri="{FF2B5EF4-FFF2-40B4-BE49-F238E27FC236}">
                <a16:creationId xmlns:a16="http://schemas.microsoft.com/office/drawing/2014/main" id="{F0E7AC77-C1B0-4D7C-B3BD-F37749DF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53">
            <a:extLst xmlns:a="http://schemas.openxmlformats.org/drawingml/2006/main">
              <a:ext uri="{FF2B5EF4-FFF2-40B4-BE49-F238E27FC236}">
                <a16:creationId xmlns:a16="http://schemas.microsoft.com/office/drawing/2014/main" id="{209E2B09-BC9A-47AA-BE4D-A7EE12A2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¿Cuántas llamadas se pierden?</a:t>
            </a:r>
          </a:p>
        </p:txBody>
      </p:sp>
      <p:sp>
        <p:nvSpPr>
          <p:cNvPr id="17" name="rect-354">
            <a:extLst xmlns:a="http://schemas.openxmlformats.org/drawingml/2006/main">
              <a:ext uri="{FF2B5EF4-FFF2-40B4-BE49-F238E27FC236}">
                <a16:creationId xmlns:a16="http://schemas.microsoft.com/office/drawing/2014/main" id="{2937E479-6114-4F52-894E-AA7EB156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387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55">
            <a:extLst xmlns:a="http://schemas.openxmlformats.org/drawingml/2006/main">
              <a:ext uri="{FF2B5EF4-FFF2-40B4-BE49-F238E27FC236}">
                <a16:creationId xmlns:a16="http://schemas.microsoft.com/office/drawing/2014/main" id="{C49CBB9A-38CE-4438-A91E-E045D48C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zonas podéis cubrir hoy?</a:t>
            </a:r>
          </a:p>
        </p:txBody>
      </p:sp>
    </p:spTree>
    <p:extLst>
      <p:ext uri="{BB962C8B-B14F-4D97-AF65-F5344CB8AC3E}">
        <p14:creationId xmlns:p14="http://schemas.microsoft.com/office/powerpoint/2010/main" val="867333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356">
            <a:extLst xmlns:a="http://schemas.openxmlformats.org/drawingml/2006/main">
              <a:ext uri="{FF2B5EF4-FFF2-40B4-BE49-F238E27FC236}">
                <a16:creationId xmlns:a16="http://schemas.microsoft.com/office/drawing/2014/main" id="{10E682E7-4626-42CD-B694-9ADDBA17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 · BATTLECARD</a:t>
            </a:r>
          </a:p>
        </p:txBody>
      </p:sp>
      <p:sp>
        <p:nvSpPr>
          <p:cNvPr id="2" name="text-357">
            <a:extLst xmlns:a="http://schemas.openxmlformats.org/drawingml/2006/main">
              <a:ext uri="{FF2B5EF4-FFF2-40B4-BE49-F238E27FC236}">
                <a16:creationId xmlns:a16="http://schemas.microsoft.com/office/drawing/2014/main" id="{02B899FC-C805-4532-ACA9-794E7EB4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text-358">
            <a:extLst xmlns:a="http://schemas.openxmlformats.org/drawingml/2006/main">
              <a:ext uri="{FF2B5EF4-FFF2-40B4-BE49-F238E27FC236}">
                <a16:creationId xmlns:a16="http://schemas.microsoft.com/office/drawing/2014/main" id="{8FAE40B5-1782-44A0-8FDD-5162D8F1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Reformas de alto valor</a:t>
            </a:r>
          </a:p>
        </p:txBody>
      </p:sp>
      <p:sp>
        <p:nvSpPr>
          <p:cNvPr id="4" name="text-359">
            <a:extLst xmlns:a="http://schemas.openxmlformats.org/drawingml/2006/main">
              <a:ext uri="{FF2B5EF4-FFF2-40B4-BE49-F238E27FC236}">
                <a16:creationId xmlns:a16="http://schemas.microsoft.com/office/drawing/2014/main" id="{A4C9491B-B23C-485C-A5FA-406193E8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PROSPECTO</a:t>
            </a:r>
          </a:p>
        </p:txBody>
      </p:sp>
      <p:sp>
        <p:nvSpPr>
          <p:cNvPr id="5" name="text-360">
            <a:extLst xmlns:a="http://schemas.openxmlformats.org/drawingml/2006/main">
              <a:ext uri="{FF2B5EF4-FFF2-40B4-BE49-F238E27FC236}">
                <a16:creationId xmlns:a16="http://schemas.microsoft.com/office/drawing/2014/main" id="{1849FC95-DB1D-4B36-86A9-49DFA516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Reformistas con portfolio propio y capacidad de presupuestar.</a:t>
            </a:r>
          </a:p>
        </p:txBody>
      </p:sp>
      <p:sp>
        <p:nvSpPr>
          <p:cNvPr id="6" name="text-361">
            <a:extLst xmlns:a="http://schemas.openxmlformats.org/drawingml/2006/main">
              <a:ext uri="{FF2B5EF4-FFF2-40B4-BE49-F238E27FC236}">
                <a16:creationId xmlns:a16="http://schemas.microsoft.com/office/drawing/2014/main" id="{C4FB8C6A-D0E9-4D45-94A3-DDDC9405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ÁNGULO DE ENTRADA</a:t>
            </a:r>
          </a:p>
        </p:txBody>
      </p:sp>
      <p:sp>
        <p:nvSpPr>
          <p:cNvPr id="7" name="text-362">
            <a:extLst xmlns:a="http://schemas.openxmlformats.org/drawingml/2006/main">
              <a:ext uri="{FF2B5EF4-FFF2-40B4-BE49-F238E27FC236}">
                <a16:creationId xmlns:a16="http://schemas.microsoft.com/office/drawing/2014/main" id="{6A453D0E-84D1-4DEA-B384-B6FEB24F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Filtrar proyecto, presupuesto, zona y plazo antes de consumir visitas comerciales.</a:t>
            </a:r>
          </a:p>
        </p:txBody>
      </p:sp>
      <p:sp>
        <p:nvSpPr>
          <p:cNvPr id="8" name="text-363">
            <a:extLst xmlns:a="http://schemas.openxmlformats.org/drawingml/2006/main">
              <a:ext uri="{FF2B5EF4-FFF2-40B4-BE49-F238E27FC236}">
                <a16:creationId xmlns:a16="http://schemas.microsoft.com/office/drawing/2014/main" id="{E9DDF57F-8941-4F58-9170-E8A0D1E8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AVANZAR</a:t>
            </a:r>
          </a:p>
        </p:txBody>
      </p:sp>
      <p:sp>
        <p:nvSpPr>
          <p:cNvPr id="9" name="text-364">
            <a:extLst xmlns:a="http://schemas.openxmlformats.org/drawingml/2006/main">
              <a:ext uri="{FF2B5EF4-FFF2-40B4-BE49-F238E27FC236}">
                <a16:creationId xmlns:a16="http://schemas.microsoft.com/office/drawing/2014/main" id="{8DC4136A-F9C4-4649-8640-7A732EE4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vender si aceptan cualquier trabajo o usan imágenes sin autorización.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87a5577ba44d4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19100"/>
            <a:ext cx="54864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rect-366">
            <a:extLst xmlns:a="http://schemas.openxmlformats.org/drawingml/2006/main">
              <a:ext uri="{FF2B5EF4-FFF2-40B4-BE49-F238E27FC236}">
                <a16:creationId xmlns:a16="http://schemas.microsoft.com/office/drawing/2014/main" id="{4193329D-65B8-4F79-A629-89383B0D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67">
            <a:extLst xmlns:a="http://schemas.openxmlformats.org/drawingml/2006/main">
              <a:ext uri="{FF2B5EF4-FFF2-40B4-BE49-F238E27FC236}">
                <a16:creationId xmlns:a16="http://schemas.microsoft.com/office/drawing/2014/main" id="{EF69EC10-8506-465F-B843-73374CB5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PREGUNTAS QUE ABREN EL DISCOVERY</a:t>
            </a:r>
          </a:p>
        </p:txBody>
      </p:sp>
      <p:sp>
        <p:nvSpPr>
          <p:cNvPr id="13" name="rect-368">
            <a:extLst xmlns:a="http://schemas.openxmlformats.org/drawingml/2006/main">
              <a:ext uri="{FF2B5EF4-FFF2-40B4-BE49-F238E27FC236}">
                <a16:creationId xmlns:a16="http://schemas.microsoft.com/office/drawing/2014/main" id="{9AE8AF7A-C512-4C91-AB1A-058CA9DB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69">
            <a:extLst xmlns:a="http://schemas.openxmlformats.org/drawingml/2006/main">
              <a:ext uri="{FF2B5EF4-FFF2-40B4-BE49-F238E27FC236}">
                <a16:creationId xmlns:a16="http://schemas.microsoft.com/office/drawing/2014/main" id="{7BCF31EF-73A4-4FA7-9B24-65E55D10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obra mínima os interesa?</a:t>
            </a:r>
          </a:p>
        </p:txBody>
      </p:sp>
      <p:sp>
        <p:nvSpPr>
          <p:cNvPr id="15" name="rect-370">
            <a:extLst xmlns:a="http://schemas.openxmlformats.org/drawingml/2006/main">
              <a:ext uri="{FF2B5EF4-FFF2-40B4-BE49-F238E27FC236}">
                <a16:creationId xmlns:a16="http://schemas.microsoft.com/office/drawing/2014/main" id="{D0BCD21A-8E86-44BF-B246-9AE60711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71">
            <a:extLst xmlns:a="http://schemas.openxmlformats.org/drawingml/2006/main">
              <a:ext uri="{FF2B5EF4-FFF2-40B4-BE49-F238E27FC236}">
                <a16:creationId xmlns:a16="http://schemas.microsoft.com/office/drawing/2014/main" id="{E0799961-E16C-4CA6-A2E6-3C68B862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¿Cuánto tardáis en presupuestar?</a:t>
            </a:r>
          </a:p>
        </p:txBody>
      </p:sp>
      <p:sp>
        <p:nvSpPr>
          <p:cNvPr id="17" name="rect-372">
            <a:extLst xmlns:a="http://schemas.openxmlformats.org/drawingml/2006/main">
              <a:ext uri="{FF2B5EF4-FFF2-40B4-BE49-F238E27FC236}">
                <a16:creationId xmlns:a16="http://schemas.microsoft.com/office/drawing/2014/main" id="{13A0110D-1F02-4A08-8A18-67B9E0B9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387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73">
            <a:extLst xmlns:a="http://schemas.openxmlformats.org/drawingml/2006/main">
              <a:ext uri="{FF2B5EF4-FFF2-40B4-BE49-F238E27FC236}">
                <a16:creationId xmlns:a16="http://schemas.microsoft.com/office/drawing/2014/main" id="{2E65273E-545E-4640-9832-277554B8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¿Cómo seguís un presupuesto abierto?</a:t>
            </a:r>
          </a:p>
        </p:txBody>
      </p:sp>
    </p:spTree>
    <p:extLst>
      <p:ext uri="{BB962C8B-B14F-4D97-AF65-F5344CB8AC3E}">
        <p14:creationId xmlns:p14="http://schemas.microsoft.com/office/powerpoint/2010/main" val="508403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374">
            <a:extLst xmlns:a="http://schemas.openxmlformats.org/drawingml/2006/main">
              <a:ext uri="{FF2B5EF4-FFF2-40B4-BE49-F238E27FC236}">
                <a16:creationId xmlns:a16="http://schemas.microsoft.com/office/drawing/2014/main" id="{DAB2CD89-1164-4EF6-87FD-A61DA30E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 · BATTLECARD</a:t>
            </a:r>
          </a:p>
        </p:txBody>
      </p:sp>
      <p:sp>
        <p:nvSpPr>
          <p:cNvPr id="2" name="text-375">
            <a:extLst xmlns:a="http://schemas.openxmlformats.org/drawingml/2006/main">
              <a:ext uri="{FF2B5EF4-FFF2-40B4-BE49-F238E27FC236}">
                <a16:creationId xmlns:a16="http://schemas.microsoft.com/office/drawing/2014/main" id="{CB7A62A9-D17D-4ED5-8ED5-010CE616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ext-376">
            <a:extLst xmlns:a="http://schemas.openxmlformats.org/drawingml/2006/main">
              <a:ext uri="{FF2B5EF4-FFF2-40B4-BE49-F238E27FC236}">
                <a16:creationId xmlns:a16="http://schemas.microsoft.com/office/drawing/2014/main" id="{803DB588-4571-479F-85AF-4C6AF20B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Clínicas dentales</a:t>
            </a:r>
          </a:p>
        </p:txBody>
      </p:sp>
      <p:sp>
        <p:nvSpPr>
          <p:cNvPr id="4" name="text-377">
            <a:extLst xmlns:a="http://schemas.openxmlformats.org/drawingml/2006/main">
              <a:ext uri="{FF2B5EF4-FFF2-40B4-BE49-F238E27FC236}">
                <a16:creationId xmlns:a16="http://schemas.microsoft.com/office/drawing/2014/main" id="{485226C7-7BA5-4588-982A-FE09C64E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PROSPECTO</a:t>
            </a:r>
          </a:p>
        </p:txBody>
      </p:sp>
      <p:sp>
        <p:nvSpPr>
          <p:cNvPr id="5" name="text-378">
            <a:extLst xmlns:a="http://schemas.openxmlformats.org/drawingml/2006/main">
              <a:ext uri="{FF2B5EF4-FFF2-40B4-BE49-F238E27FC236}">
                <a16:creationId xmlns:a16="http://schemas.microsoft.com/office/drawing/2014/main" id="{7D84EF2C-E161-4BFA-A3DB-CB606257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Clínicas con tratamiento prioritario y coordinador.</a:t>
            </a:r>
          </a:p>
        </p:txBody>
      </p:sp>
      <p:sp>
        <p:nvSpPr>
          <p:cNvPr id="6" name="text-379">
            <a:extLst xmlns:a="http://schemas.openxmlformats.org/drawingml/2006/main">
              <a:ext uri="{FF2B5EF4-FFF2-40B4-BE49-F238E27FC236}">
                <a16:creationId xmlns:a16="http://schemas.microsoft.com/office/drawing/2014/main" id="{6989E0AC-A7BA-46D8-B7C5-DFE38CB7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ÁNGULO DE ENTRADA</a:t>
            </a:r>
          </a:p>
        </p:txBody>
      </p:sp>
      <p:sp>
        <p:nvSpPr>
          <p:cNvPr id="7" name="text-380">
            <a:extLst xmlns:a="http://schemas.openxmlformats.org/drawingml/2006/main">
              <a:ext uri="{FF2B5EF4-FFF2-40B4-BE49-F238E27FC236}">
                <a16:creationId xmlns:a16="http://schemas.microsoft.com/office/drawing/2014/main" id="{C915483C-C94B-4A3C-AB7B-E9E17C2C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Medir desde la primera visita hasta el tratamiento aceptado, con recuperación de no-show.</a:t>
            </a:r>
          </a:p>
        </p:txBody>
      </p:sp>
      <p:sp>
        <p:nvSpPr>
          <p:cNvPr id="8" name="text-381">
            <a:extLst xmlns:a="http://schemas.openxmlformats.org/drawingml/2006/main">
              <a:ext uri="{FF2B5EF4-FFF2-40B4-BE49-F238E27FC236}">
                <a16:creationId xmlns:a16="http://schemas.microsoft.com/office/drawing/2014/main" id="{A7D8D382-07AC-456A-81D6-8B035D0D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AVANZAR</a:t>
            </a:r>
          </a:p>
        </p:txBody>
      </p:sp>
      <p:sp>
        <p:nvSpPr>
          <p:cNvPr id="9" name="text-382">
            <a:extLst xmlns:a="http://schemas.openxmlformats.org/drawingml/2006/main">
              <a:ext uri="{FF2B5EF4-FFF2-40B4-BE49-F238E27FC236}">
                <a16:creationId xmlns:a16="http://schemas.microsoft.com/office/drawing/2014/main" id="{A993AFC9-40C0-4BEA-8D90-4B44227C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vender si no registran tratamientos o esperan promesas clínicas.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5c0b0d31a4f14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19100"/>
            <a:ext cx="54864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rect-384">
            <a:extLst xmlns:a="http://schemas.openxmlformats.org/drawingml/2006/main">
              <a:ext uri="{FF2B5EF4-FFF2-40B4-BE49-F238E27FC236}">
                <a16:creationId xmlns:a16="http://schemas.microsoft.com/office/drawing/2014/main" id="{74984699-226E-4FB6-8865-12668B58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85">
            <a:extLst xmlns:a="http://schemas.openxmlformats.org/drawingml/2006/main">
              <a:ext uri="{FF2B5EF4-FFF2-40B4-BE49-F238E27FC236}">
                <a16:creationId xmlns:a16="http://schemas.microsoft.com/office/drawing/2014/main" id="{77D4C58C-E3EE-487A-92C1-8C8DC3AC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PREGUNTAS QUE ABREN EL DISCOVERY</a:t>
            </a:r>
          </a:p>
        </p:txBody>
      </p:sp>
      <p:sp>
        <p:nvSpPr>
          <p:cNvPr id="13" name="rect-386">
            <a:extLst xmlns:a="http://schemas.openxmlformats.org/drawingml/2006/main">
              <a:ext uri="{FF2B5EF4-FFF2-40B4-BE49-F238E27FC236}">
                <a16:creationId xmlns:a16="http://schemas.microsoft.com/office/drawing/2014/main" id="{6DB091DD-2639-41FB-B9F5-FB2D00AB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87">
            <a:extLst xmlns:a="http://schemas.openxmlformats.org/drawingml/2006/main">
              <a:ext uri="{FF2B5EF4-FFF2-40B4-BE49-F238E27FC236}">
                <a16:creationId xmlns:a16="http://schemas.microsoft.com/office/drawing/2014/main" id="{04E6A713-A1EB-4C71-9C6B-C2036536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tratamiento queréis priorizar?</a:t>
            </a:r>
          </a:p>
        </p:txBody>
      </p:sp>
      <p:sp>
        <p:nvSpPr>
          <p:cNvPr id="15" name="rect-388">
            <a:extLst xmlns:a="http://schemas.openxmlformats.org/drawingml/2006/main">
              <a:ext uri="{FF2B5EF4-FFF2-40B4-BE49-F238E27FC236}">
                <a16:creationId xmlns:a16="http://schemas.microsoft.com/office/drawing/2014/main" id="{F0DE7FBE-7A82-4017-A5D7-47B487AD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89">
            <a:extLst xmlns:a="http://schemas.openxmlformats.org/drawingml/2006/main">
              <a:ext uri="{FF2B5EF4-FFF2-40B4-BE49-F238E27FC236}">
                <a16:creationId xmlns:a16="http://schemas.microsoft.com/office/drawing/2014/main" id="{87CCFBC1-AF66-4D8A-A393-0E0492C3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¿Cuál es la capacidad semanal?</a:t>
            </a:r>
          </a:p>
        </p:txBody>
      </p:sp>
      <p:sp>
        <p:nvSpPr>
          <p:cNvPr id="17" name="rect-390">
            <a:extLst xmlns:a="http://schemas.openxmlformats.org/drawingml/2006/main">
              <a:ext uri="{FF2B5EF4-FFF2-40B4-BE49-F238E27FC236}">
                <a16:creationId xmlns:a16="http://schemas.microsoft.com/office/drawing/2014/main" id="{99AD1A7F-76F3-4E42-995C-0ED1DE24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387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91">
            <a:extLst xmlns:a="http://schemas.openxmlformats.org/drawingml/2006/main">
              <a:ext uri="{FF2B5EF4-FFF2-40B4-BE49-F238E27FC236}">
                <a16:creationId xmlns:a16="http://schemas.microsoft.com/office/drawing/2014/main" id="{E66FFE7B-10B8-49D0-9E19-D6F407B8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¿Quién sigue los planes no aceptados?</a:t>
            </a:r>
          </a:p>
        </p:txBody>
      </p:sp>
    </p:spTree>
    <p:extLst>
      <p:ext uri="{BB962C8B-B14F-4D97-AF65-F5344CB8AC3E}">
        <p14:creationId xmlns:p14="http://schemas.microsoft.com/office/powerpoint/2010/main" val="12918877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392">
            <a:extLst xmlns:a="http://schemas.openxmlformats.org/drawingml/2006/main">
              <a:ext uri="{FF2B5EF4-FFF2-40B4-BE49-F238E27FC236}">
                <a16:creationId xmlns:a16="http://schemas.microsoft.com/office/drawing/2014/main" id="{C2D70732-4AEC-49AE-AE87-1580E057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 · BATTLECARD</a:t>
            </a:r>
          </a:p>
        </p:txBody>
      </p:sp>
      <p:sp>
        <p:nvSpPr>
          <p:cNvPr id="2" name="text-393">
            <a:extLst xmlns:a="http://schemas.openxmlformats.org/drawingml/2006/main">
              <a:ext uri="{FF2B5EF4-FFF2-40B4-BE49-F238E27FC236}">
                <a16:creationId xmlns:a16="http://schemas.microsoft.com/office/drawing/2014/main" id="{B89739E2-00D2-432C-A3C7-90ABE131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ext-394">
            <a:extLst xmlns:a="http://schemas.openxmlformats.org/drawingml/2006/main">
              <a:ext uri="{FF2B5EF4-FFF2-40B4-BE49-F238E27FC236}">
                <a16:creationId xmlns:a16="http://schemas.microsoft.com/office/drawing/2014/main" id="{316C460B-1FF7-4EB9-82EA-F4E4DC34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Captación inmobiliaria</a:t>
            </a:r>
          </a:p>
        </p:txBody>
      </p:sp>
      <p:sp>
        <p:nvSpPr>
          <p:cNvPr id="4" name="text-395">
            <a:extLst xmlns:a="http://schemas.openxmlformats.org/drawingml/2006/main">
              <a:ext uri="{FF2B5EF4-FFF2-40B4-BE49-F238E27FC236}">
                <a16:creationId xmlns:a16="http://schemas.microsoft.com/office/drawing/2014/main" id="{5851E16A-CED2-444E-841B-1FB3B63E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PROSPECTO</a:t>
            </a:r>
          </a:p>
        </p:txBody>
      </p:sp>
      <p:sp>
        <p:nvSpPr>
          <p:cNvPr id="5" name="text-396">
            <a:extLst xmlns:a="http://schemas.openxmlformats.org/drawingml/2006/main">
              <a:ext uri="{FF2B5EF4-FFF2-40B4-BE49-F238E27FC236}">
                <a16:creationId xmlns:a16="http://schemas.microsoft.com/office/drawing/2014/main" id="{83FBBFD2-CF46-4B5C-8E17-3032E84B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Agencias con foco hiperlocal y proceso de captación de propietarios.</a:t>
            </a:r>
          </a:p>
        </p:txBody>
      </p:sp>
      <p:sp>
        <p:nvSpPr>
          <p:cNvPr id="6" name="text-397">
            <a:extLst xmlns:a="http://schemas.openxmlformats.org/drawingml/2006/main">
              <a:ext uri="{FF2B5EF4-FFF2-40B4-BE49-F238E27FC236}">
                <a16:creationId xmlns:a16="http://schemas.microsoft.com/office/drawing/2014/main" id="{2CA8CAEA-DD48-459B-BBDF-1D87522C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ÁNGULO DE ENTRADA</a:t>
            </a:r>
          </a:p>
        </p:txBody>
      </p:sp>
      <p:sp>
        <p:nvSpPr>
          <p:cNvPr id="7" name="text-398">
            <a:extLst xmlns:a="http://schemas.openxmlformats.org/drawingml/2006/main">
              <a:ext uri="{FF2B5EF4-FFF2-40B4-BE49-F238E27FC236}">
                <a16:creationId xmlns:a16="http://schemas.microsoft.com/office/drawing/2014/main" id="{5BF4688E-46F2-455E-A4AA-625480CC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Convertir formularios de valoración en visitas de captación y encargos firmados.</a:t>
            </a:r>
          </a:p>
        </p:txBody>
      </p:sp>
      <p:sp>
        <p:nvSpPr>
          <p:cNvPr id="8" name="text-399">
            <a:extLst xmlns:a="http://schemas.openxmlformats.org/drawingml/2006/main">
              <a:ext uri="{FF2B5EF4-FFF2-40B4-BE49-F238E27FC236}">
                <a16:creationId xmlns:a16="http://schemas.microsoft.com/office/drawing/2014/main" id="{1BD47424-64E4-4990-9594-46AF6BEB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AVANZAR</a:t>
            </a:r>
          </a:p>
        </p:txBody>
      </p:sp>
      <p:sp>
        <p:nvSpPr>
          <p:cNvPr id="9" name="text-400">
            <a:extLst xmlns:a="http://schemas.openxmlformats.org/drawingml/2006/main">
              <a:ext uri="{FF2B5EF4-FFF2-40B4-BE49-F238E27FC236}">
                <a16:creationId xmlns:a16="http://schemas.microsoft.com/office/drawing/2014/main" id="{77826913-20A7-465B-A989-886BDD0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vender si se quiere fingir compradores o garantizar precio de venta.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6c3f99e534bd2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19100"/>
            <a:ext cx="54864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rect-402">
            <a:extLst xmlns:a="http://schemas.openxmlformats.org/drawingml/2006/main">
              <a:ext uri="{FF2B5EF4-FFF2-40B4-BE49-F238E27FC236}">
                <a16:creationId xmlns:a16="http://schemas.microsoft.com/office/drawing/2014/main" id="{D86DDE04-6757-476A-BFA8-416BCAC0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403">
            <a:extLst xmlns:a="http://schemas.openxmlformats.org/drawingml/2006/main">
              <a:ext uri="{FF2B5EF4-FFF2-40B4-BE49-F238E27FC236}">
                <a16:creationId xmlns:a16="http://schemas.microsoft.com/office/drawing/2014/main" id="{89D39A19-3FBD-42A5-A48C-527E5C6E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PREGUNTAS QUE ABREN EL DISCOVERY</a:t>
            </a:r>
          </a:p>
        </p:txBody>
      </p:sp>
      <p:sp>
        <p:nvSpPr>
          <p:cNvPr id="13" name="rect-404">
            <a:extLst xmlns:a="http://schemas.openxmlformats.org/drawingml/2006/main">
              <a:ext uri="{FF2B5EF4-FFF2-40B4-BE49-F238E27FC236}">
                <a16:creationId xmlns:a16="http://schemas.microsoft.com/office/drawing/2014/main" id="{346D39D3-9286-4D51-8C8A-491DFFD1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405">
            <a:extLst xmlns:a="http://schemas.openxmlformats.org/drawingml/2006/main">
              <a:ext uri="{FF2B5EF4-FFF2-40B4-BE49-F238E27FC236}">
                <a16:creationId xmlns:a16="http://schemas.microsoft.com/office/drawing/2014/main" id="{092D8625-B351-4EC9-9D7B-114D3B2E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barrios y tipologías domináis?</a:t>
            </a:r>
          </a:p>
        </p:txBody>
      </p:sp>
      <p:sp>
        <p:nvSpPr>
          <p:cNvPr id="15" name="rect-406">
            <a:extLst xmlns:a="http://schemas.openxmlformats.org/drawingml/2006/main">
              <a:ext uri="{FF2B5EF4-FFF2-40B4-BE49-F238E27FC236}">
                <a16:creationId xmlns:a16="http://schemas.microsoft.com/office/drawing/2014/main" id="{A014A3D9-1089-4B6D-8A20-D2FC9841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07">
            <a:extLst xmlns:a="http://schemas.openxmlformats.org/drawingml/2006/main">
              <a:ext uri="{FF2B5EF4-FFF2-40B4-BE49-F238E27FC236}">
                <a16:creationId xmlns:a16="http://schemas.microsoft.com/office/drawing/2014/main" id="{A4DF001D-EB25-4331-8C7E-2FC282F8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¿Quién visita al propietario?</a:t>
            </a:r>
          </a:p>
        </p:txBody>
      </p:sp>
      <p:sp>
        <p:nvSpPr>
          <p:cNvPr id="17" name="rect-408">
            <a:extLst xmlns:a="http://schemas.openxmlformats.org/drawingml/2006/main">
              <a:ext uri="{FF2B5EF4-FFF2-40B4-BE49-F238E27FC236}">
                <a16:creationId xmlns:a16="http://schemas.microsoft.com/office/drawing/2014/main" id="{F00B90D2-4BE3-48BA-87BD-8B8C9CAA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387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409">
            <a:extLst xmlns:a="http://schemas.openxmlformats.org/drawingml/2006/main">
              <a:ext uri="{FF2B5EF4-FFF2-40B4-BE49-F238E27FC236}">
                <a16:creationId xmlns:a16="http://schemas.microsoft.com/office/drawing/2014/main" id="{3829CBF0-5C2A-440B-B7DB-D092C74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¿Cómo se registra el encargo?</a:t>
            </a:r>
          </a:p>
        </p:txBody>
      </p:sp>
    </p:spTree>
    <p:extLst>
      <p:ext uri="{BB962C8B-B14F-4D97-AF65-F5344CB8AC3E}">
        <p14:creationId xmlns:p14="http://schemas.microsoft.com/office/powerpoint/2010/main" val="2225171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410">
            <a:extLst xmlns:a="http://schemas.openxmlformats.org/drawingml/2006/main">
              <a:ext uri="{FF2B5EF4-FFF2-40B4-BE49-F238E27FC236}">
                <a16:creationId xmlns:a16="http://schemas.microsoft.com/office/drawing/2014/main" id="{75AF27AB-D6C5-476E-A4E0-21892531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 · BATTLECARD</a:t>
            </a:r>
          </a:p>
        </p:txBody>
      </p:sp>
      <p:sp>
        <p:nvSpPr>
          <p:cNvPr id="2" name="text-411">
            <a:extLst xmlns:a="http://schemas.openxmlformats.org/drawingml/2006/main">
              <a:ext uri="{FF2B5EF4-FFF2-40B4-BE49-F238E27FC236}">
                <a16:creationId xmlns:a16="http://schemas.microsoft.com/office/drawing/2014/main" id="{B376F93C-E9C7-4AA3-8575-67C95BBE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text-412">
            <a:extLst xmlns:a="http://schemas.openxmlformats.org/drawingml/2006/main">
              <a:ext uri="{FF2B5EF4-FFF2-40B4-BE49-F238E27FC236}">
                <a16:creationId xmlns:a16="http://schemas.microsoft.com/office/drawing/2014/main" id="{B66B5323-473A-4259-A5CC-A91EE78F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Centros auditivos y ortopedias</a:t>
            </a:r>
          </a:p>
        </p:txBody>
      </p:sp>
      <p:sp>
        <p:nvSpPr>
          <p:cNvPr id="4" name="text-413">
            <a:extLst xmlns:a="http://schemas.openxmlformats.org/drawingml/2006/main">
              <a:ext uri="{FF2B5EF4-FFF2-40B4-BE49-F238E27FC236}">
                <a16:creationId xmlns:a16="http://schemas.microsoft.com/office/drawing/2014/main" id="{4748D7FD-74EF-463D-8FE8-AA9E9284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PROSPECTO</a:t>
            </a:r>
          </a:p>
        </p:txBody>
      </p:sp>
      <p:sp>
        <p:nvSpPr>
          <p:cNvPr id="5" name="text-414">
            <a:extLst xmlns:a="http://schemas.openxmlformats.org/drawingml/2006/main">
              <a:ext uri="{FF2B5EF4-FFF2-40B4-BE49-F238E27FC236}">
                <a16:creationId xmlns:a16="http://schemas.microsoft.com/office/drawing/2014/main" id="{101F653A-0FCB-460B-9347-606BE804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Centros con agenda, privacidad y atención accesible.</a:t>
            </a:r>
          </a:p>
        </p:txBody>
      </p:sp>
      <p:sp>
        <p:nvSpPr>
          <p:cNvPr id="6" name="text-415">
            <a:extLst xmlns:a="http://schemas.openxmlformats.org/drawingml/2006/main">
              <a:ext uri="{FF2B5EF4-FFF2-40B4-BE49-F238E27FC236}">
                <a16:creationId xmlns:a16="http://schemas.microsoft.com/office/drawing/2014/main" id="{43D8F44D-4009-4F85-A501-DC134C73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ÁNGULO DE ENTRADA</a:t>
            </a:r>
          </a:p>
        </p:txBody>
      </p:sp>
      <p:sp>
        <p:nvSpPr>
          <p:cNvPr id="7" name="text-416">
            <a:extLst xmlns:a="http://schemas.openxmlformats.org/drawingml/2006/main">
              <a:ext uri="{FF2B5EF4-FFF2-40B4-BE49-F238E27FC236}">
                <a16:creationId xmlns:a16="http://schemas.microsoft.com/office/drawing/2014/main" id="{82BF6A65-CA07-4234-8FEB-E98A5737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Captación local prudente hasta valoración asistida y solución propuesta.</a:t>
            </a:r>
          </a:p>
        </p:txBody>
      </p:sp>
      <p:sp>
        <p:nvSpPr>
          <p:cNvPr id="8" name="text-417">
            <a:extLst xmlns:a="http://schemas.openxmlformats.org/drawingml/2006/main">
              <a:ext uri="{FF2B5EF4-FFF2-40B4-BE49-F238E27FC236}">
                <a16:creationId xmlns:a16="http://schemas.microsoft.com/office/drawing/2014/main" id="{4ABDD753-736E-4F9D-9C15-B79BC1A1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AVANZAR</a:t>
            </a:r>
          </a:p>
        </p:txBody>
      </p:sp>
      <p:sp>
        <p:nvSpPr>
          <p:cNvPr id="9" name="text-418">
            <a:extLst xmlns:a="http://schemas.openxmlformats.org/drawingml/2006/main">
              <a:ext uri="{FF2B5EF4-FFF2-40B4-BE49-F238E27FC236}">
                <a16:creationId xmlns:a16="http://schemas.microsoft.com/office/drawing/2014/main" id="{CF01693F-DFA4-40FF-915D-54823CEF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vender si se pretende diagnosticar o prometer mejora desde el anuncio.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b5a31aa2948b0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19100"/>
            <a:ext cx="54864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rect-420">
            <a:extLst xmlns:a="http://schemas.openxmlformats.org/drawingml/2006/main">
              <a:ext uri="{FF2B5EF4-FFF2-40B4-BE49-F238E27FC236}">
                <a16:creationId xmlns:a16="http://schemas.microsoft.com/office/drawing/2014/main" id="{8B9E18F7-B1FB-433E-8068-6A4CC2F1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421">
            <a:extLst xmlns:a="http://schemas.openxmlformats.org/drawingml/2006/main">
              <a:ext uri="{FF2B5EF4-FFF2-40B4-BE49-F238E27FC236}">
                <a16:creationId xmlns:a16="http://schemas.microsoft.com/office/drawing/2014/main" id="{D7936EC1-BA93-4631-98A9-A87E5A06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PREGUNTAS QUE ABREN EL DISCOVERY</a:t>
            </a:r>
          </a:p>
        </p:txBody>
      </p:sp>
      <p:sp>
        <p:nvSpPr>
          <p:cNvPr id="13" name="rect-422">
            <a:extLst xmlns:a="http://schemas.openxmlformats.org/drawingml/2006/main">
              <a:ext uri="{FF2B5EF4-FFF2-40B4-BE49-F238E27FC236}">
                <a16:creationId xmlns:a16="http://schemas.microsoft.com/office/drawing/2014/main" id="{44B3808D-0BCD-4B35-9ED5-0B5C08E8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423">
            <a:extLst xmlns:a="http://schemas.openxmlformats.org/drawingml/2006/main">
              <a:ext uri="{FF2B5EF4-FFF2-40B4-BE49-F238E27FC236}">
                <a16:creationId xmlns:a16="http://schemas.microsoft.com/office/drawing/2014/main" id="{74E1D3CB-0E3D-44A9-A345-4B123A0D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servicio tiene capacidad?</a:t>
            </a:r>
          </a:p>
        </p:txBody>
      </p:sp>
      <p:sp>
        <p:nvSpPr>
          <p:cNvPr id="15" name="rect-424">
            <a:extLst xmlns:a="http://schemas.openxmlformats.org/drawingml/2006/main">
              <a:ext uri="{FF2B5EF4-FFF2-40B4-BE49-F238E27FC236}">
                <a16:creationId xmlns:a16="http://schemas.microsoft.com/office/drawing/2014/main" id="{22187503-6B45-4C38-89B3-594E5084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25">
            <a:extLst xmlns:a="http://schemas.openxmlformats.org/drawingml/2006/main">
              <a:ext uri="{FF2B5EF4-FFF2-40B4-BE49-F238E27FC236}">
                <a16:creationId xmlns:a16="http://schemas.microsoft.com/office/drawing/2014/main" id="{7C1A4347-F61C-4313-BD20-165C3DB5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¿Quién confirma la valoración?</a:t>
            </a:r>
          </a:p>
        </p:txBody>
      </p:sp>
      <p:sp>
        <p:nvSpPr>
          <p:cNvPr id="17" name="rect-426">
            <a:extLst xmlns:a="http://schemas.openxmlformats.org/drawingml/2006/main">
              <a:ext uri="{FF2B5EF4-FFF2-40B4-BE49-F238E27FC236}">
                <a16:creationId xmlns:a16="http://schemas.microsoft.com/office/drawing/2014/main" id="{FD33D387-2C0A-446B-A83A-94018EE8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387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427">
            <a:extLst xmlns:a="http://schemas.openxmlformats.org/drawingml/2006/main">
              <a:ext uri="{FF2B5EF4-FFF2-40B4-BE49-F238E27FC236}">
                <a16:creationId xmlns:a16="http://schemas.microsoft.com/office/drawing/2014/main" id="{A9B2FE98-1070-45E3-8A19-FDFF5570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¿Cómo se gestiona el consentimiento familiar?</a:t>
            </a:r>
          </a:p>
        </p:txBody>
      </p:sp>
    </p:spTree>
    <p:extLst>
      <p:ext uri="{BB962C8B-B14F-4D97-AF65-F5344CB8AC3E}">
        <p14:creationId xmlns:p14="http://schemas.microsoft.com/office/powerpoint/2010/main" val="6157651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428">
            <a:extLst xmlns:a="http://schemas.openxmlformats.org/drawingml/2006/main">
              <a:ext uri="{FF2B5EF4-FFF2-40B4-BE49-F238E27FC236}">
                <a16:creationId xmlns:a16="http://schemas.microsoft.com/office/drawing/2014/main" id="{9C13CF99-4BB3-4BF0-8EA2-E0606117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 · BATTLECARD</a:t>
            </a:r>
          </a:p>
        </p:txBody>
      </p:sp>
      <p:sp>
        <p:nvSpPr>
          <p:cNvPr id="2" name="text-429">
            <a:extLst xmlns:a="http://schemas.openxmlformats.org/drawingml/2006/main">
              <a:ext uri="{FF2B5EF4-FFF2-40B4-BE49-F238E27FC236}">
                <a16:creationId xmlns:a16="http://schemas.microsoft.com/office/drawing/2014/main" id="{14DB44C5-47CA-48A2-832B-17D4BEC0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text-430">
            <a:extLst xmlns:a="http://schemas.openxmlformats.org/drawingml/2006/main">
              <a:ext uri="{FF2B5EF4-FFF2-40B4-BE49-F238E27FC236}">
                <a16:creationId xmlns:a16="http://schemas.microsoft.com/office/drawing/2014/main" id="{C7A46977-64C9-4781-BC32-847C8BC2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Mudanzas y guardamuebles</a:t>
            </a:r>
          </a:p>
        </p:txBody>
      </p:sp>
      <p:sp>
        <p:nvSpPr>
          <p:cNvPr id="4" name="text-431">
            <a:extLst xmlns:a="http://schemas.openxmlformats.org/drawingml/2006/main">
              <a:ext uri="{FF2B5EF4-FFF2-40B4-BE49-F238E27FC236}">
                <a16:creationId xmlns:a16="http://schemas.microsoft.com/office/drawing/2014/main" id="{395FA63C-D0EC-477C-8427-5A8410A1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PROSPECTO</a:t>
            </a:r>
          </a:p>
        </p:txBody>
      </p:sp>
      <p:sp>
        <p:nvSpPr>
          <p:cNvPr id="5" name="text-432">
            <a:extLst xmlns:a="http://schemas.openxmlformats.org/drawingml/2006/main">
              <a:ext uri="{FF2B5EF4-FFF2-40B4-BE49-F238E27FC236}">
                <a16:creationId xmlns:a16="http://schemas.microsoft.com/office/drawing/2014/main" id="{13C4B6C0-A2F6-49D3-8D73-857B3A62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Operadores con rutas, capacidad y presupuesto rápido.</a:t>
            </a:r>
          </a:p>
        </p:txBody>
      </p:sp>
      <p:sp>
        <p:nvSpPr>
          <p:cNvPr id="6" name="text-433">
            <a:extLst xmlns:a="http://schemas.openxmlformats.org/drawingml/2006/main">
              <a:ext uri="{FF2B5EF4-FFF2-40B4-BE49-F238E27FC236}">
                <a16:creationId xmlns:a16="http://schemas.microsoft.com/office/drawing/2014/main" id="{88A8B808-D967-4F1B-A203-50DCFED5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ÁNGULO DE ENTRADA</a:t>
            </a:r>
          </a:p>
        </p:txBody>
      </p:sp>
      <p:sp>
        <p:nvSpPr>
          <p:cNvPr id="7" name="text-434">
            <a:extLst xmlns:a="http://schemas.openxmlformats.org/drawingml/2006/main">
              <a:ext uri="{FF2B5EF4-FFF2-40B4-BE49-F238E27FC236}">
                <a16:creationId xmlns:a16="http://schemas.microsoft.com/office/drawing/2014/main" id="{58482B69-EE7A-43D4-9AC8-16447454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Clasificar origen, destino, fecha y volumen antes de pasar la oportunidad a operaciones.</a:t>
            </a:r>
          </a:p>
        </p:txBody>
      </p:sp>
      <p:sp>
        <p:nvSpPr>
          <p:cNvPr id="8" name="text-435">
            <a:extLst xmlns:a="http://schemas.openxmlformats.org/drawingml/2006/main">
              <a:ext uri="{FF2B5EF4-FFF2-40B4-BE49-F238E27FC236}">
                <a16:creationId xmlns:a16="http://schemas.microsoft.com/office/drawing/2014/main" id="{1D36A567-12F6-47BD-AE5C-B88D1536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AVANZAR</a:t>
            </a:r>
          </a:p>
        </p:txBody>
      </p:sp>
      <p:sp>
        <p:nvSpPr>
          <p:cNvPr id="9" name="text-436">
            <a:extLst xmlns:a="http://schemas.openxmlformats.org/drawingml/2006/main">
              <a:ext uri="{FF2B5EF4-FFF2-40B4-BE49-F238E27FC236}">
                <a16:creationId xmlns:a16="http://schemas.microsoft.com/office/drawing/2014/main" id="{AF1B392C-68A4-4140-8445-E5047E08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vender si no hay control de capacidad, inventario o cobertura.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683bbee3b4769"/>
          <a:srcRect xmlns:a="http://schemas.openxmlformats.org/drawingml/2006/main" l="909" t="0" r="9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419100"/>
            <a:ext cx="54864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rect-438">
            <a:extLst xmlns:a="http://schemas.openxmlformats.org/drawingml/2006/main">
              <a:ext uri="{FF2B5EF4-FFF2-40B4-BE49-F238E27FC236}">
                <a16:creationId xmlns:a16="http://schemas.microsoft.com/office/drawing/2014/main" id="{7AB209A4-2C34-44C0-83DE-48ED9AE3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439">
            <a:extLst xmlns:a="http://schemas.openxmlformats.org/drawingml/2006/main">
              <a:ext uri="{FF2B5EF4-FFF2-40B4-BE49-F238E27FC236}">
                <a16:creationId xmlns:a16="http://schemas.microsoft.com/office/drawing/2014/main" id="{E1E64D6B-D704-42CC-ABCF-B7C16EFA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PREGUNTAS QUE ABREN EL DISCOVERY</a:t>
            </a:r>
          </a:p>
        </p:txBody>
      </p:sp>
      <p:sp>
        <p:nvSpPr>
          <p:cNvPr id="13" name="rect-440">
            <a:extLst xmlns:a="http://schemas.openxmlformats.org/drawingml/2006/main">
              <a:ext uri="{FF2B5EF4-FFF2-40B4-BE49-F238E27FC236}">
                <a16:creationId xmlns:a16="http://schemas.microsoft.com/office/drawing/2014/main" id="{728CFC33-A253-4D83-ADDA-2B5B6D52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441">
            <a:extLst xmlns:a="http://schemas.openxmlformats.org/drawingml/2006/main">
              <a:ext uri="{FF2B5EF4-FFF2-40B4-BE49-F238E27FC236}">
                <a16:creationId xmlns:a16="http://schemas.microsoft.com/office/drawing/2014/main" id="{2F3576E8-490B-4AC6-8C7D-C6E095FD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rutas son rentables?</a:t>
            </a:r>
          </a:p>
        </p:txBody>
      </p:sp>
      <p:sp>
        <p:nvSpPr>
          <p:cNvPr id="15" name="rect-442">
            <a:extLst xmlns:a="http://schemas.openxmlformats.org/drawingml/2006/main">
              <a:ext uri="{FF2B5EF4-FFF2-40B4-BE49-F238E27FC236}">
                <a16:creationId xmlns:a16="http://schemas.microsoft.com/office/drawing/2014/main" id="{C8961456-771A-42F8-B590-61F3C0A2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43">
            <a:extLst xmlns:a="http://schemas.openxmlformats.org/drawingml/2006/main">
              <a:ext uri="{FF2B5EF4-FFF2-40B4-BE49-F238E27FC236}">
                <a16:creationId xmlns:a16="http://schemas.microsoft.com/office/drawing/2014/main" id="{7E9ECD9A-B272-47B8-B03E-C4591F30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fechas están disponibles?</a:t>
            </a:r>
          </a:p>
        </p:txBody>
      </p:sp>
      <p:sp>
        <p:nvSpPr>
          <p:cNvPr id="17" name="rect-444">
            <a:extLst xmlns:a="http://schemas.openxmlformats.org/drawingml/2006/main">
              <a:ext uri="{FF2B5EF4-FFF2-40B4-BE49-F238E27FC236}">
                <a16:creationId xmlns:a16="http://schemas.microsoft.com/office/drawing/2014/main" id="{208A4814-3AA2-481D-91E7-981E75C5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387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445">
            <a:extLst xmlns:a="http://schemas.openxmlformats.org/drawingml/2006/main">
              <a:ext uri="{FF2B5EF4-FFF2-40B4-BE49-F238E27FC236}">
                <a16:creationId xmlns:a16="http://schemas.microsoft.com/office/drawing/2014/main" id="{04A8499F-6AB9-4B60-BA1E-52A36D1B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¿En cuánto tiempo enviáis presupuesto?</a:t>
            </a:r>
          </a:p>
        </p:txBody>
      </p:sp>
    </p:spTree>
    <p:extLst>
      <p:ext uri="{BB962C8B-B14F-4D97-AF65-F5344CB8AC3E}">
        <p14:creationId xmlns:p14="http://schemas.microsoft.com/office/powerpoint/2010/main" val="6908344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446">
            <a:extLst xmlns:a="http://schemas.openxmlformats.org/drawingml/2006/main">
              <a:ext uri="{FF2B5EF4-FFF2-40B4-BE49-F238E27FC236}">
                <a16:creationId xmlns:a16="http://schemas.microsoft.com/office/drawing/2014/main" id="{A476F34A-18AB-41F1-9401-6D08B97A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447">
            <a:extLst xmlns:a="http://schemas.openxmlformats.org/drawingml/2006/main">
              <a:ext uri="{FF2B5EF4-FFF2-40B4-BE49-F238E27FC236}">
                <a16:creationId xmlns:a16="http://schemas.microsoft.com/office/drawing/2014/main" id="{9B7F4EB2-23F5-44F0-8615-42384144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text-448">
            <a:extLst xmlns:a="http://schemas.openxmlformats.org/drawingml/2006/main">
              <a:ext uri="{FF2B5EF4-FFF2-40B4-BE49-F238E27FC236}">
                <a16:creationId xmlns:a16="http://schemas.microsoft.com/office/drawing/2014/main" id="{89FE71F0-2EEE-4E89-8742-23EF4491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FINAL DE REUNIÓN</a:t>
            </a:r>
          </a:p>
        </p:txBody>
      </p:sp>
      <p:sp>
        <p:nvSpPr>
          <p:cNvPr id="4" name="title-19">
            <a:extLst xmlns:a="http://schemas.openxmlformats.org/drawingml/2006/main">
              <a:ext uri="{FF2B5EF4-FFF2-40B4-BE49-F238E27FC236}">
                <a16:creationId xmlns:a16="http://schemas.microsoft.com/office/drawing/2014/main" id="{B9B62FAC-E7DF-4507-BD3C-A94CCC89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Cierra la reunión con una decisión concreta</a:t>
            </a:r>
          </a:p>
        </p:txBody>
      </p:sp>
      <p:sp>
        <p:nvSpPr>
          <p:cNvPr id="5" name="line-449">
            <a:extLst xmlns:a="http://schemas.openxmlformats.org/drawingml/2006/main">
              <a:ext uri="{FF2B5EF4-FFF2-40B4-BE49-F238E27FC236}">
                <a16:creationId xmlns:a16="http://schemas.microsoft.com/office/drawing/2014/main" id="{524BEADB-F568-4269-983F-034D9C29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line-450">
            <a:extLst xmlns:a="http://schemas.openxmlformats.org/drawingml/2006/main">
              <a:ext uri="{FF2B5EF4-FFF2-40B4-BE49-F238E27FC236}">
                <a16:creationId xmlns:a16="http://schemas.microsoft.com/office/drawing/2014/main" id="{5B36DD77-F661-496A-82E7-06C7376E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13A"/>
            </a:solidFill>
            <a:prstDash val="solid"/>
          </a:ln>
        </p:spPr>
      </p:sp>
      <p:sp>
        <p:nvSpPr>
          <p:cNvPr id="7" name="rect-451">
            <a:extLst xmlns:a="http://schemas.openxmlformats.org/drawingml/2006/main">
              <a:ext uri="{FF2B5EF4-FFF2-40B4-BE49-F238E27FC236}">
                <a16:creationId xmlns:a16="http://schemas.microsoft.com/office/drawing/2014/main" id="{97457FCC-77B5-4F22-B726-FC1F6B0F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452">
            <a:extLst xmlns:a="http://schemas.openxmlformats.org/drawingml/2006/main">
              <a:ext uri="{FF2B5EF4-FFF2-40B4-BE49-F238E27FC236}">
                <a16:creationId xmlns:a16="http://schemas.microsoft.com/office/drawing/2014/main" id="{CACEFA50-E627-485C-A7E7-4BD33633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9" name="text-453">
            <a:extLst xmlns:a="http://schemas.openxmlformats.org/drawingml/2006/main">
              <a:ext uri="{FF2B5EF4-FFF2-40B4-BE49-F238E27FC236}">
                <a16:creationId xmlns:a16="http://schemas.microsoft.com/office/drawing/2014/main" id="{045E7F0B-A73C-4F75-9C06-82FCC461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Encaje</a:t>
            </a:r>
          </a:p>
        </p:txBody>
      </p:sp>
      <p:sp>
        <p:nvSpPr>
          <p:cNvPr id="10" name="text-454">
            <a:extLst xmlns:a="http://schemas.openxmlformats.org/drawingml/2006/main">
              <a:ext uri="{FF2B5EF4-FFF2-40B4-BE49-F238E27FC236}">
                <a16:creationId xmlns:a16="http://schemas.microsoft.com/office/drawing/2014/main" id="{0149AFCC-E4C9-4AEB-AC4D-A4D50975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Preparar propuesta y puerta de lanzamiento</a:t>
            </a:r>
          </a:p>
        </p:txBody>
      </p:sp>
      <p:sp>
        <p:nvSpPr>
          <p:cNvPr id="11" name="rect-455">
            <a:extLst xmlns:a="http://schemas.openxmlformats.org/drawingml/2006/main">
              <a:ext uri="{FF2B5EF4-FFF2-40B4-BE49-F238E27FC236}">
                <a16:creationId xmlns:a16="http://schemas.microsoft.com/office/drawing/2014/main" id="{3590A957-ABF9-4CC4-ADAD-4935B684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456">
            <a:extLst xmlns:a="http://schemas.openxmlformats.org/drawingml/2006/main">
              <a:ext uri="{FF2B5EF4-FFF2-40B4-BE49-F238E27FC236}">
                <a16:creationId xmlns:a16="http://schemas.microsoft.com/office/drawing/2014/main" id="{088BB7C8-0EF9-43AC-ACAA-8CEBE839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TODAVÍA</a:t>
            </a:r>
          </a:p>
        </p:txBody>
      </p:sp>
      <p:sp>
        <p:nvSpPr>
          <p:cNvPr id="13" name="text-457">
            <a:extLst xmlns:a="http://schemas.openxmlformats.org/drawingml/2006/main">
              <a:ext uri="{FF2B5EF4-FFF2-40B4-BE49-F238E27FC236}">
                <a16:creationId xmlns:a16="http://schemas.microsoft.com/office/drawing/2014/main" id="{2403B2D5-3347-49CB-93B2-37DF18C9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14" name="text-458">
            <a:extLst xmlns:a="http://schemas.openxmlformats.org/drawingml/2006/main">
              <a:ext uri="{FF2B5EF4-FFF2-40B4-BE49-F238E27FC236}">
                <a16:creationId xmlns:a16="http://schemas.microsoft.com/office/drawing/2014/main" id="{6E629267-55C1-4C2F-A283-B4DABE39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Solicitar un dato o decisión específica</a:t>
            </a:r>
          </a:p>
        </p:txBody>
      </p:sp>
      <p:sp>
        <p:nvSpPr>
          <p:cNvPr id="15" name="rect-459">
            <a:extLst xmlns:a="http://schemas.openxmlformats.org/drawingml/2006/main">
              <a:ext uri="{FF2B5EF4-FFF2-40B4-BE49-F238E27FC236}">
                <a16:creationId xmlns:a16="http://schemas.microsoft.com/office/drawing/2014/main" id="{0AF6AA43-7541-4392-A12B-342F4349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60">
            <a:extLst xmlns:a="http://schemas.openxmlformats.org/drawingml/2006/main">
              <a:ext uri="{FF2B5EF4-FFF2-40B4-BE49-F238E27FC236}">
                <a16:creationId xmlns:a16="http://schemas.microsoft.com/office/drawing/2014/main" id="{8D5485B4-D5CF-4E84-BFC1-D722E02B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7" name="text-461">
            <a:extLst xmlns:a="http://schemas.openxmlformats.org/drawingml/2006/main">
              <a:ext uri="{FF2B5EF4-FFF2-40B4-BE49-F238E27FC236}">
                <a16:creationId xmlns:a16="http://schemas.microsoft.com/office/drawing/2014/main" id="{09A87C9D-EF89-4B97-93DE-16D9BD19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Descartar</a:t>
            </a:r>
          </a:p>
        </p:txBody>
      </p:sp>
      <p:sp>
        <p:nvSpPr>
          <p:cNvPr id="18" name="text-462">
            <a:extLst xmlns:a="http://schemas.openxmlformats.org/drawingml/2006/main">
              <a:ext uri="{FF2B5EF4-FFF2-40B4-BE49-F238E27FC236}">
                <a16:creationId xmlns:a16="http://schemas.microsoft.com/office/drawing/2014/main" id="{A5A4DAF2-55E8-4A29-A275-8352641B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Explicar el motivo y no perseguir</a:t>
            </a:r>
          </a:p>
        </p:txBody>
      </p:sp>
    </p:spTree>
    <p:extLst>
      <p:ext uri="{BB962C8B-B14F-4D97-AF65-F5344CB8AC3E}">
        <p14:creationId xmlns:p14="http://schemas.microsoft.com/office/powerpoint/2010/main" val="16024720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63">
            <a:extLst xmlns:a="http://schemas.openxmlformats.org/drawingml/2006/main">
              <a:ext uri="{FF2B5EF4-FFF2-40B4-BE49-F238E27FC236}">
                <a16:creationId xmlns:a16="http://schemas.microsoft.com/office/drawing/2014/main" id="{C1FF7782-0E46-4EFF-8BAA-48ED502B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464">
            <a:extLst xmlns:a="http://schemas.openxmlformats.org/drawingml/2006/main">
              <a:ext uri="{FF2B5EF4-FFF2-40B4-BE49-F238E27FC236}">
                <a16:creationId xmlns:a16="http://schemas.microsoft.com/office/drawing/2014/main" id="{0E7E875A-3D2B-4111-93D4-3E9F0568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text-465">
            <a:extLst xmlns:a="http://schemas.openxmlformats.org/drawingml/2006/main">
              <a:ext uri="{FF2B5EF4-FFF2-40B4-BE49-F238E27FC236}">
                <a16:creationId xmlns:a16="http://schemas.microsoft.com/office/drawing/2014/main" id="{A2301891-2F45-457A-9424-555209E7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PLAYBOOK DEL CLOSER</a:t>
            </a:r>
          </a:p>
        </p:txBody>
      </p:sp>
      <p:sp>
        <p:nvSpPr>
          <p:cNvPr id="4" name="title-20">
            <a:extLst xmlns:a="http://schemas.openxmlformats.org/drawingml/2006/main">
              <a:ext uri="{FF2B5EF4-FFF2-40B4-BE49-F238E27FC236}">
                <a16:creationId xmlns:a16="http://schemas.microsoft.com/office/drawing/2014/main" id="{1D74A0A2-9BAC-453E-B086-B154A1C6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Un buen closer protege el margen y la reputación</a:t>
            </a:r>
          </a:p>
        </p:txBody>
      </p:sp>
      <p:sp>
        <p:nvSpPr>
          <p:cNvPr id="5" name="line-466">
            <a:extLst xmlns:a="http://schemas.openxmlformats.org/drawingml/2006/main">
              <a:ext uri="{FF2B5EF4-FFF2-40B4-BE49-F238E27FC236}">
                <a16:creationId xmlns:a16="http://schemas.microsoft.com/office/drawing/2014/main" id="{3CC1077B-45B0-46F1-AD39-C824B266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467">
            <a:extLst xmlns:a="http://schemas.openxmlformats.org/drawingml/2006/main">
              <a:ext uri="{FF2B5EF4-FFF2-40B4-BE49-F238E27FC236}">
                <a16:creationId xmlns:a16="http://schemas.microsoft.com/office/drawing/2014/main" id="{B7FBD59A-1F06-4968-AACD-F148AC6F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Vender bien es elegir qué problema podemos resolver, con qué condiciones y cómo sabremos si funcionó.</a:t>
            </a:r>
          </a:p>
        </p:txBody>
      </p:sp>
      <p:sp>
        <p:nvSpPr>
          <p:cNvPr id="7" name="rect-468">
            <a:extLst xmlns:a="http://schemas.openxmlformats.org/drawingml/2006/main">
              <a:ext uri="{FF2B5EF4-FFF2-40B4-BE49-F238E27FC236}">
                <a16:creationId xmlns:a16="http://schemas.microsoft.com/office/drawing/2014/main" id="{2F5819F4-7D7E-4CE3-84CD-DA4BDFC1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1028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469">
            <a:extLst xmlns:a="http://schemas.openxmlformats.org/drawingml/2006/main">
              <a:ext uri="{FF2B5EF4-FFF2-40B4-BE49-F238E27FC236}">
                <a16:creationId xmlns:a16="http://schemas.microsoft.com/office/drawing/2014/main" id="{A261A089-F2F1-4B43-B3CB-77C7895A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67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No prometas resultados no controlables. No aceptes clientes sin capacidad. No presentes precio antes de entender la economía. No cierres sin siguiente paso y criterio de decisión.</a:t>
            </a:r>
          </a:p>
        </p:txBody>
      </p:sp>
    </p:spTree>
    <p:extLst>
      <p:ext uri="{BB962C8B-B14F-4D97-AF65-F5344CB8AC3E}">
        <p14:creationId xmlns:p14="http://schemas.microsoft.com/office/powerpoint/2010/main" val="1066660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2026-09-03T16:07:36.6610000Z</dcterms:created>
  <dcterms:modified xsi:type="dcterms:W3CDTF">2026-09-03T16:07:36.6610000Z</dcterms:modified>
</coreProperties>
</file>