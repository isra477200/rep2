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e6e5dcb9d6470b" /><Relationship Type="http://schemas.openxmlformats.org/officeDocument/2006/relationships/extended-properties" Target="/docProps/app.xml" Id="R28ad9863ab6a43b5" /><Relationship Type="http://schemas.openxmlformats.org/officeDocument/2006/relationships/officeDocument" Target="/ppt/presentation.xml" Id="R4cced11829c742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83887592c14951"/>
  </p:sldMasterIdLst>
  <p:notesMasterIdLst>
    <p:notesMasterId xmlns:r="http://schemas.openxmlformats.org/officeDocument/2006/relationships" r:id="Rf8be8899c8a34773"/>
  </p:notesMasterIdLst>
  <p:sldIdLst>
    <p:sldId xmlns:r="http://schemas.openxmlformats.org/officeDocument/2006/relationships" id="256" r:id="R2d927debf6924a0f"/>
    <p:sldId xmlns:r="http://schemas.openxmlformats.org/officeDocument/2006/relationships" id="257" r:id="R693d8111d16943e3"/>
    <p:sldId xmlns:r="http://schemas.openxmlformats.org/officeDocument/2006/relationships" id="258" r:id="Rfa9612c3214a4489"/>
    <p:sldId xmlns:r="http://schemas.openxmlformats.org/officeDocument/2006/relationships" id="259" r:id="R8dd04751fb334bc8"/>
    <p:sldId xmlns:r="http://schemas.openxmlformats.org/officeDocument/2006/relationships" id="260" r:id="R4d43c5f6cab040c0"/>
    <p:sldId xmlns:r="http://schemas.openxmlformats.org/officeDocument/2006/relationships" id="261" r:id="R5075a85a66ea4fda"/>
    <p:sldId xmlns:r="http://schemas.openxmlformats.org/officeDocument/2006/relationships" id="262" r:id="R21193e93bc7442ff"/>
    <p:sldId xmlns:r="http://schemas.openxmlformats.org/officeDocument/2006/relationships" id="263" r:id="Ra47283f8decc4584"/>
    <p:sldId xmlns:r="http://schemas.openxmlformats.org/officeDocument/2006/relationships" id="264" r:id="Re76eb6c3667a4031"/>
    <p:sldId xmlns:r="http://schemas.openxmlformats.org/officeDocument/2006/relationships" id="265" r:id="R0cc86fbae3bc4e82"/>
    <p:sldId xmlns:r="http://schemas.openxmlformats.org/officeDocument/2006/relationships" id="266" r:id="R5ad1dcf2ceff426a"/>
    <p:sldId xmlns:r="http://schemas.openxmlformats.org/officeDocument/2006/relationships" id="267" r:id="R45875f8312da4665"/>
    <p:sldId xmlns:r="http://schemas.openxmlformats.org/officeDocument/2006/relationships" id="268" r:id="R32364a7cab364ebe"/>
    <p:sldId xmlns:r="http://schemas.openxmlformats.org/officeDocument/2006/relationships" id="269" r:id="R759a80bbe7114c2b"/>
    <p:sldId xmlns:r="http://schemas.openxmlformats.org/officeDocument/2006/relationships" id="270" r:id="Ref5bf9bfccad4ed5"/>
    <p:sldId xmlns:r="http://schemas.openxmlformats.org/officeDocument/2006/relationships" id="271" r:id="R833c980b09834085"/>
    <p:sldId xmlns:r="http://schemas.openxmlformats.org/officeDocument/2006/relationships" id="272" r:id="R32ea8a65eeac498d"/>
    <p:sldId xmlns:r="http://schemas.openxmlformats.org/officeDocument/2006/relationships" id="273" r:id="Rd2802e2e770e40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b66c2215ea4c51" /><Relationship Type="http://schemas.openxmlformats.org/officeDocument/2006/relationships/slideMaster" Target="/ppt/slideMasters/slideMaster1.xml" Id="R3283887592c14951" /><Relationship Type="http://schemas.openxmlformats.org/officeDocument/2006/relationships/notesMaster" Target="/ppt/notesMasters/notesMaster1.xml" Id="Rf8be8899c8a34773" /><Relationship Type="http://schemas.openxmlformats.org/officeDocument/2006/relationships/presProps" Target="/ppt/presProps.xml" Id="R64dcb82bf31c40b5" /><Relationship Type="http://schemas.openxmlformats.org/officeDocument/2006/relationships/tableStyles" Target="/ppt/tableStyles.xml" Id="Rc8374835cc664153" /><Relationship Type="http://schemas.openxmlformats.org/officeDocument/2006/relationships/slide" Target="/ppt/slides/slide1.xml" Id="R2d927debf6924a0f" /><Relationship Type="http://schemas.openxmlformats.org/officeDocument/2006/relationships/slide" Target="/ppt/slides/slide2.xml" Id="R693d8111d16943e3" /><Relationship Type="http://schemas.openxmlformats.org/officeDocument/2006/relationships/slide" Target="/ppt/slides/slide3.xml" Id="Rfa9612c3214a4489" /><Relationship Type="http://schemas.openxmlformats.org/officeDocument/2006/relationships/slide" Target="/ppt/slides/slide4.xml" Id="R8dd04751fb334bc8" /><Relationship Type="http://schemas.openxmlformats.org/officeDocument/2006/relationships/slide" Target="/ppt/slides/slide5.xml" Id="R4d43c5f6cab040c0" /><Relationship Type="http://schemas.openxmlformats.org/officeDocument/2006/relationships/slide" Target="/ppt/slides/slide6.xml" Id="R5075a85a66ea4fda" /><Relationship Type="http://schemas.openxmlformats.org/officeDocument/2006/relationships/slide" Target="/ppt/slides/slide7.xml" Id="R21193e93bc7442ff" /><Relationship Type="http://schemas.openxmlformats.org/officeDocument/2006/relationships/slide" Target="/ppt/slides/slide8.xml" Id="Ra47283f8decc4584" /><Relationship Type="http://schemas.openxmlformats.org/officeDocument/2006/relationships/slide" Target="/ppt/slides/slide9.xml" Id="Re76eb6c3667a4031" /><Relationship Type="http://schemas.openxmlformats.org/officeDocument/2006/relationships/slide" Target="/ppt/slides/slide10.xml" Id="R0cc86fbae3bc4e82" /><Relationship Type="http://schemas.openxmlformats.org/officeDocument/2006/relationships/slide" Target="/ppt/slides/slide11.xml" Id="R5ad1dcf2ceff426a" /><Relationship Type="http://schemas.openxmlformats.org/officeDocument/2006/relationships/slide" Target="/ppt/slides/slide12.xml" Id="R45875f8312da4665" /><Relationship Type="http://schemas.openxmlformats.org/officeDocument/2006/relationships/slide" Target="/ppt/slides/slide13.xml" Id="R32364a7cab364ebe" /><Relationship Type="http://schemas.openxmlformats.org/officeDocument/2006/relationships/slide" Target="/ppt/slides/slide14.xml" Id="R759a80bbe7114c2b" /><Relationship Type="http://schemas.openxmlformats.org/officeDocument/2006/relationships/slide" Target="/ppt/slides/slide15.xml" Id="Ref5bf9bfccad4ed5" /><Relationship Type="http://schemas.openxmlformats.org/officeDocument/2006/relationships/slide" Target="/ppt/slides/slide16.xml" Id="R833c980b09834085" /><Relationship Type="http://schemas.openxmlformats.org/officeDocument/2006/relationships/slide" Target="/ppt/slides/slide17.xml" Id="R32ea8a65eeac498d" /><Relationship Type="http://schemas.openxmlformats.org/officeDocument/2006/relationships/slide" Target="/ppt/slides/slide18.xml" Id="Rd2802e2e770e40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112f7a848b48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b6678ffa864a0a" /><Relationship Type="http://schemas.openxmlformats.org/officeDocument/2006/relationships/notesMaster" Target="/ppt/notesMasters/notesMaster1.xml" Id="R527a4783352c4c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437636c94041ff" /><Relationship Type="http://schemas.openxmlformats.org/officeDocument/2006/relationships/notesMaster" Target="/ppt/notesMasters/notesMaster1.xml" Id="R1c5160e7e11048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8888dbc0f44bda" /><Relationship Type="http://schemas.openxmlformats.org/officeDocument/2006/relationships/notesMaster" Target="/ppt/notesMasters/notesMaster1.xml" Id="R16b3caa1af9b48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324adb08fd478b" /><Relationship Type="http://schemas.openxmlformats.org/officeDocument/2006/relationships/notesMaster" Target="/ppt/notesMasters/notesMaster1.xml" Id="Re922baf95d2e4c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db8c085c284050" /><Relationship Type="http://schemas.openxmlformats.org/officeDocument/2006/relationships/notesMaster" Target="/ppt/notesMasters/notesMaster1.xml" Id="R117b6e9eed5a40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15d92bd7d94cd3" /><Relationship Type="http://schemas.openxmlformats.org/officeDocument/2006/relationships/notesMaster" Target="/ppt/notesMasters/notesMaster1.xml" Id="Rbb431d6791d144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f06311d7614b1a" /><Relationship Type="http://schemas.openxmlformats.org/officeDocument/2006/relationships/notesMaster" Target="/ppt/notesMasters/notesMaster1.xml" Id="R638e853a5e704d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c46f4e8de54db1" /><Relationship Type="http://schemas.openxmlformats.org/officeDocument/2006/relationships/notesMaster" Target="/ppt/notesMasters/notesMaster1.xml" Id="R2b5b294acc764d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5dc85010144214" /><Relationship Type="http://schemas.openxmlformats.org/officeDocument/2006/relationships/notesMaster" Target="/ppt/notesMasters/notesMaster1.xml" Id="R614118c6ead14c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36553b64464dca" /><Relationship Type="http://schemas.openxmlformats.org/officeDocument/2006/relationships/notesMaster" Target="/ppt/notesMasters/notesMaster1.xml" Id="Rd3ec9a0cb36047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c179736dd14cd5" /><Relationship Type="http://schemas.openxmlformats.org/officeDocument/2006/relationships/notesMaster" Target="/ppt/notesMasters/notesMaster1.xml" Id="Reca25c5fcb4e41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79edac96e54a03" /><Relationship Type="http://schemas.openxmlformats.org/officeDocument/2006/relationships/notesMaster" Target="/ppt/notesMasters/notesMaster1.xml" Id="Rfdbd3dadda894e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49925d73694c9d" /><Relationship Type="http://schemas.openxmlformats.org/officeDocument/2006/relationships/notesMaster" Target="/ppt/notesMasters/notesMaster1.xml" Id="Rd8724f1351964f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0789db862d44b4" /><Relationship Type="http://schemas.openxmlformats.org/officeDocument/2006/relationships/notesMaster" Target="/ppt/notesMasters/notesMaster1.xml" Id="Rb6c1ad4800a442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87b76ba3cd443e" /><Relationship Type="http://schemas.openxmlformats.org/officeDocument/2006/relationships/notesMaster" Target="/ppt/notesMasters/notesMaster1.xml" Id="R375ecd3bfa3a47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2907b078424f54" /><Relationship Type="http://schemas.openxmlformats.org/officeDocument/2006/relationships/notesMaster" Target="/ppt/notesMasters/notesMaster1.xml" Id="Rfb695bcadad4412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6df3e07db64f00" /><Relationship Type="http://schemas.openxmlformats.org/officeDocument/2006/relationships/notesMaster" Target="/ppt/notesMasters/notesMaster1.xml" Id="Rd2145dd834d744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e0045aa7434708" /><Relationship Type="http://schemas.openxmlformats.org/officeDocument/2006/relationships/notesMaster" Target="/ppt/notesMasters/notesMaster1.xml" Id="R717f85afb7aa46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- Activo visual interno: legal-segunda-oportunidad.webp.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- Activo visual interno: toldos.webp.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- Activo visual interno: inmobiliario.webp.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- Activo visual interno: logistica.webp.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- Activo visual interno: estetica.webp.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- Activo visual interno: coches.webp.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alcance B2B y reglas de aprobación humana.</a:t>
            </a:r>
          </a:p>
          <a:p xmlns:a="http://schemas.openxmlformats.org/drawingml/2006/main">
            <a:r>
              <a:t>- Fuente interna: app/ejecucion/catalog.ts y app/ejecucion/commercial.ts.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17b224fcb41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79140414334efb" /><Relationship Type="http://schemas.openxmlformats.org/officeDocument/2006/relationships/slideLayout" Target="/ppt/slideLayouts/slideLayout1.xml" Id="R52eb948c1bdc4f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eb948c1bdc4f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1aaf0157d4cf6" /><Relationship Type="http://schemas.openxmlformats.org/officeDocument/2006/relationships/image" Target="/ppt/media/image.bin" Id="R9175972117ed44b5" /><Relationship Type="http://schemas.openxmlformats.org/officeDocument/2006/relationships/notesSlide" Target="/ppt/notesSlides/notesSlide1.xml" Id="Rf6b85c342c6b46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228ff0753427a" /><Relationship Type="http://schemas.openxmlformats.org/officeDocument/2006/relationships/notesSlide" Target="/ppt/notesSlides/notesSlide2.xml" Id="Re3863b6b25d849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bbcaff6854cbc" /><Relationship Type="http://schemas.openxmlformats.org/officeDocument/2006/relationships/notesSlide" Target="/ppt/notesSlides/notesSlide3.xml" Id="Rc895fe6c961440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bfd33feec425e" /><Relationship Type="http://schemas.openxmlformats.org/officeDocument/2006/relationships/notesSlide" Target="/ppt/notesSlides/notesSlide4.xml" Id="R659ed4150a304e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1040fc42e4639" /><Relationship Type="http://schemas.openxmlformats.org/officeDocument/2006/relationships/notesSlide" Target="/ppt/notesSlides/notesSlide5.xml" Id="R31da58aae73146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4b233618e441c" /><Relationship Type="http://schemas.openxmlformats.org/officeDocument/2006/relationships/notesSlide" Target="/ppt/notesSlides/notesSlide6.xml" Id="Rf5a6dfbd37084f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7facf3f1e4c52" /><Relationship Type="http://schemas.openxmlformats.org/officeDocument/2006/relationships/notesSlide" Target="/ppt/notesSlides/notesSlide7.xml" Id="R8cf1d6f9a70241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939ddc44a4565" /><Relationship Type="http://schemas.openxmlformats.org/officeDocument/2006/relationships/image" Target="/ppt/media/image2.bin" Id="Ra4b2a816980f4497" /><Relationship Type="http://schemas.openxmlformats.org/officeDocument/2006/relationships/notesSlide" Target="/ppt/notesSlides/notesSlide8.xml" Id="R4a42e15e975a4c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54a0b1b1a469f" /><Relationship Type="http://schemas.openxmlformats.org/officeDocument/2006/relationships/image" Target="/ppt/media/image3.bin" Id="Rf05dfd672f774be4" /><Relationship Type="http://schemas.openxmlformats.org/officeDocument/2006/relationships/notesSlide" Target="/ppt/notesSlides/notesSlide9.xml" Id="R60659a559e0244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eabc24ea948bf" /><Relationship Type="http://schemas.openxmlformats.org/officeDocument/2006/relationships/image" Target="/ppt/media/image4.bin" Id="Rf54e5841025e4e3b" /><Relationship Type="http://schemas.openxmlformats.org/officeDocument/2006/relationships/notesSlide" Target="/ppt/notesSlides/notesSlide10.xml" Id="R7a6b6f2bf03c44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b8e7e414e4f7e" /><Relationship Type="http://schemas.openxmlformats.org/officeDocument/2006/relationships/image" Target="/ppt/media/image5.bin" Id="R4adb22349f3d47ae" /><Relationship Type="http://schemas.openxmlformats.org/officeDocument/2006/relationships/notesSlide" Target="/ppt/notesSlides/notesSlide11.xml" Id="R5eada9772f3c42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58f7a07344481" /><Relationship Type="http://schemas.openxmlformats.org/officeDocument/2006/relationships/image" Target="/ppt/media/image6.bin" Id="R74d2a5fccd3c44cd" /><Relationship Type="http://schemas.openxmlformats.org/officeDocument/2006/relationships/notesSlide" Target="/ppt/notesSlides/notesSlide12.xml" Id="R60ccc8f205ae49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0a957c13a4df7" /><Relationship Type="http://schemas.openxmlformats.org/officeDocument/2006/relationships/notesSlide" Target="/ppt/notesSlides/notesSlide13.xml" Id="R39752d1679174b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8e8b6092b4b3a" /><Relationship Type="http://schemas.openxmlformats.org/officeDocument/2006/relationships/notesSlide" Target="/ppt/notesSlides/notesSlide14.xml" Id="Rbaf3640ca2b64a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422608b7a4598" /><Relationship Type="http://schemas.openxmlformats.org/officeDocument/2006/relationships/notesSlide" Target="/ppt/notesSlides/notesSlide15.xml" Id="Re711d5c3e36d44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30830fb4645be" /><Relationship Type="http://schemas.openxmlformats.org/officeDocument/2006/relationships/notesSlide" Target="/ppt/notesSlides/notesSlide16.xml" Id="Rd12cbf72cb1e4e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33f0ed1fd45aa" /><Relationship Type="http://schemas.openxmlformats.org/officeDocument/2006/relationships/notesSlide" Target="/ppt/notesSlides/notesSlide17.xml" Id="R09b8884e4bd448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e7e4f673445dd" /><Relationship Type="http://schemas.openxmlformats.org/officeDocument/2006/relationships/notesSlide" Target="/ppt/notesSlides/notesSlide18.xml" Id="Rf71b162e2d0e4c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5972117ed44b5"/>
          <a:srcRect xmlns:a="http://schemas.openxmlformats.org/drawingml/2006/main" l="28906" t="0" r="289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ECBF19F8-B448-49B0-9B58-5026DA8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2476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D9B8A40-2CAE-464C-85F0-9D7699E7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0F413F2-D6D1-4304-8C9C-B9BBAF7D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FC1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FC1D7"/>
                </a:solidFill>
                <a:latin typeface="Arial"/>
                <a:ea typeface="Arial"/>
                <a:cs typeface="Arial"/>
              </a:rPr>
              <a:t>ACADEMIA INTERNA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ECCFEEA-F448-41A8-8209-8A1C6320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334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Caller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B2B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4B16F83-6C1B-411E-9371-64CAFA6F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E4F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E4F1"/>
                </a:solidFill>
                <a:latin typeface="Arial"/>
                <a:ea typeface="Arial"/>
                <a:cs typeface="Arial"/>
              </a:rPr>
              <a:t>De una lista fría a una reunión que merece la pena.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04D4104-AA5B-42F1-B9B7-502A7DA4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8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1A8C3"/>
                </a:solidFill>
                <a:latin typeface="Arial"/>
                <a:ea typeface="Arial"/>
                <a:cs typeface="Arial"/>
              </a:rPr>
              <a:t>Guiones · práctica · criterios · certificación</a:t>
            </a:r>
          </a:p>
        </p:txBody>
      </p:sp>
    </p:spTree>
    <p:extLst>
      <p:ext uri="{BB962C8B-B14F-4D97-AF65-F5344CB8AC3E}">
        <p14:creationId xmlns:p14="http://schemas.microsoft.com/office/powerpoint/2010/main" val="430551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8">
            <a:extLst xmlns:a="http://schemas.openxmlformats.org/drawingml/2006/main">
              <a:ext uri="{FF2B5EF4-FFF2-40B4-BE49-F238E27FC236}">
                <a16:creationId xmlns:a16="http://schemas.microsoft.com/office/drawing/2014/main" id="{AA82D396-F932-4D94-9B3E-83F145D8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9">
            <a:extLst xmlns:a="http://schemas.openxmlformats.org/drawingml/2006/main">
              <a:ext uri="{FF2B5EF4-FFF2-40B4-BE49-F238E27FC236}">
                <a16:creationId xmlns:a16="http://schemas.microsoft.com/office/drawing/2014/main" id="{CAEFC7C1-8609-422D-90B7-D1D2959E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ACADEMIA CALLER</a:t>
            </a:r>
          </a:p>
        </p:txBody>
      </p:sp>
      <p:sp>
        <p:nvSpPr>
          <p:cNvPr id="3" name="text-10">
            <a:extLst xmlns:a="http://schemas.openxmlformats.org/drawingml/2006/main">
              <a:ext uri="{FF2B5EF4-FFF2-40B4-BE49-F238E27FC236}">
                <a16:creationId xmlns:a16="http://schemas.microsoft.com/office/drawing/2014/main" id="{3BD158CA-763D-4811-9109-072DE16B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11">
            <a:extLst xmlns:a="http://schemas.openxmlformats.org/drawingml/2006/main">
              <a:ext uri="{FF2B5EF4-FFF2-40B4-BE49-F238E27FC236}">
                <a16:creationId xmlns:a16="http://schemas.microsoft.com/office/drawing/2014/main" id="{001CF714-3131-4DF6-BB22-AF29FFB7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El caller no vende publicidad; consigue claridad</a:t>
            </a:r>
          </a:p>
        </p:txBody>
      </p:sp>
      <p:sp>
        <p:nvSpPr>
          <p:cNvPr id="5" name="rule-12">
            <a:extLst xmlns:a="http://schemas.openxmlformats.org/drawingml/2006/main">
              <a:ext uri="{FF2B5EF4-FFF2-40B4-BE49-F238E27FC236}">
                <a16:creationId xmlns:a16="http://schemas.microsoft.com/office/drawing/2014/main" id="{B00E388F-B01A-4D46-9DC1-53BEF7FC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13">
            <a:extLst xmlns:a="http://schemas.openxmlformats.org/drawingml/2006/main">
              <a:ext uri="{FF2B5EF4-FFF2-40B4-BE49-F238E27FC236}">
                <a16:creationId xmlns:a16="http://schemas.microsoft.com/office/drawing/2014/main" id="{705D8CAF-6A2E-4BC7-91CC-C7B7CF06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Su trabajo</a:t>
            </a:r>
          </a:p>
        </p:txBody>
      </p:sp>
      <p:sp>
        <p:nvSpPr>
          <p:cNvPr id="7" name="text-14">
            <a:extLst xmlns:a="http://schemas.openxmlformats.org/drawingml/2006/main">
              <a:ext uri="{FF2B5EF4-FFF2-40B4-BE49-F238E27FC236}">
                <a16:creationId xmlns:a16="http://schemas.microsoft.com/office/drawing/2014/main" id="{2E213C1C-AE2E-41F4-AC46-32A0414E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Confirmar si existe una prioridad, una capacidad real y un decisor dispuesto a revisar el sistema.</a:t>
            </a:r>
          </a:p>
        </p:txBody>
      </p:sp>
      <p:sp>
        <p:nvSpPr>
          <p:cNvPr id="8" name="shape-15">
            <a:extLst xmlns:a="http://schemas.openxmlformats.org/drawingml/2006/main">
              <a:ext uri="{FF2B5EF4-FFF2-40B4-BE49-F238E27FC236}">
                <a16:creationId xmlns:a16="http://schemas.microsoft.com/office/drawing/2014/main" id="{92C1FAD5-9E00-4A90-BFCE-0D5E2164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5448300" cy="3276600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16">
            <a:extLst xmlns:a="http://schemas.openxmlformats.org/drawingml/2006/main">
              <a:ext uri="{FF2B5EF4-FFF2-40B4-BE49-F238E27FC236}">
                <a16:creationId xmlns:a16="http://schemas.microsoft.com/office/drawing/2014/main" id="{26CA8AD0-E26D-42BB-A480-22C2D8A3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No es su trabajo</a:t>
            </a:r>
          </a:p>
        </p:txBody>
      </p:sp>
      <p:sp>
        <p:nvSpPr>
          <p:cNvPr id="10" name="shape-17">
            <a:extLst xmlns:a="http://schemas.openxmlformats.org/drawingml/2006/main">
              <a:ext uri="{FF2B5EF4-FFF2-40B4-BE49-F238E27FC236}">
                <a16:creationId xmlns:a16="http://schemas.microsoft.com/office/drawing/2014/main" id="{A27FC4AE-209B-4DC0-A393-E6317318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3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8">
            <a:extLst xmlns:a="http://schemas.openxmlformats.org/drawingml/2006/main">
              <a:ext uri="{FF2B5EF4-FFF2-40B4-BE49-F238E27FC236}">
                <a16:creationId xmlns:a16="http://schemas.microsoft.com/office/drawing/2014/main" id="{DF88DF1C-80EE-4103-B49B-9DF68860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105150"/>
            <a:ext cx="4257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Explicar todos los servicios.</a:t>
            </a:r>
          </a:p>
        </p:txBody>
      </p:sp>
      <p:sp>
        <p:nvSpPr>
          <p:cNvPr id="12" name="shape-19">
            <a:extLst xmlns:a="http://schemas.openxmlformats.org/drawingml/2006/main">
              <a:ext uri="{FF2B5EF4-FFF2-40B4-BE49-F238E27FC236}">
                <a16:creationId xmlns:a16="http://schemas.microsoft.com/office/drawing/2014/main" id="{45C5EDAE-E71E-447F-A188-38C93010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3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20">
            <a:extLst xmlns:a="http://schemas.openxmlformats.org/drawingml/2006/main">
              <a:ext uri="{FF2B5EF4-FFF2-40B4-BE49-F238E27FC236}">
                <a16:creationId xmlns:a16="http://schemas.microsoft.com/office/drawing/2014/main" id="{F7C306DB-E56E-4DE6-9F7C-08677185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629025"/>
            <a:ext cx="4257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Discutir precios sin diagnóstico.</a:t>
            </a:r>
          </a:p>
        </p:txBody>
      </p:sp>
      <p:sp>
        <p:nvSpPr>
          <p:cNvPr id="14" name="shape-21">
            <a:extLst xmlns:a="http://schemas.openxmlformats.org/drawingml/2006/main">
              <a:ext uri="{FF2B5EF4-FFF2-40B4-BE49-F238E27FC236}">
                <a16:creationId xmlns:a16="http://schemas.microsoft.com/office/drawing/2014/main" id="{B8B1A8E0-631D-4880-9AD1-B47CDD07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3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22">
            <a:extLst xmlns:a="http://schemas.openxmlformats.org/drawingml/2006/main">
              <a:ext uri="{FF2B5EF4-FFF2-40B4-BE49-F238E27FC236}">
                <a16:creationId xmlns:a16="http://schemas.microsoft.com/office/drawing/2014/main" id="{073DE737-9358-416A-832B-F6A6FEA6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152900"/>
            <a:ext cx="4257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Prometer leads, ventas o plazos.</a:t>
            </a:r>
          </a:p>
        </p:txBody>
      </p:sp>
      <p:sp>
        <p:nvSpPr>
          <p:cNvPr id="16" name="shape-23">
            <a:extLst xmlns:a="http://schemas.openxmlformats.org/drawingml/2006/main">
              <a:ext uri="{FF2B5EF4-FFF2-40B4-BE49-F238E27FC236}">
                <a16:creationId xmlns:a16="http://schemas.microsoft.com/office/drawing/2014/main" id="{B3D4A6F1-EB48-447B-BD31-D39CCB1E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52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3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24">
            <a:extLst xmlns:a="http://schemas.openxmlformats.org/drawingml/2006/main">
              <a:ext uri="{FF2B5EF4-FFF2-40B4-BE49-F238E27FC236}">
                <a16:creationId xmlns:a16="http://schemas.microsoft.com/office/drawing/2014/main" id="{4BC818BE-B701-4FD2-87D8-F3F6B954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676775"/>
            <a:ext cx="4257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Forzar una reunión sin encaje.</a:t>
            </a:r>
          </a:p>
        </p:txBody>
      </p:sp>
    </p:spTree>
    <p:extLst>
      <p:ext uri="{BB962C8B-B14F-4D97-AF65-F5344CB8AC3E}">
        <p14:creationId xmlns:p14="http://schemas.microsoft.com/office/powerpoint/2010/main" val="1128926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25">
            <a:extLst xmlns:a="http://schemas.openxmlformats.org/drawingml/2006/main">
              <a:ext uri="{FF2B5EF4-FFF2-40B4-BE49-F238E27FC236}">
                <a16:creationId xmlns:a16="http://schemas.microsoft.com/office/drawing/2014/main" id="{6C82857B-8D2D-4E8A-9AC6-A60C6C88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26">
            <a:extLst xmlns:a="http://schemas.openxmlformats.org/drawingml/2006/main">
              <a:ext uri="{FF2B5EF4-FFF2-40B4-BE49-F238E27FC236}">
                <a16:creationId xmlns:a16="http://schemas.microsoft.com/office/drawing/2014/main" id="{E19FC913-617E-444C-9688-E69BFC40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ANATOMÍA</a:t>
            </a:r>
          </a:p>
        </p:txBody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7BC11106-2DD7-422E-8D82-A70F6022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AC4E5E53-ABA2-4726-8007-BAD4FC4E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Una apertura fuerte cabe en 25 segundos</a:t>
            </a:r>
          </a:p>
        </p:txBody>
      </p:sp>
      <p:sp>
        <p:nvSpPr>
          <p:cNvPr id="5" name="rule-29">
            <a:extLst xmlns:a="http://schemas.openxmlformats.org/drawingml/2006/main">
              <a:ext uri="{FF2B5EF4-FFF2-40B4-BE49-F238E27FC236}">
                <a16:creationId xmlns:a16="http://schemas.microsoft.com/office/drawing/2014/main" id="{9A27F747-CFEC-40D8-A879-CAAEA326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30">
            <a:extLst xmlns:a="http://schemas.openxmlformats.org/drawingml/2006/main">
              <a:ext uri="{FF2B5EF4-FFF2-40B4-BE49-F238E27FC236}">
                <a16:creationId xmlns:a16="http://schemas.microsoft.com/office/drawing/2014/main" id="{891967F6-F7E5-401B-A66B-55708C09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ule-31">
            <a:extLst xmlns:a="http://schemas.openxmlformats.org/drawingml/2006/main">
              <a:ext uri="{FF2B5EF4-FFF2-40B4-BE49-F238E27FC236}">
                <a16:creationId xmlns:a16="http://schemas.microsoft.com/office/drawing/2014/main" id="{DA7494DF-0371-476C-B131-AEB4EC75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13A"/>
            </a:solidFill>
            <a:prstDash val="solid"/>
          </a:ln>
        </p:spPr>
      </p:sp>
      <p:sp>
        <p:nvSpPr>
          <p:cNvPr id="8" name="text-32">
            <a:extLst xmlns:a="http://schemas.openxmlformats.org/drawingml/2006/main">
              <a:ext uri="{FF2B5EF4-FFF2-40B4-BE49-F238E27FC236}">
                <a16:creationId xmlns:a16="http://schemas.microsoft.com/office/drawing/2014/main" id="{F3C05F7C-5122-4D2A-8E78-EDFE4BFF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Identidad</a:t>
            </a:r>
          </a:p>
        </p:txBody>
      </p:sp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7B3AB6A6-3C90-4547-BEC4-6D4271B6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2343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Quién eres y desde dónde llamas.</a:t>
            </a:r>
          </a:p>
        </p:txBody>
      </p:sp>
      <p:sp>
        <p:nvSpPr>
          <p:cNvPr id="10" name="text-34">
            <a:extLst xmlns:a="http://schemas.openxmlformats.org/drawingml/2006/main">
              <a:ext uri="{FF2B5EF4-FFF2-40B4-BE49-F238E27FC236}">
                <a16:creationId xmlns:a16="http://schemas.microsoft.com/office/drawing/2014/main" id="{B4944E84-C263-4FD0-B2B2-1E7FF7E2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ule-35">
            <a:extLst xmlns:a="http://schemas.openxmlformats.org/drawingml/2006/main">
              <a:ext uri="{FF2B5EF4-FFF2-40B4-BE49-F238E27FC236}">
                <a16:creationId xmlns:a16="http://schemas.microsoft.com/office/drawing/2014/main" id="{5BA375BE-237F-4B35-8F6D-D7245282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241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13A"/>
            </a:solidFill>
            <a:prstDash val="solid"/>
          </a:ln>
        </p:spPr>
      </p:sp>
      <p:sp>
        <p:nvSpPr>
          <p:cNvPr id="12" name="text-36">
            <a:extLst xmlns:a="http://schemas.openxmlformats.org/drawingml/2006/main">
              <a:ext uri="{FF2B5EF4-FFF2-40B4-BE49-F238E27FC236}">
                <a16:creationId xmlns:a16="http://schemas.microsoft.com/office/drawing/2014/main" id="{21588BA6-FA6D-425E-86D4-7E406CFE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718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13" name="text-37">
            <a:extLst xmlns:a="http://schemas.openxmlformats.org/drawingml/2006/main">
              <a:ext uri="{FF2B5EF4-FFF2-40B4-BE49-F238E27FC236}">
                <a16:creationId xmlns:a16="http://schemas.microsoft.com/office/drawing/2014/main" id="{6169067C-F882-44FF-A4ED-4164BC7E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48050"/>
            <a:ext cx="2343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La línea concreta por la que llamas.</a:t>
            </a:r>
          </a:p>
        </p:txBody>
      </p:sp>
      <p:sp>
        <p:nvSpPr>
          <p:cNvPr id="14" name="text-38">
            <a:extLst xmlns:a="http://schemas.openxmlformats.org/drawingml/2006/main">
              <a:ext uri="{FF2B5EF4-FFF2-40B4-BE49-F238E27FC236}">
                <a16:creationId xmlns:a16="http://schemas.microsoft.com/office/drawing/2014/main" id="{F56D0C3E-2978-4954-B895-01D7DF1B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ule-39">
            <a:extLst xmlns:a="http://schemas.openxmlformats.org/drawingml/2006/main">
              <a:ext uri="{FF2B5EF4-FFF2-40B4-BE49-F238E27FC236}">
                <a16:creationId xmlns:a16="http://schemas.microsoft.com/office/drawing/2014/main" id="{02A8DDAD-D7FC-4465-A820-161CE9F5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13A"/>
            </a:solidFill>
            <a:prstDash val="solid"/>
          </a:ln>
        </p:spPr>
      </p:sp>
      <p:sp>
        <p:nvSpPr>
          <p:cNvPr id="16" name="text-40">
            <a:extLst xmlns:a="http://schemas.openxmlformats.org/drawingml/2006/main">
              <a:ext uri="{FF2B5EF4-FFF2-40B4-BE49-F238E27FC236}">
                <a16:creationId xmlns:a16="http://schemas.microsoft.com/office/drawing/2014/main" id="{03DCC1E2-981B-44C5-B121-2FCFC19D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Relevancia</a:t>
            </a:r>
          </a:p>
        </p:txBody>
      </p: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6EFA93FF-3D95-4DD9-B9C7-CE3B8E1C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2343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Qué resultado ayudamos a ordenar.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E0518E5B-6EE6-4B21-A281-DCA12838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6695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ule-43">
            <a:extLst xmlns:a="http://schemas.openxmlformats.org/drawingml/2006/main">
              <a:ext uri="{FF2B5EF4-FFF2-40B4-BE49-F238E27FC236}">
                <a16:creationId xmlns:a16="http://schemas.microsoft.com/office/drawing/2014/main" id="{5170AA12-5225-41D7-92AE-999F9FAA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241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13A"/>
            </a:solidFill>
            <a:prstDash val="solid"/>
          </a:ln>
        </p:spPr>
      </p:sp>
      <p:sp>
        <p:nvSpPr>
          <p:cNvPr id="20" name="text-44">
            <a:extLst xmlns:a="http://schemas.openxmlformats.org/drawingml/2006/main">
              <a:ext uri="{FF2B5EF4-FFF2-40B4-BE49-F238E27FC236}">
                <a16:creationId xmlns:a16="http://schemas.microsoft.com/office/drawing/2014/main" id="{D248C46C-F76C-4971-AC19-722E8F61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718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Pregunta</a:t>
            </a:r>
          </a:p>
        </p:txBody>
      </p:sp>
      <p:sp>
        <p:nvSpPr>
          <p:cNvPr id="21" name="text-45">
            <a:extLst xmlns:a="http://schemas.openxmlformats.org/drawingml/2006/main">
              <a:ext uri="{FF2B5EF4-FFF2-40B4-BE49-F238E27FC236}">
                <a16:creationId xmlns:a16="http://schemas.microsoft.com/office/drawing/2014/main" id="{594D91AF-BE11-4F77-9B25-BEC18143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48050"/>
            <a:ext cx="2343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Si es prioridad o no en este momento.</a:t>
            </a:r>
          </a:p>
        </p:txBody>
      </p:sp>
      <p:sp>
        <p:nvSpPr>
          <p:cNvPr id="22" name="shape-46">
            <a:extLst xmlns:a="http://schemas.openxmlformats.org/drawingml/2006/main">
              <a:ext uri="{FF2B5EF4-FFF2-40B4-BE49-F238E27FC236}">
                <a16:creationId xmlns:a16="http://schemas.microsoft.com/office/drawing/2014/main" id="{42BC40D3-E2D2-49FC-847E-D2C5E4D4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1125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47">
            <a:extLst xmlns:a="http://schemas.openxmlformats.org/drawingml/2006/main">
              <a:ext uri="{FF2B5EF4-FFF2-40B4-BE49-F238E27FC236}">
                <a16:creationId xmlns:a16="http://schemas.microsoft.com/office/drawing/2014/main" id="{F1CCD7CB-EC1F-40BD-A2BD-B2889502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1055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“¿Te pillo con 30 segundos?” no es una muletilla: devuelve control y reduce resistencia.</a:t>
            </a:r>
          </a:p>
        </p:txBody>
      </p:sp>
    </p:spTree>
    <p:extLst>
      <p:ext uri="{BB962C8B-B14F-4D97-AF65-F5344CB8AC3E}">
        <p14:creationId xmlns:p14="http://schemas.microsoft.com/office/powerpoint/2010/main" val="16784656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48">
            <a:extLst xmlns:a="http://schemas.openxmlformats.org/drawingml/2006/main">
              <a:ext uri="{FF2B5EF4-FFF2-40B4-BE49-F238E27FC236}">
                <a16:creationId xmlns:a16="http://schemas.microsoft.com/office/drawing/2014/main" id="{BC469559-0CCE-470B-A134-C5DEBB41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49">
            <a:extLst xmlns:a="http://schemas.openxmlformats.org/drawingml/2006/main">
              <a:ext uri="{FF2B5EF4-FFF2-40B4-BE49-F238E27FC236}">
                <a16:creationId xmlns:a16="http://schemas.microsoft.com/office/drawing/2014/main" id="{A19111E5-0B90-40A6-9DFE-3E09C1B2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FLUJO DE LLAMADA</a:t>
            </a:r>
          </a:p>
        </p:txBody>
      </p:sp>
      <p:sp>
        <p:nvSpPr>
          <p:cNvPr id="3" name="text-50">
            <a:extLst xmlns:a="http://schemas.openxmlformats.org/drawingml/2006/main">
              <a:ext uri="{FF2B5EF4-FFF2-40B4-BE49-F238E27FC236}">
                <a16:creationId xmlns:a16="http://schemas.microsoft.com/office/drawing/2014/main" id="{FD1C0AA4-6EE9-4D03-B218-F37B181C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51">
            <a:extLst xmlns:a="http://schemas.openxmlformats.org/drawingml/2006/main">
              <a:ext uri="{FF2B5EF4-FFF2-40B4-BE49-F238E27FC236}">
                <a16:creationId xmlns:a16="http://schemas.microsoft.com/office/drawing/2014/main" id="{BF20F8BE-4876-4540-9E3F-D684465D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Cada llamada debe recorrer cuatro decisiones</a:t>
            </a:r>
          </a:p>
        </p:txBody>
      </p:sp>
      <p:sp>
        <p:nvSpPr>
          <p:cNvPr id="5" name="rule-52">
            <a:extLst xmlns:a="http://schemas.openxmlformats.org/drawingml/2006/main">
              <a:ext uri="{FF2B5EF4-FFF2-40B4-BE49-F238E27FC236}">
                <a16:creationId xmlns:a16="http://schemas.microsoft.com/office/drawing/2014/main" id="{01753F57-EDF1-4B35-948B-59D2690D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rule-53">
            <a:extLst xmlns:a="http://schemas.openxmlformats.org/drawingml/2006/main">
              <a:ext uri="{FF2B5EF4-FFF2-40B4-BE49-F238E27FC236}">
                <a16:creationId xmlns:a16="http://schemas.microsoft.com/office/drawing/2014/main" id="{D399747D-1346-4AF7-B277-30824417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13A"/>
            </a:solidFill>
            <a:prstDash val="solid"/>
          </a:ln>
        </p:spPr>
      </p:sp>
      <p:sp>
        <p:nvSpPr>
          <p:cNvPr id="7" name="shape-54">
            <a:extLst xmlns:a="http://schemas.openxmlformats.org/drawingml/2006/main">
              <a:ext uri="{FF2B5EF4-FFF2-40B4-BE49-F238E27FC236}">
                <a16:creationId xmlns:a16="http://schemas.microsoft.com/office/drawing/2014/main" id="{B6D4168F-A350-4A8C-9A55-1B44700F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051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55">
            <a:extLst xmlns:a="http://schemas.openxmlformats.org/drawingml/2006/main">
              <a:ext uri="{FF2B5EF4-FFF2-40B4-BE49-F238E27FC236}">
                <a16:creationId xmlns:a16="http://schemas.microsoft.com/office/drawing/2014/main" id="{F1E5CA55-51BE-4EE6-AFCA-863BD50E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051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PERMISO</a:t>
            </a:r>
          </a:p>
        </p:txBody>
      </p:sp>
      <p:sp>
        <p:nvSpPr>
          <p:cNvPr id="9" name="text-56">
            <a:extLst xmlns:a="http://schemas.openxmlformats.org/drawingml/2006/main">
              <a:ext uri="{FF2B5EF4-FFF2-40B4-BE49-F238E27FC236}">
                <a16:creationId xmlns:a16="http://schemas.microsoft.com/office/drawing/2014/main" id="{1E7B999C-A5C0-48B2-80E0-E44585D4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6200"/>
            <a:ext cx="2400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¿Puede escuchar?</a:t>
            </a:r>
          </a:p>
        </p:txBody>
      </p:sp>
      <p:sp>
        <p:nvSpPr>
          <p:cNvPr id="10" name="shape-57">
            <a:extLst xmlns:a="http://schemas.openxmlformats.org/drawingml/2006/main">
              <a:ext uri="{FF2B5EF4-FFF2-40B4-BE49-F238E27FC236}">
                <a16:creationId xmlns:a16="http://schemas.microsoft.com/office/drawing/2014/main" id="{8ADF91EC-8B10-44AC-8954-5A827212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58">
            <a:extLst xmlns:a="http://schemas.openxmlformats.org/drawingml/2006/main">
              <a:ext uri="{FF2B5EF4-FFF2-40B4-BE49-F238E27FC236}">
                <a16:creationId xmlns:a16="http://schemas.microsoft.com/office/drawing/2014/main" id="{7731BDFD-DF60-4EF6-801E-F0F20BEA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051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PRIORIDAD</a:t>
            </a:r>
          </a:p>
        </p:txBody>
      </p:sp>
      <p:sp>
        <p:nvSpPr>
          <p:cNvPr id="12" name="text-59">
            <a:extLst xmlns:a="http://schemas.openxmlformats.org/drawingml/2006/main">
              <a:ext uri="{FF2B5EF4-FFF2-40B4-BE49-F238E27FC236}">
                <a16:creationId xmlns:a16="http://schemas.microsoft.com/office/drawing/2014/main" id="{21CCB2A9-1E5D-45B3-B494-F0082E01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886200"/>
            <a:ext cx="2400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¿Quiere crecer ahí?</a:t>
            </a:r>
          </a:p>
        </p:txBody>
      </p:sp>
      <p:sp>
        <p:nvSpPr>
          <p:cNvPr id="13" name="shape-60">
            <a:extLst xmlns:a="http://schemas.openxmlformats.org/drawingml/2006/main">
              <a:ext uri="{FF2B5EF4-FFF2-40B4-BE49-F238E27FC236}">
                <a16:creationId xmlns:a16="http://schemas.microsoft.com/office/drawing/2014/main" id="{91B8CE59-E037-4B14-A58D-E3F79AD8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051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61">
            <a:extLst xmlns:a="http://schemas.openxmlformats.org/drawingml/2006/main">
              <a:ext uri="{FF2B5EF4-FFF2-40B4-BE49-F238E27FC236}">
                <a16:creationId xmlns:a16="http://schemas.microsoft.com/office/drawing/2014/main" id="{DCA8E117-A78C-4A9C-963E-9D190F77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7051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ENCAJE</a:t>
            </a:r>
          </a:p>
        </p:txBody>
      </p:sp>
      <p:sp>
        <p:nvSpPr>
          <p:cNvPr id="15" name="text-62">
            <a:extLst xmlns:a="http://schemas.openxmlformats.org/drawingml/2006/main">
              <a:ext uri="{FF2B5EF4-FFF2-40B4-BE49-F238E27FC236}">
                <a16:creationId xmlns:a16="http://schemas.microsoft.com/office/drawing/2014/main" id="{F4F0E122-EB6D-4A51-813D-2C24AD6B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2400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¿Puede absorberlo?</a:t>
            </a:r>
          </a:p>
        </p:txBody>
      </p:sp>
      <p:sp>
        <p:nvSpPr>
          <p:cNvPr id="16" name="shape-63">
            <a:extLst xmlns:a="http://schemas.openxmlformats.org/drawingml/2006/main">
              <a:ext uri="{FF2B5EF4-FFF2-40B4-BE49-F238E27FC236}">
                <a16:creationId xmlns:a16="http://schemas.microsoft.com/office/drawing/2014/main" id="{A14256CE-0DA7-414C-B5C7-9309A12E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0517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64">
            <a:extLst xmlns:a="http://schemas.openxmlformats.org/drawingml/2006/main">
              <a:ext uri="{FF2B5EF4-FFF2-40B4-BE49-F238E27FC236}">
                <a16:creationId xmlns:a16="http://schemas.microsoft.com/office/drawing/2014/main" id="{54ACD6C6-57D6-4D8F-B18B-8435DB00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051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18" name="text-65">
            <a:extLst xmlns:a="http://schemas.openxmlformats.org/drawingml/2006/main">
              <a:ext uri="{FF2B5EF4-FFF2-40B4-BE49-F238E27FC236}">
                <a16:creationId xmlns:a16="http://schemas.microsoft.com/office/drawing/2014/main" id="{9FCB88A5-8BE0-42FB-9787-9D6DEC9B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886200"/>
            <a:ext cx="2400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¿Quién decide y cuándo?</a:t>
            </a:r>
          </a:p>
        </p:txBody>
      </p:sp>
      <p:sp>
        <p:nvSpPr>
          <p:cNvPr id="19" name="text-66">
            <a:extLst xmlns:a="http://schemas.openxmlformats.org/drawingml/2006/main">
              <a:ext uri="{FF2B5EF4-FFF2-40B4-BE49-F238E27FC236}">
                <a16:creationId xmlns:a16="http://schemas.microsoft.com/office/drawing/2014/main" id="{9EBC5492-C811-4346-804A-570AAA9E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19700"/>
            <a:ext cx="681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Si una decisión es negativa, el caller registra y sale con respeto.</a:t>
            </a:r>
          </a:p>
        </p:txBody>
      </p:sp>
    </p:spTree>
    <p:extLst>
      <p:ext uri="{BB962C8B-B14F-4D97-AF65-F5344CB8AC3E}">
        <p14:creationId xmlns:p14="http://schemas.microsoft.com/office/powerpoint/2010/main" val="1705810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67">
            <a:extLst xmlns:a="http://schemas.openxmlformats.org/drawingml/2006/main">
              <a:ext uri="{FF2B5EF4-FFF2-40B4-BE49-F238E27FC236}">
                <a16:creationId xmlns:a16="http://schemas.microsoft.com/office/drawing/2014/main" id="{7A9669CE-148A-44B6-B4F2-1249FA88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68">
            <a:extLst xmlns:a="http://schemas.openxmlformats.org/drawingml/2006/main">
              <a:ext uri="{FF2B5EF4-FFF2-40B4-BE49-F238E27FC236}">
                <a16:creationId xmlns:a16="http://schemas.microsoft.com/office/drawing/2014/main" id="{3B33CE75-BF54-4E00-9B24-2D116465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ÁRBOL DE CONVERSACIÓN</a:t>
            </a:r>
          </a:p>
        </p:txBody>
      </p:sp>
      <p:sp>
        <p:nvSpPr>
          <p:cNvPr id="3" name="text-69">
            <a:extLst xmlns:a="http://schemas.openxmlformats.org/drawingml/2006/main">
              <a:ext uri="{FF2B5EF4-FFF2-40B4-BE49-F238E27FC236}">
                <a16:creationId xmlns:a16="http://schemas.microsoft.com/office/drawing/2014/main" id="{833C624D-160C-47A4-AA3B-F20E364C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70">
            <a:extLst xmlns:a="http://schemas.openxmlformats.org/drawingml/2006/main">
              <a:ext uri="{FF2B5EF4-FFF2-40B4-BE49-F238E27FC236}">
                <a16:creationId xmlns:a16="http://schemas.microsoft.com/office/drawing/2014/main" id="{79A32FE7-17F9-4197-9177-1185C324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Escucha la respuesta y elige una sola rama</a:t>
            </a:r>
          </a:p>
        </p:txBody>
      </p:sp>
      <p:sp>
        <p:nvSpPr>
          <p:cNvPr id="5" name="rule-71">
            <a:extLst xmlns:a="http://schemas.openxmlformats.org/drawingml/2006/main">
              <a:ext uri="{FF2B5EF4-FFF2-40B4-BE49-F238E27FC236}">
                <a16:creationId xmlns:a16="http://schemas.microsoft.com/office/drawing/2014/main" id="{2FB36E0C-75FA-42B2-8EA1-E03995B9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72">
            <a:extLst xmlns:a="http://schemas.openxmlformats.org/drawingml/2006/main">
              <a:ext uri="{FF2B5EF4-FFF2-40B4-BE49-F238E27FC236}">
                <a16:creationId xmlns:a16="http://schemas.microsoft.com/office/drawing/2014/main" id="{0C119280-B479-43D7-A32E-3690410E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¿Es prioridad?</a:t>
            </a:r>
          </a:p>
        </p:txBody>
      </p:sp>
      <p:sp>
        <p:nvSpPr>
          <p:cNvPr id="7" name="rule-73">
            <a:extLst xmlns:a="http://schemas.openxmlformats.org/drawingml/2006/main">
              <a:ext uri="{FF2B5EF4-FFF2-40B4-BE49-F238E27FC236}">
                <a16:creationId xmlns:a16="http://schemas.microsoft.com/office/drawing/2014/main" id="{D0B1BBCF-8BD8-4A77-85CF-945A10B4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098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8" name="rule-74">
            <a:extLst xmlns:a="http://schemas.openxmlformats.org/drawingml/2006/main">
              <a:ext uri="{FF2B5EF4-FFF2-40B4-BE49-F238E27FC236}">
                <a16:creationId xmlns:a16="http://schemas.microsoft.com/office/drawing/2014/main" id="{5BE701EF-63E1-4671-B59C-A5E19F70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098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9" name="shape-75">
            <a:extLst xmlns:a="http://schemas.openxmlformats.org/drawingml/2006/main">
              <a:ext uri="{FF2B5EF4-FFF2-40B4-BE49-F238E27FC236}">
                <a16:creationId xmlns:a16="http://schemas.microsoft.com/office/drawing/2014/main" id="{B641D13E-08B8-49C5-B6C7-DC58911D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1162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38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76">
            <a:extLst xmlns:a="http://schemas.openxmlformats.org/drawingml/2006/main">
              <a:ext uri="{FF2B5EF4-FFF2-40B4-BE49-F238E27FC236}">
                <a16:creationId xmlns:a16="http://schemas.microsoft.com/office/drawing/2014/main" id="{6CE0653A-B76C-4AB1-8CCF-E96567DA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SÍ</a:t>
            </a:r>
          </a:p>
        </p:txBody>
      </p:sp>
      <p:sp>
        <p:nvSpPr>
          <p:cNvPr id="11" name="text-77">
            <a:extLst xmlns:a="http://schemas.openxmlformats.org/drawingml/2006/main">
              <a:ext uri="{FF2B5EF4-FFF2-40B4-BE49-F238E27FC236}">
                <a16:creationId xmlns:a16="http://schemas.microsoft.com/office/drawing/2014/main" id="{5EADB2E8-DB97-4189-8F24-814D9060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955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45"/>
                </a:solidFill>
                <a:latin typeface="Arial"/>
                <a:ea typeface="Arial"/>
                <a:cs typeface="Arial"/>
              </a:rPr>
              <a:t>Cualifica capacidad, resultado y decisor.</a:t>
            </a:r>
          </a:p>
        </p:txBody>
      </p:sp>
      <p:sp>
        <p:nvSpPr>
          <p:cNvPr id="12" name="shape-78">
            <a:extLst xmlns:a="http://schemas.openxmlformats.org/drawingml/2006/main">
              <a:ext uri="{FF2B5EF4-FFF2-40B4-BE49-F238E27FC236}">
                <a16:creationId xmlns:a16="http://schemas.microsoft.com/office/drawing/2014/main" id="{7AE86A19-4959-4462-B8C1-95473A5E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1162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79">
            <a:extLst xmlns:a="http://schemas.openxmlformats.org/drawingml/2006/main">
              <a:ext uri="{FF2B5EF4-FFF2-40B4-BE49-F238E27FC236}">
                <a16:creationId xmlns:a16="http://schemas.microsoft.com/office/drawing/2014/main" id="{8D0EEE05-6DDF-40C2-9948-6E52D8F5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909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TAL VEZ</a:t>
            </a:r>
          </a:p>
        </p:txBody>
      </p:sp>
      <p:sp>
        <p:nvSpPr>
          <p:cNvPr id="14" name="text-80">
            <a:extLst xmlns:a="http://schemas.openxmlformats.org/drawingml/2006/main">
              <a:ext uri="{FF2B5EF4-FFF2-40B4-BE49-F238E27FC236}">
                <a16:creationId xmlns:a16="http://schemas.microsoft.com/office/drawing/2014/main" id="{DB3F8656-C39C-4268-B726-97A29904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956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Aterriza el momento y el dato que falta.</a:t>
            </a:r>
          </a:p>
        </p:txBody>
      </p:sp>
      <p:sp>
        <p:nvSpPr>
          <p:cNvPr id="15" name="shape-81">
            <a:extLst xmlns:a="http://schemas.openxmlformats.org/drawingml/2006/main">
              <a:ext uri="{FF2B5EF4-FFF2-40B4-BE49-F238E27FC236}">
                <a16:creationId xmlns:a16="http://schemas.microsoft.com/office/drawing/2014/main" id="{84F6D978-AE47-4B48-97D4-F752AC48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95800"/>
            <a:ext cx="1162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23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82">
            <a:extLst xmlns:a="http://schemas.openxmlformats.org/drawingml/2006/main">
              <a:ext uri="{FF2B5EF4-FFF2-40B4-BE49-F238E27FC236}">
                <a16:creationId xmlns:a16="http://schemas.microsoft.com/office/drawing/2014/main" id="{6E56E4A3-52D2-43CC-AE6F-A2651036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910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7" name="text-83">
            <a:extLst xmlns:a="http://schemas.openxmlformats.org/drawingml/2006/main">
              <a:ext uri="{FF2B5EF4-FFF2-40B4-BE49-F238E27FC236}">
                <a16:creationId xmlns:a16="http://schemas.microsoft.com/office/drawing/2014/main" id="{2E607918-7482-481A-8E9D-70E1D4D1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958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Pregunta el motivo una vez, registra y cierra.</a:t>
            </a:r>
          </a:p>
        </p:txBody>
      </p:sp>
    </p:spTree>
    <p:extLst>
      <p:ext uri="{BB962C8B-B14F-4D97-AF65-F5344CB8AC3E}">
        <p14:creationId xmlns:p14="http://schemas.microsoft.com/office/powerpoint/2010/main" val="11855814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84">
            <a:extLst xmlns:a="http://schemas.openxmlformats.org/drawingml/2006/main">
              <a:ext uri="{FF2B5EF4-FFF2-40B4-BE49-F238E27FC236}">
                <a16:creationId xmlns:a16="http://schemas.microsoft.com/office/drawing/2014/main" id="{BA68F67C-5792-4B63-9E43-6AAC1F35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85">
            <a:extLst xmlns:a="http://schemas.openxmlformats.org/drawingml/2006/main">
              <a:ext uri="{FF2B5EF4-FFF2-40B4-BE49-F238E27FC236}">
                <a16:creationId xmlns:a16="http://schemas.microsoft.com/office/drawing/2014/main" id="{FA65EA13-2AE0-469D-A5ED-22359F4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GATEKEEPER</a:t>
            </a:r>
          </a:p>
        </p:txBody>
      </p:sp>
      <p:sp>
        <p:nvSpPr>
          <p:cNvPr id="3" name="text-86">
            <a:extLst xmlns:a="http://schemas.openxmlformats.org/drawingml/2006/main">
              <a:ext uri="{FF2B5EF4-FFF2-40B4-BE49-F238E27FC236}">
                <a16:creationId xmlns:a16="http://schemas.microsoft.com/office/drawing/2014/main" id="{93B184EA-55A0-483E-A936-7CE99211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-87">
            <a:extLst xmlns:a="http://schemas.openxmlformats.org/drawingml/2006/main">
              <a:ext uri="{FF2B5EF4-FFF2-40B4-BE49-F238E27FC236}">
                <a16:creationId xmlns:a16="http://schemas.microsoft.com/office/drawing/2014/main" id="{E54B68C7-E12B-49C8-B6E1-AAF505F9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El gatekeeper puede ayudarte a llegar mejor</a:t>
            </a:r>
          </a:p>
        </p:txBody>
      </p:sp>
      <p:sp>
        <p:nvSpPr>
          <p:cNvPr id="5" name="rule-88">
            <a:extLst xmlns:a="http://schemas.openxmlformats.org/drawingml/2006/main">
              <a:ext uri="{FF2B5EF4-FFF2-40B4-BE49-F238E27FC236}">
                <a16:creationId xmlns:a16="http://schemas.microsoft.com/office/drawing/2014/main" id="{8C098800-2D75-4AC7-B38E-D87BE409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shape-89">
            <a:extLst xmlns:a="http://schemas.openxmlformats.org/drawingml/2006/main">
              <a:ext uri="{FF2B5EF4-FFF2-40B4-BE49-F238E27FC236}">
                <a16:creationId xmlns:a16="http://schemas.microsoft.com/office/drawing/2014/main" id="{A499E6DD-032E-453A-88B0-B958CCFB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1816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90">
            <a:extLst xmlns:a="http://schemas.openxmlformats.org/drawingml/2006/main">
              <a:ext uri="{FF2B5EF4-FFF2-40B4-BE49-F238E27FC236}">
                <a16:creationId xmlns:a16="http://schemas.microsoft.com/office/drawing/2014/main" id="{9EB39F55-6184-4D54-BAA9-8C4DC04C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44577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“No llamo por una compra puntual. Quiero comprobar con la persona responsable si {línea} es prioridad y si tiene sentido revisar cómo se mide. ¿Quién lleva crecimiento o dirección comercial?”</a:t>
            </a:r>
          </a:p>
        </p:txBody>
      </p:sp>
      <p:sp>
        <p:nvSpPr>
          <p:cNvPr id="8" name="text-91">
            <a:extLst xmlns:a="http://schemas.openxmlformats.org/drawingml/2006/main">
              <a:ext uri="{FF2B5EF4-FFF2-40B4-BE49-F238E27FC236}">
                <a16:creationId xmlns:a16="http://schemas.microsoft.com/office/drawing/2014/main" id="{D1E2F652-4A4D-4FF6-8038-A232FC2B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9" name="shape-92">
            <a:extLst xmlns:a="http://schemas.openxmlformats.org/drawingml/2006/main">
              <a:ext uri="{FF2B5EF4-FFF2-40B4-BE49-F238E27FC236}">
                <a16:creationId xmlns:a16="http://schemas.microsoft.com/office/drawing/2014/main" id="{25327B6D-3A23-46C8-B7BE-B0DBE37C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3">
            <a:extLst xmlns:a="http://schemas.openxmlformats.org/drawingml/2006/main">
              <a:ext uri="{FF2B5EF4-FFF2-40B4-BE49-F238E27FC236}">
                <a16:creationId xmlns:a16="http://schemas.microsoft.com/office/drawing/2014/main" id="{81A64D04-1D8F-4A51-8120-A42DDC3F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81300"/>
            <a:ext cx="4505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Conseguir nombre y función.</a:t>
            </a:r>
          </a:p>
        </p:txBody>
      </p:sp>
      <p:sp>
        <p:nvSpPr>
          <p:cNvPr id="11" name="shape-94">
            <a:extLst xmlns:a="http://schemas.openxmlformats.org/drawingml/2006/main">
              <a:ext uri="{FF2B5EF4-FFF2-40B4-BE49-F238E27FC236}">
                <a16:creationId xmlns:a16="http://schemas.microsoft.com/office/drawing/2014/main" id="{11655167-5BC8-4065-ADE0-589BDC8E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95">
            <a:extLst xmlns:a="http://schemas.openxmlformats.org/drawingml/2006/main">
              <a:ext uri="{FF2B5EF4-FFF2-40B4-BE49-F238E27FC236}">
                <a16:creationId xmlns:a16="http://schemas.microsoft.com/office/drawing/2014/main" id="{ABEEE69F-B7F4-453D-B30E-C2F3E53B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52800"/>
            <a:ext cx="4505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Confirmar canal y mejor franja.</a:t>
            </a:r>
          </a:p>
        </p:txBody>
      </p:sp>
      <p:sp>
        <p:nvSpPr>
          <p:cNvPr id="13" name="shape-96">
            <a:extLst xmlns:a="http://schemas.openxmlformats.org/drawingml/2006/main">
              <a:ext uri="{FF2B5EF4-FFF2-40B4-BE49-F238E27FC236}">
                <a16:creationId xmlns:a16="http://schemas.microsoft.com/office/drawing/2014/main" id="{081D86AB-F04E-48E2-830B-D5FDAD31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97">
            <a:extLst xmlns:a="http://schemas.openxmlformats.org/drawingml/2006/main">
              <a:ext uri="{FF2B5EF4-FFF2-40B4-BE49-F238E27FC236}">
                <a16:creationId xmlns:a16="http://schemas.microsoft.com/office/drawing/2014/main" id="{E9685342-869F-49E6-B50A-B19BED45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24300"/>
            <a:ext cx="4505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Entender qué línea priorizan.</a:t>
            </a:r>
          </a:p>
        </p:txBody>
      </p:sp>
      <p:sp>
        <p:nvSpPr>
          <p:cNvPr id="15" name="shape-98">
            <a:extLst xmlns:a="http://schemas.openxmlformats.org/drawingml/2006/main">
              <a:ext uri="{FF2B5EF4-FFF2-40B4-BE49-F238E27FC236}">
                <a16:creationId xmlns:a16="http://schemas.microsoft.com/office/drawing/2014/main" id="{4D9DA5F0-AB8D-40ED-AAF5-20958A57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99">
            <a:extLst xmlns:a="http://schemas.openxmlformats.org/drawingml/2006/main">
              <a:ext uri="{FF2B5EF4-FFF2-40B4-BE49-F238E27FC236}">
                <a16:creationId xmlns:a16="http://schemas.microsoft.com/office/drawing/2014/main" id="{2C4705BC-FF8B-425E-98BF-3D85B062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495800"/>
            <a:ext cx="4505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Dejar un motivo fácil de trasladar.</a:t>
            </a:r>
          </a:p>
        </p:txBody>
      </p:sp>
    </p:spTree>
    <p:extLst>
      <p:ext uri="{BB962C8B-B14F-4D97-AF65-F5344CB8AC3E}">
        <p14:creationId xmlns:p14="http://schemas.microsoft.com/office/powerpoint/2010/main" val="19451337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00">
            <a:extLst xmlns:a="http://schemas.openxmlformats.org/drawingml/2006/main">
              <a:ext uri="{FF2B5EF4-FFF2-40B4-BE49-F238E27FC236}">
                <a16:creationId xmlns:a16="http://schemas.microsoft.com/office/drawing/2014/main" id="{A0E4903D-7967-48DA-B95E-C51346AC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01">
            <a:extLst xmlns:a="http://schemas.openxmlformats.org/drawingml/2006/main">
              <a:ext uri="{FF2B5EF4-FFF2-40B4-BE49-F238E27FC236}">
                <a16:creationId xmlns:a16="http://schemas.microsoft.com/office/drawing/2014/main" id="{B0785EEB-F3E4-4565-9840-8298D2BB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OBJECIONES</a:t>
            </a:r>
          </a:p>
        </p:txBody>
      </p:sp>
      <p:sp>
        <p:nvSpPr>
          <p:cNvPr id="3" name="text-102">
            <a:extLst xmlns:a="http://schemas.openxmlformats.org/drawingml/2006/main">
              <a:ext uri="{FF2B5EF4-FFF2-40B4-BE49-F238E27FC236}">
                <a16:creationId xmlns:a16="http://schemas.microsoft.com/office/drawing/2014/main" id="{FF5CBD05-36D9-46C8-984A-62CD24EA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-103">
            <a:extLst xmlns:a="http://schemas.openxmlformats.org/drawingml/2006/main">
              <a:ext uri="{FF2B5EF4-FFF2-40B4-BE49-F238E27FC236}">
                <a16:creationId xmlns:a16="http://schemas.microsoft.com/office/drawing/2014/main" id="{7CF799F5-5538-4D93-B4E2-40040105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Una objeción es una petición de contexto</a:t>
            </a:r>
          </a:p>
        </p:txBody>
      </p:sp>
      <p:sp>
        <p:nvSpPr>
          <p:cNvPr id="5" name="rule-104">
            <a:extLst xmlns:a="http://schemas.openxmlformats.org/drawingml/2006/main">
              <a:ext uri="{FF2B5EF4-FFF2-40B4-BE49-F238E27FC236}">
                <a16:creationId xmlns:a16="http://schemas.microsoft.com/office/drawing/2014/main" id="{F9653AA6-70AB-4997-A5AE-615A26ED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105">
            <a:extLst xmlns:a="http://schemas.openxmlformats.org/drawingml/2006/main">
              <a:ext uri="{FF2B5EF4-FFF2-40B4-BE49-F238E27FC236}">
                <a16:creationId xmlns:a16="http://schemas.microsoft.com/office/drawing/2014/main" id="{C6A21F2C-9121-4AB3-ABB4-39B20259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YA TENGO AGENCIA</a:t>
            </a:r>
          </a:p>
        </p:txBody>
      </p:sp>
      <p:sp>
        <p:nvSpPr>
          <p:cNvPr id="7" name="rule-106">
            <a:extLst xmlns:a="http://schemas.openxmlformats.org/drawingml/2006/main">
              <a:ext uri="{FF2B5EF4-FFF2-40B4-BE49-F238E27FC236}">
                <a16:creationId xmlns:a16="http://schemas.microsoft.com/office/drawing/2014/main" id="{B6F166F4-2A2E-4DD7-8166-11AB95F1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8" name="text-107">
            <a:extLst xmlns:a="http://schemas.openxmlformats.org/drawingml/2006/main">
              <a:ext uri="{FF2B5EF4-FFF2-40B4-BE49-F238E27FC236}">
                <a16:creationId xmlns:a16="http://schemas.microsoft.com/office/drawing/2014/main" id="{F70AD9DE-74C8-4259-BDBC-E9754826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3360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resultado final medís con ella?</a:t>
            </a:r>
          </a:p>
        </p:txBody>
      </p:sp>
      <p:sp>
        <p:nvSpPr>
          <p:cNvPr id="9" name="text-108">
            <a:extLst xmlns:a="http://schemas.openxmlformats.org/drawingml/2006/main">
              <a:ext uri="{FF2B5EF4-FFF2-40B4-BE49-F238E27FC236}">
                <a16:creationId xmlns:a16="http://schemas.microsoft.com/office/drawing/2014/main" id="{F2402B3C-26A8-4060-97BB-19F621D6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MÁNDAME INFORMACIÓN</a:t>
            </a:r>
          </a:p>
        </p:txBody>
      </p:sp>
      <p:sp>
        <p:nvSpPr>
          <p:cNvPr id="10" name="rule-109">
            <a:extLst xmlns:a="http://schemas.openxmlformats.org/drawingml/2006/main">
              <a:ext uri="{FF2B5EF4-FFF2-40B4-BE49-F238E27FC236}">
                <a16:creationId xmlns:a16="http://schemas.microsoft.com/office/drawing/2014/main" id="{7FBD12F3-0992-436F-BE6B-BFFD85B8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62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1" name="text-110">
            <a:extLst xmlns:a="http://schemas.openxmlformats.org/drawingml/2006/main">
              <a:ext uri="{FF2B5EF4-FFF2-40B4-BE49-F238E27FC236}">
                <a16:creationId xmlns:a16="http://schemas.microsoft.com/office/drawing/2014/main" id="{19D14C45-0C86-4005-8EB0-2EFBD6BA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línea y qué problema debe cubrir?</a:t>
            </a:r>
          </a:p>
        </p:txBody>
      </p:sp>
      <p:sp>
        <p:nvSpPr>
          <p:cNvPr id="12" name="text-111">
            <a:extLst xmlns:a="http://schemas.openxmlformats.org/drawingml/2006/main">
              <a:ext uri="{FF2B5EF4-FFF2-40B4-BE49-F238E27FC236}">
                <a16:creationId xmlns:a16="http://schemas.microsoft.com/office/drawing/2014/main" id="{76338A06-ECE3-4DCB-B0D2-1D2D0A76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ES CARO</a:t>
            </a:r>
          </a:p>
        </p:txBody>
      </p:sp>
      <p:sp>
        <p:nvSpPr>
          <p:cNvPr id="13" name="rule-112">
            <a:extLst xmlns:a="http://schemas.openxmlformats.org/drawingml/2006/main">
              <a:ext uri="{FF2B5EF4-FFF2-40B4-BE49-F238E27FC236}">
                <a16:creationId xmlns:a16="http://schemas.microsoft.com/office/drawing/2014/main" id="{6169D450-021D-47D9-AF7A-4768811F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386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4" name="text-113">
            <a:extLst xmlns:a="http://schemas.openxmlformats.org/drawingml/2006/main">
              <a:ext uri="{FF2B5EF4-FFF2-40B4-BE49-F238E27FC236}">
                <a16:creationId xmlns:a16="http://schemas.microsoft.com/office/drawing/2014/main" id="{11EF472B-CA3C-47DA-A2BD-9AB9EEE5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¿Comparado con qué coste o alternativa?</a:t>
            </a:r>
          </a:p>
        </p:txBody>
      </p:sp>
      <p:sp>
        <p:nvSpPr>
          <p:cNvPr id="15" name="text-114">
            <a:extLst xmlns:a="http://schemas.openxmlformats.org/drawingml/2006/main">
              <a:ext uri="{FF2B5EF4-FFF2-40B4-BE49-F238E27FC236}">
                <a16:creationId xmlns:a16="http://schemas.microsoft.com/office/drawing/2014/main" id="{0E23EB7C-CD5B-4FE1-A517-9B6ABED7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QUIERO GARANTÍA</a:t>
            </a:r>
          </a:p>
        </p:txBody>
      </p:sp>
      <p:sp>
        <p:nvSpPr>
          <p:cNvPr id="16" name="rule-115">
            <a:extLst xmlns:a="http://schemas.openxmlformats.org/drawingml/2006/main">
              <a:ext uri="{FF2B5EF4-FFF2-40B4-BE49-F238E27FC236}">
                <a16:creationId xmlns:a16="http://schemas.microsoft.com/office/drawing/2014/main" id="{0DE6F455-690D-41E6-9050-138C528E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149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7" name="text-116">
            <a:extLst xmlns:a="http://schemas.openxmlformats.org/drawingml/2006/main">
              <a:ext uri="{FF2B5EF4-FFF2-40B4-BE49-F238E27FC236}">
                <a16:creationId xmlns:a16="http://schemas.microsoft.com/office/drawing/2014/main" id="{5AECD5E0-2484-434B-BC9D-E6794EAE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Acordemos lo controlable; ventas no se garantizan.</a:t>
            </a:r>
          </a:p>
        </p:txBody>
      </p:sp>
    </p:spTree>
    <p:extLst>
      <p:ext uri="{BB962C8B-B14F-4D97-AF65-F5344CB8AC3E}">
        <p14:creationId xmlns:p14="http://schemas.microsoft.com/office/powerpoint/2010/main" val="15458108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17">
            <a:extLst xmlns:a="http://schemas.openxmlformats.org/drawingml/2006/main">
              <a:ext uri="{FF2B5EF4-FFF2-40B4-BE49-F238E27FC236}">
                <a16:creationId xmlns:a16="http://schemas.microsoft.com/office/drawing/2014/main" id="{28C1DE2E-472C-43F8-B75A-485D5260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18">
            <a:extLst xmlns:a="http://schemas.openxmlformats.org/drawingml/2006/main">
              <a:ext uri="{FF2B5EF4-FFF2-40B4-BE49-F238E27FC236}">
                <a16:creationId xmlns:a16="http://schemas.microsoft.com/office/drawing/2014/main" id="{A0D4E043-494E-4A4E-9F11-775F893E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EJECUCIÓN</a:t>
            </a:r>
          </a:p>
        </p:txBody>
      </p:sp>
      <p:sp>
        <p:nvSpPr>
          <p:cNvPr id="3" name="text-119">
            <a:extLst xmlns:a="http://schemas.openxmlformats.org/drawingml/2006/main">
              <a:ext uri="{FF2B5EF4-FFF2-40B4-BE49-F238E27FC236}">
                <a16:creationId xmlns:a16="http://schemas.microsoft.com/office/drawing/2014/main" id="{78D79FD3-FB7E-436D-B931-7B3A48BD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120">
            <a:extLst xmlns:a="http://schemas.openxmlformats.org/drawingml/2006/main">
              <a:ext uri="{FF2B5EF4-FFF2-40B4-BE49-F238E27FC236}">
                <a16:creationId xmlns:a16="http://schemas.microsoft.com/office/drawing/2014/main" id="{F1075EE0-2465-4D53-B33B-78B59618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La voz transmite si vienes a ayudar o a empujar</a:t>
            </a:r>
          </a:p>
        </p:txBody>
      </p:sp>
      <p:sp>
        <p:nvSpPr>
          <p:cNvPr id="5" name="rule-121">
            <a:extLst xmlns:a="http://schemas.openxmlformats.org/drawingml/2006/main">
              <a:ext uri="{FF2B5EF4-FFF2-40B4-BE49-F238E27FC236}">
                <a16:creationId xmlns:a16="http://schemas.microsoft.com/office/drawing/2014/main" id="{F19984E2-990C-491F-86AA-29177228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2a816980f4497"/>
          <a:srcRect xmlns:a="http://schemas.openxmlformats.org/drawingml/2006/main" l="12079" t="0" r="120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133600"/>
            <a:ext cx="4572000" cy="3390900"/>
          </a:xfrm>
          <a:prstGeom xmlns:a="http://schemas.openxmlformats.org/drawingml/2006/main" prst="rect">
            <a:avLst/>
          </a:prstGeom>
        </p:spPr>
      </p:pic>
      <p:sp>
        <p:nvSpPr>
          <p:cNvPr id="7" name="text-123">
            <a:extLst xmlns:a="http://schemas.openxmlformats.org/drawingml/2006/main">
              <a:ext uri="{FF2B5EF4-FFF2-40B4-BE49-F238E27FC236}">
                <a16:creationId xmlns:a16="http://schemas.microsoft.com/office/drawing/2014/main" id="{431871B1-AC67-4909-9599-84CAB40D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52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Ritmo</a:t>
            </a:r>
          </a:p>
        </p:txBody>
      </p:sp>
      <p:sp>
        <p:nvSpPr>
          <p:cNvPr id="8" name="text-124">
            <a:extLst xmlns:a="http://schemas.openxmlformats.org/drawingml/2006/main">
              <a:ext uri="{FF2B5EF4-FFF2-40B4-BE49-F238E27FC236}">
                <a16:creationId xmlns:a16="http://schemas.microsoft.com/office/drawing/2014/main" id="{05E9A74A-E23A-4AF9-B87C-9A988DC2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90800"/>
            <a:ext cx="5448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Más lento en la apertura. Pausa después de la pregunta.</a:t>
            </a:r>
          </a:p>
        </p:txBody>
      </p:sp>
      <p:sp>
        <p:nvSpPr>
          <p:cNvPr id="9" name="text-125">
            <a:extLst xmlns:a="http://schemas.openxmlformats.org/drawingml/2006/main">
              <a:ext uri="{FF2B5EF4-FFF2-40B4-BE49-F238E27FC236}">
                <a16:creationId xmlns:a16="http://schemas.microsoft.com/office/drawing/2014/main" id="{D752107C-E699-4B21-8468-98BD6F3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48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Tono</a:t>
            </a:r>
          </a:p>
        </p:txBody>
      </p:sp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E20F30AA-1E2E-46BF-9866-AAEA7023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86200"/>
            <a:ext cx="5448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Curiosidad profesional. Sin falsa familiaridad ni urgencia inventada.</a:t>
            </a:r>
          </a:p>
        </p:txBody>
      </p:sp>
      <p:sp>
        <p:nvSpPr>
          <p:cNvPr id="11" name="text-127">
            <a:extLst xmlns:a="http://schemas.openxmlformats.org/drawingml/2006/main">
              <a:ext uri="{FF2B5EF4-FFF2-40B4-BE49-F238E27FC236}">
                <a16:creationId xmlns:a16="http://schemas.microsoft.com/office/drawing/2014/main" id="{C384F3FD-DB7A-41BD-BF15-1A1566DE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43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Escucha</a:t>
            </a:r>
          </a:p>
        </p:txBody>
      </p:sp>
      <p:sp>
        <p:nvSpPr>
          <p:cNvPr id="12" name="text-128">
            <a:extLst xmlns:a="http://schemas.openxmlformats.org/drawingml/2006/main">
              <a:ext uri="{FF2B5EF4-FFF2-40B4-BE49-F238E27FC236}">
                <a16:creationId xmlns:a16="http://schemas.microsoft.com/office/drawing/2014/main" id="{7C44C328-AB13-446E-A090-ED994003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81600"/>
            <a:ext cx="544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Anota palabras exactas; no completes la historia por el prospecto.</a:t>
            </a:r>
          </a:p>
        </p:txBody>
      </p:sp>
    </p:spTree>
    <p:extLst>
      <p:ext uri="{BB962C8B-B14F-4D97-AF65-F5344CB8AC3E}">
        <p14:creationId xmlns:p14="http://schemas.microsoft.com/office/powerpoint/2010/main" val="14887326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29">
            <a:extLst xmlns:a="http://schemas.openxmlformats.org/drawingml/2006/main">
              <a:ext uri="{FF2B5EF4-FFF2-40B4-BE49-F238E27FC236}">
                <a16:creationId xmlns:a16="http://schemas.microsoft.com/office/drawing/2014/main" id="{2E30D6D1-9FB3-4219-A6A7-8FFB13B2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30">
            <a:extLst xmlns:a="http://schemas.openxmlformats.org/drawingml/2006/main">
              <a:ext uri="{FF2B5EF4-FFF2-40B4-BE49-F238E27FC236}">
                <a16:creationId xmlns:a16="http://schemas.microsoft.com/office/drawing/2014/main" id="{5BF81382-D155-4970-8EEE-C6685850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APERTURAS POR VERTICAL</a:t>
            </a:r>
          </a:p>
        </p:txBody>
      </p:sp>
      <p:sp>
        <p:nvSpPr>
          <p:cNvPr id="3" name="text-131">
            <a:extLst xmlns:a="http://schemas.openxmlformats.org/drawingml/2006/main">
              <a:ext uri="{FF2B5EF4-FFF2-40B4-BE49-F238E27FC236}">
                <a16:creationId xmlns:a16="http://schemas.microsoft.com/office/drawing/2014/main" id="{4AA98C3B-BC64-4E92-BC7B-5041493B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-132">
            <a:extLst xmlns:a="http://schemas.openxmlformats.org/drawingml/2006/main">
              <a:ext uri="{FF2B5EF4-FFF2-40B4-BE49-F238E27FC236}">
                <a16:creationId xmlns:a16="http://schemas.microsoft.com/office/drawing/2014/main" id="{662B1DC8-3506-4545-A3A6-F525A04F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Legal: la especialidad cambia la conversación</a:t>
            </a:r>
          </a:p>
        </p:txBody>
      </p:sp>
      <p:sp>
        <p:nvSpPr>
          <p:cNvPr id="5" name="rule-133">
            <a:extLst xmlns:a="http://schemas.openxmlformats.org/drawingml/2006/main">
              <a:ext uri="{FF2B5EF4-FFF2-40B4-BE49-F238E27FC236}">
                <a16:creationId xmlns:a16="http://schemas.microsoft.com/office/drawing/2014/main" id="{E3388BD8-F7A5-4956-A935-180FABC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dfd672f774be4"/>
          <a:srcRect xmlns:a="http://schemas.openxmlformats.org/drawingml/2006/main" l="25854" t="0" r="258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2095500"/>
            <a:ext cx="3352800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text-135">
            <a:extLst xmlns:a="http://schemas.openxmlformats.org/drawingml/2006/main">
              <a:ext uri="{FF2B5EF4-FFF2-40B4-BE49-F238E27FC236}">
                <a16:creationId xmlns:a16="http://schemas.microsoft.com/office/drawing/2014/main" id="{FA6A7E4A-8E53-4815-93CF-3D5EB20A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Segunda Oportunidad</a:t>
            </a:r>
          </a:p>
        </p:txBody>
      </p:sp>
      <p:sp>
        <p:nvSpPr>
          <p:cNvPr id="8" name="text-136">
            <a:extLst xmlns:a="http://schemas.openxmlformats.org/drawingml/2006/main">
              <a:ext uri="{FF2B5EF4-FFF2-40B4-BE49-F238E27FC236}">
                <a16:creationId xmlns:a16="http://schemas.microsoft.com/office/drawing/2014/main" id="{FC6824FA-9A9A-472C-92A9-53DD0988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716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45"/>
                </a:solidFill>
                <a:latin typeface="Arial"/>
                <a:ea typeface="Arial"/>
                <a:cs typeface="Arial"/>
              </a:rPr>
              <a:t>“¿Queréis crecer en esta especialidad o la agenda ya está cubierta?”</a:t>
            </a:r>
          </a:p>
        </p:txBody>
      </p:sp>
      <p:sp>
        <p:nvSpPr>
          <p:cNvPr id="9" name="rule-137">
            <a:extLst xmlns:a="http://schemas.openxmlformats.org/drawingml/2006/main">
              <a:ext uri="{FF2B5EF4-FFF2-40B4-BE49-F238E27FC236}">
                <a16:creationId xmlns:a16="http://schemas.microsoft.com/office/drawing/2014/main" id="{A1EA74A0-715E-42B6-BA5F-4939F7BC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0" name="text-138">
            <a:extLst xmlns:a="http://schemas.openxmlformats.org/drawingml/2006/main">
              <a:ext uri="{FF2B5EF4-FFF2-40B4-BE49-F238E27FC236}">
                <a16:creationId xmlns:a16="http://schemas.microsoft.com/office/drawing/2014/main" id="{6B6C6858-645A-44A0-A57E-BA980A8C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Herencias</a:t>
            </a:r>
          </a:p>
        </p:txBody>
      </p:sp>
      <p:sp>
        <p:nvSpPr>
          <p:cNvPr id="11" name="text-139">
            <a:extLst xmlns:a="http://schemas.openxmlformats.org/drawingml/2006/main">
              <a:ext uri="{FF2B5EF4-FFF2-40B4-BE49-F238E27FC236}">
                <a16:creationId xmlns:a16="http://schemas.microsoft.com/office/drawing/2014/main" id="{3E36CD39-54D3-48D7-B55B-285631DD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716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“¿Qué casuística queréis reforzar: bloqueo, inmueble, conflicto o internacional?”</a:t>
            </a:r>
          </a:p>
        </p:txBody>
      </p:sp>
      <p:sp>
        <p:nvSpPr>
          <p:cNvPr id="12" name="rule-140">
            <a:extLst xmlns:a="http://schemas.openxmlformats.org/drawingml/2006/main">
              <a:ext uri="{FF2B5EF4-FFF2-40B4-BE49-F238E27FC236}">
                <a16:creationId xmlns:a16="http://schemas.microsoft.com/office/drawing/2014/main" id="{6EDC9AAF-F9E5-4EAD-A5C4-0044E43E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3" name="text-141">
            <a:extLst xmlns:a="http://schemas.openxmlformats.org/drawingml/2006/main">
              <a:ext uri="{FF2B5EF4-FFF2-40B4-BE49-F238E27FC236}">
                <a16:creationId xmlns:a16="http://schemas.microsoft.com/office/drawing/2014/main" id="{80D559E8-C357-41C3-A6EA-AA22F9ED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Divorcios</a:t>
            </a:r>
          </a:p>
        </p:txBody>
      </p:sp>
      <p:sp>
        <p:nvSpPr>
          <p:cNvPr id="14" name="text-142">
            <a:extLst xmlns:a="http://schemas.openxmlformats.org/drawingml/2006/main">
              <a:ext uri="{FF2B5EF4-FFF2-40B4-BE49-F238E27FC236}">
                <a16:creationId xmlns:a16="http://schemas.microsoft.com/office/drawing/2014/main" id="{F94B18C3-A1DB-400D-8719-CDFB2731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716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“¿Qué modalidad os interesa: mutuo acuerdo, contencioso o modificación?”</a:t>
            </a:r>
          </a:p>
        </p:txBody>
      </p:sp>
      <p:sp>
        <p:nvSpPr>
          <p:cNvPr id="15" name="rule-143">
            <a:extLst xmlns:a="http://schemas.openxmlformats.org/drawingml/2006/main">
              <a:ext uri="{FF2B5EF4-FFF2-40B4-BE49-F238E27FC236}">
                <a16:creationId xmlns:a16="http://schemas.microsoft.com/office/drawing/2014/main" id="{508987C2-0DDB-4508-8A78-0E2A9CCA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2100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44">
            <a:extLst xmlns:a="http://schemas.openxmlformats.org/drawingml/2006/main">
              <a:ext uri="{FF2B5EF4-FFF2-40B4-BE49-F238E27FC236}">
                <a16:creationId xmlns:a16="http://schemas.microsoft.com/office/drawing/2014/main" id="{61864E08-91B2-41CE-9B8B-86A6C370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45">
            <a:extLst xmlns:a="http://schemas.openxmlformats.org/drawingml/2006/main">
              <a:ext uri="{FF2B5EF4-FFF2-40B4-BE49-F238E27FC236}">
                <a16:creationId xmlns:a16="http://schemas.microsoft.com/office/drawing/2014/main" id="{F726431B-C64B-4C58-9331-41D690EA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APERTURAS POR VERTICAL</a:t>
            </a:r>
          </a:p>
        </p:txBody>
      </p:sp>
      <p:sp>
        <p:nvSpPr>
          <p:cNvPr id="3" name="text-146">
            <a:extLst xmlns:a="http://schemas.openxmlformats.org/drawingml/2006/main">
              <a:ext uri="{FF2B5EF4-FFF2-40B4-BE49-F238E27FC236}">
                <a16:creationId xmlns:a16="http://schemas.microsoft.com/office/drawing/2014/main" id="{0494F8DA-99B1-460C-8176-F0BD8F0A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-147">
            <a:extLst xmlns:a="http://schemas.openxmlformats.org/drawingml/2006/main">
              <a:ext uri="{FF2B5EF4-FFF2-40B4-BE49-F238E27FC236}">
                <a16:creationId xmlns:a16="http://schemas.microsoft.com/office/drawing/2014/main" id="{BE653ED8-A1B0-48B6-99E1-BBDC22C6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Servicios locales: capacidad antes que volumen</a:t>
            </a:r>
          </a:p>
        </p:txBody>
      </p:sp>
      <p:sp>
        <p:nvSpPr>
          <p:cNvPr id="5" name="rule-148">
            <a:extLst xmlns:a="http://schemas.openxmlformats.org/drawingml/2006/main">
              <a:ext uri="{FF2B5EF4-FFF2-40B4-BE49-F238E27FC236}">
                <a16:creationId xmlns:a16="http://schemas.microsoft.com/office/drawing/2014/main" id="{FF683975-B0B9-4CF4-8636-B4251A79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e5841025e4e3b"/>
          <a:srcRect xmlns:a="http://schemas.openxmlformats.org/drawingml/2006/main" l="25854" t="0" r="258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2095500"/>
            <a:ext cx="3352800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text-150">
            <a:extLst xmlns:a="http://schemas.openxmlformats.org/drawingml/2006/main">
              <a:ext uri="{FF2B5EF4-FFF2-40B4-BE49-F238E27FC236}">
                <a16:creationId xmlns:a16="http://schemas.microsoft.com/office/drawing/2014/main" id="{DCD21A9B-83C9-4DE1-A9FB-2B8CCC08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Pérgolas</a:t>
            </a:r>
          </a:p>
        </p:txBody>
      </p:sp>
      <p:sp>
        <p:nvSpPr>
          <p:cNvPr id="8" name="text-151">
            <a:extLst xmlns:a="http://schemas.openxmlformats.org/drawingml/2006/main">
              <a:ext uri="{FF2B5EF4-FFF2-40B4-BE49-F238E27FC236}">
                <a16:creationId xmlns:a16="http://schemas.microsoft.com/office/drawing/2014/main" id="{D0BEFCBB-A0DB-42DB-92DE-D1D617DE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716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45"/>
                </a:solidFill>
                <a:latin typeface="Arial"/>
                <a:ea typeface="Arial"/>
                <a:cs typeface="Arial"/>
              </a:rPr>
              <a:t>“¿Os faltan proyectos premium o capacidad de instalación?”</a:t>
            </a:r>
          </a:p>
        </p:txBody>
      </p:sp>
      <p:sp>
        <p:nvSpPr>
          <p:cNvPr id="9" name="rule-152">
            <a:extLst xmlns:a="http://schemas.openxmlformats.org/drawingml/2006/main">
              <a:ext uri="{FF2B5EF4-FFF2-40B4-BE49-F238E27FC236}">
                <a16:creationId xmlns:a16="http://schemas.microsoft.com/office/drawing/2014/main" id="{90F5FC34-D1A1-4184-8392-9CF3DACE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0" name="text-153">
            <a:extLst xmlns:a="http://schemas.openxmlformats.org/drawingml/2006/main">
              <a:ext uri="{FF2B5EF4-FFF2-40B4-BE49-F238E27FC236}">
                <a16:creationId xmlns:a16="http://schemas.microsoft.com/office/drawing/2014/main" id="{01BCA6D1-A319-4E75-9CE7-C311C840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Climatización</a:t>
            </a:r>
          </a:p>
        </p:txBody>
      </p:sp>
      <p:sp>
        <p:nvSpPr>
          <p:cNvPr id="11" name="text-154">
            <a:extLst xmlns:a="http://schemas.openxmlformats.org/drawingml/2006/main">
              <a:ext uri="{FF2B5EF4-FFF2-40B4-BE49-F238E27FC236}">
                <a16:creationId xmlns:a16="http://schemas.microsoft.com/office/drawing/2014/main" id="{B6A21268-ED04-4C21-93C5-C3ECF293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716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“¿El cuello de botella es demanda o técnicos disponibles?”</a:t>
            </a:r>
          </a:p>
        </p:txBody>
      </p:sp>
      <p:sp>
        <p:nvSpPr>
          <p:cNvPr id="12" name="rule-155">
            <a:extLst xmlns:a="http://schemas.openxmlformats.org/drawingml/2006/main">
              <a:ext uri="{FF2B5EF4-FFF2-40B4-BE49-F238E27FC236}">
                <a16:creationId xmlns:a16="http://schemas.microsoft.com/office/drawing/2014/main" id="{127753A1-3EC7-46D1-BF3B-1A9DE26F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3" name="text-156">
            <a:extLst xmlns:a="http://schemas.openxmlformats.org/drawingml/2006/main">
              <a:ext uri="{FF2B5EF4-FFF2-40B4-BE49-F238E27FC236}">
                <a16:creationId xmlns:a16="http://schemas.microsoft.com/office/drawing/2014/main" id="{52254BBD-4D17-4D72-B853-FABDFE89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Reformas</a:t>
            </a:r>
          </a:p>
        </p:txBody>
      </p:sp>
      <p:sp>
        <p:nvSpPr>
          <p:cNvPr id="14" name="text-157">
            <a:extLst xmlns:a="http://schemas.openxmlformats.org/drawingml/2006/main">
              <a:ext uri="{FF2B5EF4-FFF2-40B4-BE49-F238E27FC236}">
                <a16:creationId xmlns:a16="http://schemas.microsoft.com/office/drawing/2014/main" id="{F1058096-FC10-4C26-BCF3-BD6B3254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716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“¿Os faltan proyectos de valor o tiempo para presupuestar?”</a:t>
            </a:r>
          </a:p>
        </p:txBody>
      </p:sp>
      <p:sp>
        <p:nvSpPr>
          <p:cNvPr id="15" name="rule-158">
            <a:extLst xmlns:a="http://schemas.openxmlformats.org/drawingml/2006/main">
              <a:ext uri="{FF2B5EF4-FFF2-40B4-BE49-F238E27FC236}">
                <a16:creationId xmlns:a16="http://schemas.microsoft.com/office/drawing/2014/main" id="{F5A0F456-9999-41F5-B274-1C4435E7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27122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59">
            <a:extLst xmlns:a="http://schemas.openxmlformats.org/drawingml/2006/main">
              <a:ext uri="{FF2B5EF4-FFF2-40B4-BE49-F238E27FC236}">
                <a16:creationId xmlns:a16="http://schemas.microsoft.com/office/drawing/2014/main" id="{0F8A5CC5-0692-4599-81CF-59B25AEA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60">
            <a:extLst xmlns:a="http://schemas.openxmlformats.org/drawingml/2006/main">
              <a:ext uri="{FF2B5EF4-FFF2-40B4-BE49-F238E27FC236}">
                <a16:creationId xmlns:a16="http://schemas.microsoft.com/office/drawing/2014/main" id="{0EDAC584-DAF7-49E4-ABF4-C2133551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APERTURAS POR VERTICAL</a:t>
            </a:r>
          </a:p>
        </p:txBody>
      </p:sp>
      <p:sp>
        <p:nvSpPr>
          <p:cNvPr id="3" name="text-161">
            <a:extLst xmlns:a="http://schemas.openxmlformats.org/drawingml/2006/main">
              <a:ext uri="{FF2B5EF4-FFF2-40B4-BE49-F238E27FC236}">
                <a16:creationId xmlns:a16="http://schemas.microsoft.com/office/drawing/2014/main" id="{1C806B65-413F-4044-BCAE-AADC4E90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162">
            <a:extLst xmlns:a="http://schemas.openxmlformats.org/drawingml/2006/main">
              <a:ext uri="{FF2B5EF4-FFF2-40B4-BE49-F238E27FC236}">
                <a16:creationId xmlns:a16="http://schemas.microsoft.com/office/drawing/2014/main" id="{ED7FB281-921D-4B0E-AF62-E8DB0BFB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Salud: crecimiento con prudencia y seguimiento</a:t>
            </a:r>
          </a:p>
        </p:txBody>
      </p:sp>
      <p:sp>
        <p:nvSpPr>
          <p:cNvPr id="5" name="rule-163">
            <a:extLst xmlns:a="http://schemas.openxmlformats.org/drawingml/2006/main">
              <a:ext uri="{FF2B5EF4-FFF2-40B4-BE49-F238E27FC236}">
                <a16:creationId xmlns:a16="http://schemas.microsoft.com/office/drawing/2014/main" id="{A07D4134-DEA9-4790-8138-06016135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b22349f3d47ae"/>
          <a:srcRect xmlns:a="http://schemas.openxmlformats.org/drawingml/2006/main" l="25854" t="0" r="258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2095500"/>
            <a:ext cx="3352800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text-165">
            <a:extLst xmlns:a="http://schemas.openxmlformats.org/drawingml/2006/main">
              <a:ext uri="{FF2B5EF4-FFF2-40B4-BE49-F238E27FC236}">
                <a16:creationId xmlns:a16="http://schemas.microsoft.com/office/drawing/2014/main" id="{505B3075-A96B-4BC8-859F-A43DA71E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Estética</a:t>
            </a:r>
          </a:p>
        </p:txBody>
      </p:sp>
      <p:sp>
        <p:nvSpPr>
          <p:cNvPr id="8" name="text-166">
            <a:extLst xmlns:a="http://schemas.openxmlformats.org/drawingml/2006/main">
              <a:ext uri="{FF2B5EF4-FFF2-40B4-BE49-F238E27FC236}">
                <a16:creationId xmlns:a16="http://schemas.microsoft.com/office/drawing/2014/main" id="{DF9BE5C1-2081-404E-AF28-42ACED12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716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45"/>
                </a:solidFill>
                <a:latin typeface="Arial"/>
                <a:ea typeface="Arial"/>
                <a:cs typeface="Arial"/>
              </a:rPr>
              <a:t>“¿Qué tratamiento queréis llenar ahora?”</a:t>
            </a:r>
          </a:p>
        </p:txBody>
      </p:sp>
      <p:sp>
        <p:nvSpPr>
          <p:cNvPr id="9" name="rule-167">
            <a:extLst xmlns:a="http://schemas.openxmlformats.org/drawingml/2006/main">
              <a:ext uri="{FF2B5EF4-FFF2-40B4-BE49-F238E27FC236}">
                <a16:creationId xmlns:a16="http://schemas.microsoft.com/office/drawing/2014/main" id="{4E7AC448-4FFE-4359-8CFE-18840593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0" name="text-168">
            <a:extLst xmlns:a="http://schemas.openxmlformats.org/drawingml/2006/main">
              <a:ext uri="{FF2B5EF4-FFF2-40B4-BE49-F238E27FC236}">
                <a16:creationId xmlns:a16="http://schemas.microsoft.com/office/drawing/2014/main" id="{81A1C110-493C-47F6-AE3E-FF26CC13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Dental</a:t>
            </a:r>
          </a:p>
        </p:txBody>
      </p:sp>
      <p:sp>
        <p:nvSpPr>
          <p:cNvPr id="11" name="text-169">
            <a:extLst xmlns:a="http://schemas.openxmlformats.org/drawingml/2006/main">
              <a:ext uri="{FF2B5EF4-FFF2-40B4-BE49-F238E27FC236}">
                <a16:creationId xmlns:a16="http://schemas.microsoft.com/office/drawing/2014/main" id="{778064C0-AE57-4F7F-869B-A999627E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716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“¿Qué línea queréis crecer sin aumentar no-shows?”</a:t>
            </a:r>
          </a:p>
        </p:txBody>
      </p:sp>
      <p:sp>
        <p:nvSpPr>
          <p:cNvPr id="12" name="rule-170">
            <a:extLst xmlns:a="http://schemas.openxmlformats.org/drawingml/2006/main">
              <a:ext uri="{FF2B5EF4-FFF2-40B4-BE49-F238E27FC236}">
                <a16:creationId xmlns:a16="http://schemas.microsoft.com/office/drawing/2014/main" id="{4DCE5321-75D2-43A9-9A97-605113C2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3" name="text-171">
            <a:extLst xmlns:a="http://schemas.openxmlformats.org/drawingml/2006/main">
              <a:ext uri="{FF2B5EF4-FFF2-40B4-BE49-F238E27FC236}">
                <a16:creationId xmlns:a16="http://schemas.microsoft.com/office/drawing/2014/main" id="{02C5963E-22BD-480F-A5B2-4D18590A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Audición</a:t>
            </a:r>
          </a:p>
        </p:txBody>
      </p:sp>
      <p:sp>
        <p:nvSpPr>
          <p:cNvPr id="14" name="text-172">
            <a:extLst xmlns:a="http://schemas.openxmlformats.org/drawingml/2006/main">
              <a:ext uri="{FF2B5EF4-FFF2-40B4-BE49-F238E27FC236}">
                <a16:creationId xmlns:a16="http://schemas.microsoft.com/office/drawing/2014/main" id="{25CE4B4B-4597-4D2F-B9C1-7798C2B2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716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“¿Qué servicio tiene capacidad de valoración ahora?”</a:t>
            </a:r>
          </a:p>
        </p:txBody>
      </p:sp>
      <p:sp>
        <p:nvSpPr>
          <p:cNvPr id="15" name="rule-173">
            <a:extLst xmlns:a="http://schemas.openxmlformats.org/drawingml/2006/main">
              <a:ext uri="{FF2B5EF4-FFF2-40B4-BE49-F238E27FC236}">
                <a16:creationId xmlns:a16="http://schemas.microsoft.com/office/drawing/2014/main" id="{B7EE5345-0181-40AA-BD0F-4266FE18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04118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74">
            <a:extLst xmlns:a="http://schemas.openxmlformats.org/drawingml/2006/main">
              <a:ext uri="{FF2B5EF4-FFF2-40B4-BE49-F238E27FC236}">
                <a16:creationId xmlns:a16="http://schemas.microsoft.com/office/drawing/2014/main" id="{0D0E3EF3-CDE3-4BB7-965E-FE7F9279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75">
            <a:extLst xmlns:a="http://schemas.openxmlformats.org/drawingml/2006/main">
              <a:ext uri="{FF2B5EF4-FFF2-40B4-BE49-F238E27FC236}">
                <a16:creationId xmlns:a16="http://schemas.microsoft.com/office/drawing/2014/main" id="{84016C51-97CD-45DC-8425-5EABFAB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APERTURAS POR VERTICAL</a:t>
            </a:r>
          </a:p>
        </p:txBody>
      </p:sp>
      <p:sp>
        <p:nvSpPr>
          <p:cNvPr id="3" name="text-176">
            <a:extLst xmlns:a="http://schemas.openxmlformats.org/drawingml/2006/main">
              <a:ext uri="{FF2B5EF4-FFF2-40B4-BE49-F238E27FC236}">
                <a16:creationId xmlns:a16="http://schemas.microsoft.com/office/drawing/2014/main" id="{A53C583C-0193-402D-9F1E-7F67DB63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177">
            <a:extLst xmlns:a="http://schemas.openxmlformats.org/drawingml/2006/main">
              <a:ext uri="{FF2B5EF4-FFF2-40B4-BE49-F238E27FC236}">
                <a16:creationId xmlns:a16="http://schemas.microsoft.com/office/drawing/2014/main" id="{E1206CE6-3992-458E-AECF-CE219951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Operaciones: optimiza a resultado, no a formulario</a:t>
            </a:r>
          </a:p>
        </p:txBody>
      </p:sp>
      <p:sp>
        <p:nvSpPr>
          <p:cNvPr id="5" name="rule-178">
            <a:extLst xmlns:a="http://schemas.openxmlformats.org/drawingml/2006/main">
              <a:ext uri="{FF2B5EF4-FFF2-40B4-BE49-F238E27FC236}">
                <a16:creationId xmlns:a16="http://schemas.microsoft.com/office/drawing/2014/main" id="{C052CD96-C7B7-44F9-BE8B-C011C52E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2a5fccd3c44cd"/>
          <a:srcRect xmlns:a="http://schemas.openxmlformats.org/drawingml/2006/main" l="25854" t="0" r="258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2095500"/>
            <a:ext cx="3352800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text-180">
            <a:extLst xmlns:a="http://schemas.openxmlformats.org/drawingml/2006/main">
              <a:ext uri="{FF2B5EF4-FFF2-40B4-BE49-F238E27FC236}">
                <a16:creationId xmlns:a16="http://schemas.microsoft.com/office/drawing/2014/main" id="{0DA59EDE-8368-404C-B7A0-C6DF6A91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Coches</a:t>
            </a:r>
          </a:p>
        </p:txBody>
      </p:sp>
      <p:sp>
        <p:nvSpPr>
          <p:cNvPr id="8" name="text-181">
            <a:extLst xmlns:a="http://schemas.openxmlformats.org/drawingml/2006/main">
              <a:ext uri="{FF2B5EF4-FFF2-40B4-BE49-F238E27FC236}">
                <a16:creationId xmlns:a16="http://schemas.microsoft.com/office/drawing/2014/main" id="{3E7E5EFC-A79F-4CCB-B1DC-439D6BD6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716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45"/>
                </a:solidFill>
                <a:latin typeface="Arial"/>
                <a:ea typeface="Arial"/>
                <a:cs typeface="Arial"/>
              </a:rPr>
              <a:t>“¿Qué vehículo os interesa comprar esta semana?”</a:t>
            </a:r>
          </a:p>
        </p:txBody>
      </p:sp>
      <p:sp>
        <p:nvSpPr>
          <p:cNvPr id="9" name="rule-182">
            <a:extLst xmlns:a="http://schemas.openxmlformats.org/drawingml/2006/main">
              <a:ext uri="{FF2B5EF4-FFF2-40B4-BE49-F238E27FC236}">
                <a16:creationId xmlns:a16="http://schemas.microsoft.com/office/drawing/2014/main" id="{A3D47055-1D82-4212-B44F-EF9A0655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0" name="text-183">
            <a:extLst xmlns:a="http://schemas.openxmlformats.org/drawingml/2006/main">
              <a:ext uri="{FF2B5EF4-FFF2-40B4-BE49-F238E27FC236}">
                <a16:creationId xmlns:a16="http://schemas.microsoft.com/office/drawing/2014/main" id="{0261960D-C267-482A-88C8-A8184FD3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Inmobiliarias</a:t>
            </a:r>
          </a:p>
        </p:txBody>
      </p:sp>
      <p:sp>
        <p:nvSpPr>
          <p:cNvPr id="11" name="text-184">
            <a:extLst xmlns:a="http://schemas.openxmlformats.org/drawingml/2006/main">
              <a:ext uri="{FF2B5EF4-FFF2-40B4-BE49-F238E27FC236}">
                <a16:creationId xmlns:a16="http://schemas.microsoft.com/office/drawing/2014/main" id="{F28228D1-B44C-41EE-9668-0AAD8595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716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“¿Qué barrios o tipologías queréis reforzar?”</a:t>
            </a:r>
          </a:p>
        </p:txBody>
      </p:sp>
      <p:sp>
        <p:nvSpPr>
          <p:cNvPr id="12" name="rule-185">
            <a:extLst xmlns:a="http://schemas.openxmlformats.org/drawingml/2006/main">
              <a:ext uri="{FF2B5EF4-FFF2-40B4-BE49-F238E27FC236}">
                <a16:creationId xmlns:a16="http://schemas.microsoft.com/office/drawing/2014/main" id="{0AD3485F-7F8C-4A05-9332-92F37F34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3" name="text-186">
            <a:extLst xmlns:a="http://schemas.openxmlformats.org/drawingml/2006/main">
              <a:ext uri="{FF2B5EF4-FFF2-40B4-BE49-F238E27FC236}">
                <a16:creationId xmlns:a16="http://schemas.microsoft.com/office/drawing/2014/main" id="{FA88DF9D-F071-4427-AD1B-924F892B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Mudanzas</a:t>
            </a:r>
          </a:p>
        </p:txBody>
      </p:sp>
      <p:sp>
        <p:nvSpPr>
          <p:cNvPr id="14" name="text-187">
            <a:extLst xmlns:a="http://schemas.openxmlformats.org/drawingml/2006/main">
              <a:ext uri="{FF2B5EF4-FFF2-40B4-BE49-F238E27FC236}">
                <a16:creationId xmlns:a16="http://schemas.microsoft.com/office/drawing/2014/main" id="{670F8D7B-584D-401C-B72A-65539450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716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“¿Os falta demanda rentable o velocidad de respuesta?”</a:t>
            </a:r>
          </a:p>
        </p:txBody>
      </p:sp>
      <p:sp>
        <p:nvSpPr>
          <p:cNvPr id="15" name="rule-188">
            <a:extLst xmlns:a="http://schemas.openxmlformats.org/drawingml/2006/main">
              <a:ext uri="{FF2B5EF4-FFF2-40B4-BE49-F238E27FC236}">
                <a16:creationId xmlns:a16="http://schemas.microsoft.com/office/drawing/2014/main" id="{1B2B5D32-2FE4-4AA4-B27F-3410B62C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869014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-189">
            <a:extLst xmlns:a="http://schemas.openxmlformats.org/drawingml/2006/main">
              <a:ext uri="{FF2B5EF4-FFF2-40B4-BE49-F238E27FC236}">
                <a16:creationId xmlns:a16="http://schemas.microsoft.com/office/drawing/2014/main" id="{04AE0F68-B8A9-4810-8036-88F7A0D3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90">
            <a:extLst xmlns:a="http://schemas.openxmlformats.org/drawingml/2006/main">
              <a:ext uri="{FF2B5EF4-FFF2-40B4-BE49-F238E27FC236}">
                <a16:creationId xmlns:a16="http://schemas.microsoft.com/office/drawing/2014/main" id="{1D851686-8F1C-45FA-A13A-30995CCF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CADENCIA DE 15 DÍAS</a:t>
            </a:r>
          </a:p>
        </p:txBody>
      </p:sp>
      <p:sp>
        <p:nvSpPr>
          <p:cNvPr id="3" name="text-191">
            <a:extLst xmlns:a="http://schemas.openxmlformats.org/drawingml/2006/main">
              <a:ext uri="{FF2B5EF4-FFF2-40B4-BE49-F238E27FC236}">
                <a16:creationId xmlns:a16="http://schemas.microsoft.com/office/drawing/2014/main" id="{5C4BCFAC-40A4-4726-AF2B-50695AB6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-192">
            <a:extLst xmlns:a="http://schemas.openxmlformats.org/drawingml/2006/main">
              <a:ext uri="{FF2B5EF4-FFF2-40B4-BE49-F238E27FC236}">
                <a16:creationId xmlns:a16="http://schemas.microsoft.com/office/drawing/2014/main" id="{7AFE0C3C-AB9C-4775-A600-1A7B5932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Nueve contactos; nueve motivos diferentes</a:t>
            </a:r>
          </a:p>
        </p:txBody>
      </p:sp>
      <p:sp>
        <p:nvSpPr>
          <p:cNvPr id="5" name="rule-193">
            <a:extLst xmlns:a="http://schemas.openxmlformats.org/drawingml/2006/main">
              <a:ext uri="{FF2B5EF4-FFF2-40B4-BE49-F238E27FC236}">
                <a16:creationId xmlns:a16="http://schemas.microsoft.com/office/drawing/2014/main" id="{D8D3274F-F887-4AAE-9F55-5FE00E88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rule-194">
            <a:extLst xmlns:a="http://schemas.openxmlformats.org/drawingml/2006/main">
              <a:ext uri="{FF2B5EF4-FFF2-40B4-BE49-F238E27FC236}">
                <a16:creationId xmlns:a16="http://schemas.microsoft.com/office/drawing/2014/main" id="{63B21162-336A-43D0-AA95-963D1922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0EB"/>
            </a:solidFill>
            <a:prstDash val="solid"/>
          </a:ln>
        </p:spPr>
      </p:sp>
      <p:sp>
        <p:nvSpPr>
          <p:cNvPr id="7" name="shape-195">
            <a:extLst xmlns:a="http://schemas.openxmlformats.org/drawingml/2006/main">
              <a:ext uri="{FF2B5EF4-FFF2-40B4-BE49-F238E27FC236}">
                <a16:creationId xmlns:a16="http://schemas.microsoft.com/office/drawing/2014/main" id="{B6B0F8C2-2FED-49CD-A5E7-CB284AAA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96">
            <a:extLst xmlns:a="http://schemas.openxmlformats.org/drawingml/2006/main">
              <a:ext uri="{FF2B5EF4-FFF2-40B4-BE49-F238E27FC236}">
                <a16:creationId xmlns:a16="http://schemas.microsoft.com/office/drawing/2014/main" id="{FFB047E1-FEBC-4843-90A4-A0AFF93F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6225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9" name="text-197">
            <a:extLst xmlns:a="http://schemas.openxmlformats.org/drawingml/2006/main">
              <a:ext uri="{FF2B5EF4-FFF2-40B4-BE49-F238E27FC236}">
                <a16:creationId xmlns:a16="http://schemas.microsoft.com/office/drawing/2014/main" id="{0D04B650-016B-4364-A3C2-CA9D288D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670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Llamada + email</a:t>
            </a:r>
          </a:p>
        </p:txBody>
      </p:sp>
      <p:sp>
        <p:nvSpPr>
          <p:cNvPr id="10" name="shape-198">
            <a:extLst xmlns:a="http://schemas.openxmlformats.org/drawingml/2006/main">
              <a:ext uri="{FF2B5EF4-FFF2-40B4-BE49-F238E27FC236}">
                <a16:creationId xmlns:a16="http://schemas.microsoft.com/office/drawing/2014/main" id="{3B8DD2E1-CD0E-4F49-AA91-022548AE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9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99">
            <a:extLst xmlns:a="http://schemas.openxmlformats.org/drawingml/2006/main">
              <a:ext uri="{FF2B5EF4-FFF2-40B4-BE49-F238E27FC236}">
                <a16:creationId xmlns:a16="http://schemas.microsoft.com/office/drawing/2014/main" id="{BEF2CDD7-F5B3-45C2-919F-9E8B7345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481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12" name="text-200">
            <a:extLst xmlns:a="http://schemas.openxmlformats.org/drawingml/2006/main">
              <a:ext uri="{FF2B5EF4-FFF2-40B4-BE49-F238E27FC236}">
                <a16:creationId xmlns:a16="http://schemas.microsoft.com/office/drawing/2014/main" id="{B30E248E-D6AF-454A-8028-4A59B048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719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LinkedIn</a:t>
            </a:r>
          </a:p>
        </p:txBody>
      </p:sp>
      <p:sp>
        <p:nvSpPr>
          <p:cNvPr id="13" name="shape-201">
            <a:extLst xmlns:a="http://schemas.openxmlformats.org/drawingml/2006/main">
              <a:ext uri="{FF2B5EF4-FFF2-40B4-BE49-F238E27FC236}">
                <a16:creationId xmlns:a16="http://schemas.microsoft.com/office/drawing/2014/main" id="{FE07C4BA-005E-43AE-A26A-29F24E13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09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02">
            <a:extLst xmlns:a="http://schemas.openxmlformats.org/drawingml/2006/main">
              <a:ext uri="{FF2B5EF4-FFF2-40B4-BE49-F238E27FC236}">
                <a16:creationId xmlns:a16="http://schemas.microsoft.com/office/drawing/2014/main" id="{24E5CED1-5923-4617-AA40-9F8673E7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6225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D3</a:t>
            </a:r>
          </a:p>
        </p:txBody>
      </p:sp>
      <p:sp>
        <p:nvSpPr>
          <p:cNvPr id="15" name="text-203">
            <a:extLst xmlns:a="http://schemas.openxmlformats.org/drawingml/2006/main">
              <a:ext uri="{FF2B5EF4-FFF2-40B4-BE49-F238E27FC236}">
                <a16:creationId xmlns:a16="http://schemas.microsoft.com/office/drawing/2014/main" id="{63D83578-B493-4F4E-986C-A128E86A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670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Llamada</a:t>
            </a:r>
          </a:p>
        </p:txBody>
      </p:sp>
      <p:sp>
        <p:nvSpPr>
          <p:cNvPr id="16" name="shape-204">
            <a:extLst xmlns:a="http://schemas.openxmlformats.org/drawingml/2006/main">
              <a:ext uri="{FF2B5EF4-FFF2-40B4-BE49-F238E27FC236}">
                <a16:creationId xmlns:a16="http://schemas.microsoft.com/office/drawing/2014/main" id="{DCF9098F-CBAB-415C-B70B-EC186743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09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205">
            <a:extLst xmlns:a="http://schemas.openxmlformats.org/drawingml/2006/main">
              <a:ext uri="{FF2B5EF4-FFF2-40B4-BE49-F238E27FC236}">
                <a16:creationId xmlns:a16="http://schemas.microsoft.com/office/drawing/2014/main" id="{4F402870-410C-4D25-A938-9AD9F7CA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481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D5</a:t>
            </a:r>
          </a:p>
        </p:txBody>
      </p:sp>
      <p:sp>
        <p:nvSpPr>
          <p:cNvPr id="18" name="text-206">
            <a:extLst xmlns:a="http://schemas.openxmlformats.org/drawingml/2006/main">
              <a:ext uri="{FF2B5EF4-FFF2-40B4-BE49-F238E27FC236}">
                <a16:creationId xmlns:a16="http://schemas.microsoft.com/office/drawing/2014/main" id="{083DD07D-7906-4BC0-8C26-9D5F986A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Criterio</a:t>
            </a:r>
          </a:p>
        </p:txBody>
      </p:sp>
      <p:sp>
        <p:nvSpPr>
          <p:cNvPr id="19" name="shape-207">
            <a:extLst xmlns:a="http://schemas.openxmlformats.org/drawingml/2006/main">
              <a:ext uri="{FF2B5EF4-FFF2-40B4-BE49-F238E27FC236}">
                <a16:creationId xmlns:a16="http://schemas.microsoft.com/office/drawing/2014/main" id="{B165AACF-1BB9-4439-B467-89A87052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09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08">
            <a:extLst xmlns:a="http://schemas.openxmlformats.org/drawingml/2006/main">
              <a:ext uri="{FF2B5EF4-FFF2-40B4-BE49-F238E27FC236}">
                <a16:creationId xmlns:a16="http://schemas.microsoft.com/office/drawing/2014/main" id="{28053596-8B94-4132-BB72-21AA870B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6225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D6</a:t>
            </a:r>
          </a:p>
        </p:txBody>
      </p:sp>
      <p:sp>
        <p:nvSpPr>
          <p:cNvPr id="21" name="text-209">
            <a:extLst xmlns:a="http://schemas.openxmlformats.org/drawingml/2006/main">
              <a:ext uri="{FF2B5EF4-FFF2-40B4-BE49-F238E27FC236}">
                <a16:creationId xmlns:a16="http://schemas.microsoft.com/office/drawing/2014/main" id="{F628B9AE-C5AA-426C-8E08-781367B7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670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Llamada</a:t>
            </a:r>
          </a:p>
        </p:txBody>
      </p:sp>
      <p:sp>
        <p:nvSpPr>
          <p:cNvPr id="22" name="shape-210">
            <a:extLst xmlns:a="http://schemas.openxmlformats.org/drawingml/2006/main">
              <a:ext uri="{FF2B5EF4-FFF2-40B4-BE49-F238E27FC236}">
                <a16:creationId xmlns:a16="http://schemas.microsoft.com/office/drawing/2014/main" id="{AEE20773-8057-417B-9BB1-89186CA1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211">
            <a:extLst xmlns:a="http://schemas.openxmlformats.org/drawingml/2006/main">
              <a:ext uri="{FF2B5EF4-FFF2-40B4-BE49-F238E27FC236}">
                <a16:creationId xmlns:a16="http://schemas.microsoft.com/office/drawing/2014/main" id="{163724ED-2F61-4C02-B8EA-D96596A7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481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D8</a:t>
            </a:r>
          </a:p>
        </p:txBody>
      </p:sp>
      <p:sp>
        <p:nvSpPr>
          <p:cNvPr id="24" name="text-212">
            <a:extLst xmlns:a="http://schemas.openxmlformats.org/drawingml/2006/main">
              <a:ext uri="{FF2B5EF4-FFF2-40B4-BE49-F238E27FC236}">
                <a16:creationId xmlns:a16="http://schemas.microsoft.com/office/drawing/2014/main" id="{475A0128-1524-4849-9C72-5597F120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LinkedIn</a:t>
            </a:r>
          </a:p>
        </p:txBody>
      </p:sp>
      <p:sp>
        <p:nvSpPr>
          <p:cNvPr id="25" name="shape-213">
            <a:extLst xmlns:a="http://schemas.openxmlformats.org/drawingml/2006/main">
              <a:ext uri="{FF2B5EF4-FFF2-40B4-BE49-F238E27FC236}">
                <a16:creationId xmlns:a16="http://schemas.microsoft.com/office/drawing/2014/main" id="{EB8518D6-C82D-49C6-AD77-4AA7D17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09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14">
            <a:extLst xmlns:a="http://schemas.openxmlformats.org/drawingml/2006/main">
              <a:ext uri="{FF2B5EF4-FFF2-40B4-BE49-F238E27FC236}">
                <a16:creationId xmlns:a16="http://schemas.microsoft.com/office/drawing/2014/main" id="{8F2565EE-7D05-4372-AD41-A28CDE7B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6225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D10</a:t>
            </a:r>
          </a:p>
        </p:txBody>
      </p:sp>
      <p:sp>
        <p:nvSpPr>
          <p:cNvPr id="27" name="text-215">
            <a:extLst xmlns:a="http://schemas.openxmlformats.org/drawingml/2006/main">
              <a:ext uri="{FF2B5EF4-FFF2-40B4-BE49-F238E27FC236}">
                <a16:creationId xmlns:a16="http://schemas.microsoft.com/office/drawing/2014/main" id="{71060B0C-5ED8-4787-966A-4A82B93C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Buzón</a:t>
            </a:r>
          </a:p>
        </p:txBody>
      </p:sp>
      <p:sp>
        <p:nvSpPr>
          <p:cNvPr id="28" name="shape-216">
            <a:extLst xmlns:a="http://schemas.openxmlformats.org/drawingml/2006/main">
              <a:ext uri="{FF2B5EF4-FFF2-40B4-BE49-F238E27FC236}">
                <a16:creationId xmlns:a16="http://schemas.microsoft.com/office/drawing/2014/main" id="{7BF8CCF8-73A2-4039-A059-BCC0337C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09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217">
            <a:extLst xmlns:a="http://schemas.openxmlformats.org/drawingml/2006/main">
              <a:ext uri="{FF2B5EF4-FFF2-40B4-BE49-F238E27FC236}">
                <a16:creationId xmlns:a16="http://schemas.microsoft.com/office/drawing/2014/main" id="{7C47348D-D807-431F-8830-88CEB1F3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481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D12</a:t>
            </a:r>
          </a:p>
        </p:txBody>
      </p:sp>
      <p:sp>
        <p:nvSpPr>
          <p:cNvPr id="30" name="text-218">
            <a:extLst xmlns:a="http://schemas.openxmlformats.org/drawingml/2006/main">
              <a:ext uri="{FF2B5EF4-FFF2-40B4-BE49-F238E27FC236}">
                <a16:creationId xmlns:a16="http://schemas.microsoft.com/office/drawing/2014/main" id="{9A9AE3AE-FEF5-4F8F-88D4-97A633A6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719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31" name="shape-219">
            <a:extLst xmlns:a="http://schemas.openxmlformats.org/drawingml/2006/main">
              <a:ext uri="{FF2B5EF4-FFF2-40B4-BE49-F238E27FC236}">
                <a16:creationId xmlns:a16="http://schemas.microsoft.com/office/drawing/2014/main" id="{947A8CAA-E6FB-45F2-87CC-3C9EA8F8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09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220">
            <a:extLst xmlns:a="http://schemas.openxmlformats.org/drawingml/2006/main">
              <a:ext uri="{FF2B5EF4-FFF2-40B4-BE49-F238E27FC236}">
                <a16:creationId xmlns:a16="http://schemas.microsoft.com/office/drawing/2014/main" id="{AC8FB75B-F05D-456A-AFE1-35183EBD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76225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D15</a:t>
            </a:r>
          </a:p>
        </p:txBody>
      </p:sp>
      <p:sp>
        <p:nvSpPr>
          <p:cNvPr id="33" name="text-221">
            <a:extLst xmlns:a="http://schemas.openxmlformats.org/drawingml/2006/main">
              <a:ext uri="{FF2B5EF4-FFF2-40B4-BE49-F238E27FC236}">
                <a16:creationId xmlns:a16="http://schemas.microsoft.com/office/drawing/2014/main" id="{3A35F60E-FCAC-40DB-A47F-22CA768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670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34" name="text-222">
            <a:extLst xmlns:a="http://schemas.openxmlformats.org/drawingml/2006/main">
              <a:ext uri="{FF2B5EF4-FFF2-40B4-BE49-F238E27FC236}">
                <a16:creationId xmlns:a16="http://schemas.microsoft.com/office/drawing/2014/main" id="{BA5B14C2-F6D7-440F-A200-986CB5D9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Una respuesta negativa también es un resultado útil: registra y cierra.</a:t>
            </a:r>
          </a:p>
        </p:txBody>
      </p:sp>
    </p:spTree>
    <p:extLst>
      <p:ext uri="{BB962C8B-B14F-4D97-AF65-F5344CB8AC3E}">
        <p14:creationId xmlns:p14="http://schemas.microsoft.com/office/powerpoint/2010/main" val="754934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223">
            <a:extLst xmlns:a="http://schemas.openxmlformats.org/drawingml/2006/main">
              <a:ext uri="{FF2B5EF4-FFF2-40B4-BE49-F238E27FC236}">
                <a16:creationId xmlns:a16="http://schemas.microsoft.com/office/drawing/2014/main" id="{8EF6C29A-000C-49B2-9600-6EE9CBB6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224">
            <a:extLst xmlns:a="http://schemas.openxmlformats.org/drawingml/2006/main">
              <a:ext uri="{FF2B5EF4-FFF2-40B4-BE49-F238E27FC236}">
                <a16:creationId xmlns:a16="http://schemas.microsoft.com/office/drawing/2014/main" id="{F96B9E63-54FA-43B5-A27D-ACF5030D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DISCIPLINA CRM</a:t>
            </a:r>
          </a:p>
        </p:txBody>
      </p:sp>
      <p:sp>
        <p:nvSpPr>
          <p:cNvPr id="3" name="text-225">
            <a:extLst xmlns:a="http://schemas.openxmlformats.org/drawingml/2006/main">
              <a:ext uri="{FF2B5EF4-FFF2-40B4-BE49-F238E27FC236}">
                <a16:creationId xmlns:a16="http://schemas.microsoft.com/office/drawing/2014/main" id="{76E18530-8CCF-448E-ADB3-9989B7D1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ext-226">
            <a:extLst xmlns:a="http://schemas.openxmlformats.org/drawingml/2006/main">
              <a:ext uri="{FF2B5EF4-FFF2-40B4-BE49-F238E27FC236}">
                <a16:creationId xmlns:a16="http://schemas.microsoft.com/office/drawing/2014/main" id="{E85BC432-6725-4C85-890B-A1030ABE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Lo que no está registrado no puede mejorarse</a:t>
            </a:r>
          </a:p>
        </p:txBody>
      </p:sp>
      <p:sp>
        <p:nvSpPr>
          <p:cNvPr id="5" name="rule-227">
            <a:extLst xmlns:a="http://schemas.openxmlformats.org/drawingml/2006/main">
              <a:ext uri="{FF2B5EF4-FFF2-40B4-BE49-F238E27FC236}">
                <a16:creationId xmlns:a16="http://schemas.microsoft.com/office/drawing/2014/main" id="{11816F05-41DE-4B0C-B875-23A88AFB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228">
            <a:extLst xmlns:a="http://schemas.openxmlformats.org/drawingml/2006/main">
              <a:ext uri="{FF2B5EF4-FFF2-40B4-BE49-F238E27FC236}">
                <a16:creationId xmlns:a16="http://schemas.microsoft.com/office/drawing/2014/main" id="{0908B9C2-F9C3-4147-A692-09478A98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229">
            <a:extLst xmlns:a="http://schemas.openxmlformats.org/drawingml/2006/main">
              <a:ext uri="{FF2B5EF4-FFF2-40B4-BE49-F238E27FC236}">
                <a16:creationId xmlns:a16="http://schemas.microsoft.com/office/drawing/2014/main" id="{F8D98DBE-3879-4990-9953-58795D0F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8" name="text-230">
            <a:extLst xmlns:a="http://schemas.openxmlformats.org/drawingml/2006/main">
              <a:ext uri="{FF2B5EF4-FFF2-40B4-BE49-F238E27FC236}">
                <a16:creationId xmlns:a16="http://schemas.microsoft.com/office/drawing/2014/main" id="{2E2E8FDC-8F8E-4D8D-82AF-7F0AE7E4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3238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contesta · gatekeeper · no encaja · retomar · conversación · reunión</a:t>
            </a:r>
          </a:p>
        </p:txBody>
      </p:sp>
      <p:sp>
        <p:nvSpPr>
          <p:cNvPr id="9" name="text-231">
            <a:extLst xmlns:a="http://schemas.openxmlformats.org/drawingml/2006/main">
              <a:ext uri="{FF2B5EF4-FFF2-40B4-BE49-F238E27FC236}">
                <a16:creationId xmlns:a16="http://schemas.microsoft.com/office/drawing/2014/main" id="{C653C5A3-7E16-452E-971D-5E4AC332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-232">
            <a:extLst xmlns:a="http://schemas.openxmlformats.org/drawingml/2006/main">
              <a:ext uri="{FF2B5EF4-FFF2-40B4-BE49-F238E27FC236}">
                <a16:creationId xmlns:a16="http://schemas.microsoft.com/office/drawing/2014/main" id="{77E2CD51-C6CA-458E-8E2D-E057182F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003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11" name="text-233">
            <a:extLst xmlns:a="http://schemas.openxmlformats.org/drawingml/2006/main">
              <a:ext uri="{FF2B5EF4-FFF2-40B4-BE49-F238E27FC236}">
                <a16:creationId xmlns:a16="http://schemas.microsoft.com/office/drawing/2014/main" id="{AADEC410-188E-4AB5-9B35-93A41DCB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3238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Palabras exactas, objeción, prioridad y dato todavía pendiente</a:t>
            </a:r>
          </a:p>
        </p:txBody>
      </p:sp>
      <p:sp>
        <p:nvSpPr>
          <p:cNvPr id="12" name="text-234">
            <a:extLst xmlns:a="http://schemas.openxmlformats.org/drawingml/2006/main">
              <a:ext uri="{FF2B5EF4-FFF2-40B4-BE49-F238E27FC236}">
                <a16:creationId xmlns:a16="http://schemas.microsoft.com/office/drawing/2014/main" id="{3ECAD74D-9E3A-4B19-8A4E-6A6ECEB8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235">
            <a:extLst xmlns:a="http://schemas.openxmlformats.org/drawingml/2006/main">
              <a:ext uri="{FF2B5EF4-FFF2-40B4-BE49-F238E27FC236}">
                <a16:creationId xmlns:a16="http://schemas.microsoft.com/office/drawing/2014/main" id="{C831BDE7-CC9D-47A2-B88B-CB418C28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SIGUIENTE ACCIÓN</a:t>
            </a:r>
          </a:p>
        </p:txBody>
      </p:sp>
      <p:sp>
        <p:nvSpPr>
          <p:cNvPr id="14" name="text-236">
            <a:extLst xmlns:a="http://schemas.openxmlformats.org/drawingml/2006/main">
              <a:ext uri="{FF2B5EF4-FFF2-40B4-BE49-F238E27FC236}">
                <a16:creationId xmlns:a16="http://schemas.microsoft.com/office/drawing/2014/main" id="{8D566906-C58B-4122-A92A-C807CED7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238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Responsable, fecha, canal y condición que hará avanzar</a:t>
            </a:r>
          </a:p>
        </p:txBody>
      </p:sp>
      <p:sp>
        <p:nvSpPr>
          <p:cNvPr id="15" name="shape-237">
            <a:extLst xmlns:a="http://schemas.openxmlformats.org/drawingml/2006/main">
              <a:ext uri="{FF2B5EF4-FFF2-40B4-BE49-F238E27FC236}">
                <a16:creationId xmlns:a16="http://schemas.microsoft.com/office/drawing/2014/main" id="{85A9A847-F9A5-45EA-8D84-B38C0CA3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38">
            <a:extLst xmlns:a="http://schemas.openxmlformats.org/drawingml/2006/main">
              <a:ext uri="{FF2B5EF4-FFF2-40B4-BE49-F238E27FC236}">
                <a16:creationId xmlns:a16="http://schemas.microsoft.com/office/drawing/2014/main" id="{94CBE9D3-8280-4213-9691-1E08F389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1055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oportunidad sin responsable y fecha vuelve a la lista, no al pipeline.</a:t>
            </a:r>
          </a:p>
        </p:txBody>
      </p:sp>
    </p:spTree>
    <p:extLst>
      <p:ext uri="{BB962C8B-B14F-4D97-AF65-F5344CB8AC3E}">
        <p14:creationId xmlns:p14="http://schemas.microsoft.com/office/powerpoint/2010/main" val="7702181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239">
            <a:extLst xmlns:a="http://schemas.openxmlformats.org/drawingml/2006/main">
              <a:ext uri="{FF2B5EF4-FFF2-40B4-BE49-F238E27FC236}">
                <a16:creationId xmlns:a16="http://schemas.microsoft.com/office/drawing/2014/main" id="{53D45B41-12C0-44FE-9824-B3BA2366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240">
            <a:extLst xmlns:a="http://schemas.openxmlformats.org/drawingml/2006/main">
              <a:ext uri="{FF2B5EF4-FFF2-40B4-BE49-F238E27FC236}">
                <a16:creationId xmlns:a16="http://schemas.microsoft.com/office/drawing/2014/main" id="{8E223D69-B956-429C-84F9-33E89A06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COACHING</a:t>
            </a:r>
          </a:p>
        </p:txBody>
      </p:sp>
      <p:sp>
        <p:nvSpPr>
          <p:cNvPr id="3" name="text-241">
            <a:extLst xmlns:a="http://schemas.openxmlformats.org/drawingml/2006/main">
              <a:ext uri="{FF2B5EF4-FFF2-40B4-BE49-F238E27FC236}">
                <a16:creationId xmlns:a16="http://schemas.microsoft.com/office/drawing/2014/main" id="{341E1B8D-2444-4336-8C5C-B4F4A0C9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text-242">
            <a:extLst xmlns:a="http://schemas.openxmlformats.org/drawingml/2006/main">
              <a:ext uri="{FF2B5EF4-FFF2-40B4-BE49-F238E27FC236}">
                <a16:creationId xmlns:a16="http://schemas.microsoft.com/office/drawing/2014/main" id="{944C3D1E-6855-4DDC-A94C-D134163D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El scorecard premia comportamientos observables</a:t>
            </a:r>
          </a:p>
        </p:txBody>
      </p:sp>
      <p:sp>
        <p:nvSpPr>
          <p:cNvPr id="5" name="rule-243">
            <a:extLst xmlns:a="http://schemas.openxmlformats.org/drawingml/2006/main">
              <a:ext uri="{FF2B5EF4-FFF2-40B4-BE49-F238E27FC236}">
                <a16:creationId xmlns:a16="http://schemas.microsoft.com/office/drawing/2014/main" id="{FB53A2B7-7BB9-4196-9FFF-1AF66F30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244">
            <a:extLst xmlns:a="http://schemas.openxmlformats.org/drawingml/2006/main">
              <a:ext uri="{FF2B5EF4-FFF2-40B4-BE49-F238E27FC236}">
                <a16:creationId xmlns:a16="http://schemas.microsoft.com/office/drawing/2014/main" id="{F46969F3-26A1-406D-BECF-5C484A7D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245">
            <a:extLst xmlns:a="http://schemas.openxmlformats.org/drawingml/2006/main">
              <a:ext uri="{FF2B5EF4-FFF2-40B4-BE49-F238E27FC236}">
                <a16:creationId xmlns:a16="http://schemas.microsoft.com/office/drawing/2014/main" id="{426123E6-2EF7-4D62-9C1A-218D7A63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Permiso</a:t>
            </a:r>
          </a:p>
        </p:txBody>
      </p:sp>
      <p:sp>
        <p:nvSpPr>
          <p:cNvPr id="8" name="text-246">
            <a:extLst xmlns:a="http://schemas.openxmlformats.org/drawingml/2006/main">
              <a:ext uri="{FF2B5EF4-FFF2-40B4-BE49-F238E27FC236}">
                <a16:creationId xmlns:a16="http://schemas.microsoft.com/office/drawing/2014/main" id="{19BC80D2-E850-4793-AACD-1E3C6BF7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Identidad y 30 segundos</a:t>
            </a:r>
          </a:p>
        </p:txBody>
      </p:sp>
      <p:sp>
        <p:nvSpPr>
          <p:cNvPr id="9" name="rule-247">
            <a:extLst xmlns:a="http://schemas.openxmlformats.org/drawingml/2006/main">
              <a:ext uri="{FF2B5EF4-FFF2-40B4-BE49-F238E27FC236}">
                <a16:creationId xmlns:a16="http://schemas.microsoft.com/office/drawing/2014/main" id="{CF75600F-3704-4878-BFCE-0B14321C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0" name="text-248">
            <a:extLst xmlns:a="http://schemas.openxmlformats.org/drawingml/2006/main">
              <a:ext uri="{FF2B5EF4-FFF2-40B4-BE49-F238E27FC236}">
                <a16:creationId xmlns:a16="http://schemas.microsoft.com/office/drawing/2014/main" id="{B23FF5B7-FF45-45FF-BCB6-92CF3F43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-249">
            <a:extLst xmlns:a="http://schemas.openxmlformats.org/drawingml/2006/main">
              <a:ext uri="{FF2B5EF4-FFF2-40B4-BE49-F238E27FC236}">
                <a16:creationId xmlns:a16="http://schemas.microsoft.com/office/drawing/2014/main" id="{74BC175F-487E-4854-B196-785804E2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717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Prioridad</a:t>
            </a:r>
          </a:p>
        </p:txBody>
      </p:sp>
      <p:sp>
        <p:nvSpPr>
          <p:cNvPr id="12" name="text-250">
            <a:extLst xmlns:a="http://schemas.openxmlformats.org/drawingml/2006/main">
              <a:ext uri="{FF2B5EF4-FFF2-40B4-BE49-F238E27FC236}">
                <a16:creationId xmlns:a16="http://schemas.microsoft.com/office/drawing/2014/main" id="{4BF842B8-4CE0-4EB7-AF34-7B1DE683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Pregunta antes del pitch</a:t>
            </a:r>
          </a:p>
        </p:txBody>
      </p:sp>
      <p:sp>
        <p:nvSpPr>
          <p:cNvPr id="13" name="rule-251">
            <a:extLst xmlns:a="http://schemas.openxmlformats.org/drawingml/2006/main">
              <a:ext uri="{FF2B5EF4-FFF2-40B4-BE49-F238E27FC236}">
                <a16:creationId xmlns:a16="http://schemas.microsoft.com/office/drawing/2014/main" id="{F6EA5D0D-312B-4208-95B2-978B489E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528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4" name="text-252">
            <a:extLst xmlns:a="http://schemas.openxmlformats.org/drawingml/2006/main">
              <a:ext uri="{FF2B5EF4-FFF2-40B4-BE49-F238E27FC236}">
                <a16:creationId xmlns:a16="http://schemas.microsoft.com/office/drawing/2014/main" id="{1EED8A8F-49D7-4CCA-8851-80E24F98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-253">
            <a:extLst xmlns:a="http://schemas.openxmlformats.org/drawingml/2006/main">
              <a:ext uri="{FF2B5EF4-FFF2-40B4-BE49-F238E27FC236}">
                <a16:creationId xmlns:a16="http://schemas.microsoft.com/office/drawing/2014/main" id="{8BBE90FE-CED8-4400-8694-39D473D4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717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Escucha</a:t>
            </a:r>
          </a:p>
        </p:txBody>
      </p:sp>
      <p:sp>
        <p:nvSpPr>
          <p:cNvPr id="16" name="text-254">
            <a:extLst xmlns:a="http://schemas.openxmlformats.org/drawingml/2006/main">
              <a:ext uri="{FF2B5EF4-FFF2-40B4-BE49-F238E27FC236}">
                <a16:creationId xmlns:a16="http://schemas.microsoft.com/office/drawing/2014/main" id="{D956F189-FD79-4ADA-BE7D-E3FFE9E5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Palabras exactas</a:t>
            </a:r>
          </a:p>
        </p:txBody>
      </p:sp>
      <p:sp>
        <p:nvSpPr>
          <p:cNvPr id="17" name="rule-255">
            <a:extLst xmlns:a="http://schemas.openxmlformats.org/drawingml/2006/main">
              <a:ext uri="{FF2B5EF4-FFF2-40B4-BE49-F238E27FC236}">
                <a16:creationId xmlns:a16="http://schemas.microsoft.com/office/drawing/2014/main" id="{D4868FBF-013D-4F16-BE4F-8160BAEC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18" name="text-256">
            <a:extLst xmlns:a="http://schemas.openxmlformats.org/drawingml/2006/main">
              <a:ext uri="{FF2B5EF4-FFF2-40B4-BE49-F238E27FC236}">
                <a16:creationId xmlns:a16="http://schemas.microsoft.com/office/drawing/2014/main" id="{17AC69E3-08DA-4C22-A504-C350214F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-257">
            <a:extLst xmlns:a="http://schemas.openxmlformats.org/drawingml/2006/main">
              <a:ext uri="{FF2B5EF4-FFF2-40B4-BE49-F238E27FC236}">
                <a16:creationId xmlns:a16="http://schemas.microsoft.com/office/drawing/2014/main" id="{B4FA56D7-2035-41F5-AEDE-04CB899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Integridad</a:t>
            </a:r>
          </a:p>
        </p:txBody>
      </p:sp>
      <p:sp>
        <p:nvSpPr>
          <p:cNvPr id="20" name="text-258">
            <a:extLst xmlns:a="http://schemas.openxmlformats.org/drawingml/2006/main">
              <a:ext uri="{FF2B5EF4-FFF2-40B4-BE49-F238E27FC236}">
                <a16:creationId xmlns:a16="http://schemas.microsoft.com/office/drawing/2014/main" id="{E581FB7E-8D06-4614-93A5-033AA02A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Cero promesas</a:t>
            </a:r>
          </a:p>
        </p:txBody>
      </p:sp>
      <p:sp>
        <p:nvSpPr>
          <p:cNvPr id="21" name="rule-259">
            <a:extLst xmlns:a="http://schemas.openxmlformats.org/drawingml/2006/main">
              <a:ext uri="{FF2B5EF4-FFF2-40B4-BE49-F238E27FC236}">
                <a16:creationId xmlns:a16="http://schemas.microsoft.com/office/drawing/2014/main" id="{2DF046E1-F8E9-485C-93F4-286B8EC3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22" name="text-260">
            <a:extLst xmlns:a="http://schemas.openxmlformats.org/drawingml/2006/main">
              <a:ext uri="{FF2B5EF4-FFF2-40B4-BE49-F238E27FC236}">
                <a16:creationId xmlns:a16="http://schemas.microsoft.com/office/drawing/2014/main" id="{3D17E777-8119-41BA-8D68-27ED6E94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29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text-261">
            <a:extLst xmlns:a="http://schemas.openxmlformats.org/drawingml/2006/main">
              <a:ext uri="{FF2B5EF4-FFF2-40B4-BE49-F238E27FC236}">
                <a16:creationId xmlns:a16="http://schemas.microsoft.com/office/drawing/2014/main" id="{816DBCC3-6C0A-4788-941F-90D6B23C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24" name="text-262">
            <a:extLst xmlns:a="http://schemas.openxmlformats.org/drawingml/2006/main">
              <a:ext uri="{FF2B5EF4-FFF2-40B4-BE49-F238E27FC236}">
                <a16:creationId xmlns:a16="http://schemas.microsoft.com/office/drawing/2014/main" id="{8C25AE28-BF52-43EA-873F-B13EFFC8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481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Decisor y objetivo</a:t>
            </a:r>
          </a:p>
        </p:txBody>
      </p:sp>
      <p:sp>
        <p:nvSpPr>
          <p:cNvPr id="25" name="rule-263">
            <a:extLst xmlns:a="http://schemas.openxmlformats.org/drawingml/2006/main">
              <a:ext uri="{FF2B5EF4-FFF2-40B4-BE49-F238E27FC236}">
                <a16:creationId xmlns:a16="http://schemas.microsoft.com/office/drawing/2014/main" id="{E83DF47D-28EF-4838-ABC1-4D5421C3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911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26" name="text-264">
            <a:extLst xmlns:a="http://schemas.openxmlformats.org/drawingml/2006/main">
              <a:ext uri="{FF2B5EF4-FFF2-40B4-BE49-F238E27FC236}">
                <a16:creationId xmlns:a16="http://schemas.microsoft.com/office/drawing/2014/main" id="{A87A18E6-57B5-459C-8967-DF413686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text-265">
            <a:extLst xmlns:a="http://schemas.openxmlformats.org/drawingml/2006/main">
              <a:ext uri="{FF2B5EF4-FFF2-40B4-BE49-F238E27FC236}">
                <a16:creationId xmlns:a16="http://schemas.microsoft.com/office/drawing/2014/main" id="{0BFF13A5-A7B4-4264-AD40-54A83DDF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100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CRM</a:t>
            </a:r>
          </a:p>
        </p:txBody>
      </p:sp>
      <p:sp>
        <p:nvSpPr>
          <p:cNvPr id="28" name="text-266">
            <a:extLst xmlns:a="http://schemas.openxmlformats.org/drawingml/2006/main">
              <a:ext uri="{FF2B5EF4-FFF2-40B4-BE49-F238E27FC236}">
                <a16:creationId xmlns:a16="http://schemas.microsoft.com/office/drawing/2014/main" id="{1003155E-677C-411B-8D2E-FF304575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481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Fecha y siguiente acción</a:t>
            </a:r>
          </a:p>
        </p:txBody>
      </p:sp>
      <p:sp>
        <p:nvSpPr>
          <p:cNvPr id="29" name="rule-267">
            <a:extLst xmlns:a="http://schemas.openxmlformats.org/drawingml/2006/main">
              <a:ext uri="{FF2B5EF4-FFF2-40B4-BE49-F238E27FC236}">
                <a16:creationId xmlns:a16="http://schemas.microsoft.com/office/drawing/2014/main" id="{93A46B4E-EFC3-4437-9E4F-A0D6265B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911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30" name="text-268">
            <a:extLst xmlns:a="http://schemas.openxmlformats.org/drawingml/2006/main">
              <a:ext uri="{FF2B5EF4-FFF2-40B4-BE49-F238E27FC236}">
                <a16:creationId xmlns:a16="http://schemas.microsoft.com/office/drawing/2014/main" id="{88BF3102-8991-4E19-BDDF-4F11DC89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Escucha una llamada completa. Marca solo lo que ocurrió.</a:t>
            </a:r>
          </a:p>
        </p:txBody>
      </p:sp>
    </p:spTree>
    <p:extLst>
      <p:ext uri="{BB962C8B-B14F-4D97-AF65-F5344CB8AC3E}">
        <p14:creationId xmlns:p14="http://schemas.microsoft.com/office/powerpoint/2010/main" val="8444588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269">
            <a:extLst xmlns:a="http://schemas.openxmlformats.org/drawingml/2006/main">
              <a:ext uri="{FF2B5EF4-FFF2-40B4-BE49-F238E27FC236}">
                <a16:creationId xmlns:a16="http://schemas.microsoft.com/office/drawing/2014/main" id="{A8DF1BE6-8535-4701-92A7-1B383D83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270">
            <a:extLst xmlns:a="http://schemas.openxmlformats.org/drawingml/2006/main">
              <a:ext uri="{FF2B5EF4-FFF2-40B4-BE49-F238E27FC236}">
                <a16:creationId xmlns:a16="http://schemas.microsoft.com/office/drawing/2014/main" id="{79932E80-EBDB-43E2-A246-6E3D566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LABORATORIO DE ROLE-PLAY</a:t>
            </a:r>
          </a:p>
        </p:txBody>
      </p:sp>
      <p:sp>
        <p:nvSpPr>
          <p:cNvPr id="3" name="text-271">
            <a:extLst xmlns:a="http://schemas.openxmlformats.org/drawingml/2006/main">
              <a:ext uri="{FF2B5EF4-FFF2-40B4-BE49-F238E27FC236}">
                <a16:creationId xmlns:a16="http://schemas.microsoft.com/office/drawing/2014/main" id="{1C848B4B-B8CF-42D8-90EF-74F2C080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text-272">
            <a:extLst xmlns:a="http://schemas.openxmlformats.org/drawingml/2006/main">
              <a:ext uri="{FF2B5EF4-FFF2-40B4-BE49-F238E27FC236}">
                <a16:creationId xmlns:a16="http://schemas.microsoft.com/office/drawing/2014/main" id="{A9674115-740E-400E-AF75-96689966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La práctica debe parecerse a una llamada difícil</a:t>
            </a:r>
          </a:p>
        </p:txBody>
      </p:sp>
      <p:sp>
        <p:nvSpPr>
          <p:cNvPr id="5" name="rule-273">
            <a:extLst xmlns:a="http://schemas.openxmlformats.org/drawingml/2006/main">
              <a:ext uri="{FF2B5EF4-FFF2-40B4-BE49-F238E27FC236}">
                <a16:creationId xmlns:a16="http://schemas.microsoft.com/office/drawing/2014/main" id="{8A49712A-B140-4E32-84BF-32B6E3ED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shape-274">
            <a:extLst xmlns:a="http://schemas.openxmlformats.org/drawingml/2006/main">
              <a:ext uri="{FF2B5EF4-FFF2-40B4-BE49-F238E27FC236}">
                <a16:creationId xmlns:a16="http://schemas.microsoft.com/office/drawing/2014/main" id="{5495D4DB-63CF-4EC2-AC77-A439E0F4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704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275">
            <a:extLst xmlns:a="http://schemas.openxmlformats.org/drawingml/2006/main">
              <a:ext uri="{FF2B5EF4-FFF2-40B4-BE49-F238E27FC236}">
                <a16:creationId xmlns:a16="http://schemas.microsoft.com/office/drawing/2014/main" id="{D15DA762-43C5-4222-9C07-1B620215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R1</a:t>
            </a:r>
          </a:p>
        </p:txBody>
      </p:sp>
      <p:sp>
        <p:nvSpPr>
          <p:cNvPr id="8" name="text-276">
            <a:extLst xmlns:a="http://schemas.openxmlformats.org/drawingml/2006/main">
              <a:ext uri="{FF2B5EF4-FFF2-40B4-BE49-F238E27FC236}">
                <a16:creationId xmlns:a16="http://schemas.microsoft.com/office/drawing/2014/main" id="{06A05BA5-F224-400C-9E05-07DFCC23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90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Apertura</a:t>
            </a:r>
          </a:p>
        </p:txBody>
      </p:sp>
      <p:sp>
        <p:nvSpPr>
          <p:cNvPr id="9" name="text-277">
            <a:extLst xmlns:a="http://schemas.openxmlformats.org/drawingml/2006/main">
              <a:ext uri="{FF2B5EF4-FFF2-40B4-BE49-F238E27FC236}">
                <a16:creationId xmlns:a16="http://schemas.microsoft.com/office/drawing/2014/main" id="{9B7DCA43-9979-4FAB-9599-3E113550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098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30 s</a:t>
            </a:r>
          </a:p>
        </p:txBody>
      </p:sp>
      <p:sp>
        <p:nvSpPr>
          <p:cNvPr id="10" name="text-278">
            <a:extLst xmlns:a="http://schemas.openxmlformats.org/drawingml/2006/main">
              <a:ext uri="{FF2B5EF4-FFF2-40B4-BE49-F238E27FC236}">
                <a16:creationId xmlns:a16="http://schemas.microsoft.com/office/drawing/2014/main" id="{2A08D66A-50DB-4B42-95EC-D94A8F89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812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Se corta al pasar de tiempo</a:t>
            </a:r>
          </a:p>
        </p:txBody>
      </p:sp>
      <p:sp>
        <p:nvSpPr>
          <p:cNvPr id="11" name="shape-279">
            <a:extLst xmlns:a="http://schemas.openxmlformats.org/drawingml/2006/main">
              <a:ext uri="{FF2B5EF4-FFF2-40B4-BE49-F238E27FC236}">
                <a16:creationId xmlns:a16="http://schemas.microsoft.com/office/drawing/2014/main" id="{4247E19A-A6DE-4E25-985A-3015F0E1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704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80">
            <a:extLst xmlns:a="http://schemas.openxmlformats.org/drawingml/2006/main">
              <a:ext uri="{FF2B5EF4-FFF2-40B4-BE49-F238E27FC236}">
                <a16:creationId xmlns:a16="http://schemas.microsoft.com/office/drawing/2014/main" id="{2D764F07-58ED-4FFB-8EEE-A8F44439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13" name="text-281">
            <a:extLst xmlns:a="http://schemas.openxmlformats.org/drawingml/2006/main">
              <a:ext uri="{FF2B5EF4-FFF2-40B4-BE49-F238E27FC236}">
                <a16:creationId xmlns:a16="http://schemas.microsoft.com/office/drawing/2014/main" id="{34D41A6D-3390-4835-93D3-153EC580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Gatekeeper</a:t>
            </a:r>
          </a:p>
        </p:txBody>
      </p:sp>
      <p:sp>
        <p:nvSpPr>
          <p:cNvPr id="14" name="text-282">
            <a:extLst xmlns:a="http://schemas.openxmlformats.org/drawingml/2006/main">
              <a:ext uri="{FF2B5EF4-FFF2-40B4-BE49-F238E27FC236}">
                <a16:creationId xmlns:a16="http://schemas.microsoft.com/office/drawing/2014/main" id="{2408FD6A-65A9-4ED0-9443-5D10F924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90 s</a:t>
            </a:r>
          </a:p>
        </p:txBody>
      </p:sp>
      <p:sp>
        <p:nvSpPr>
          <p:cNvPr id="15" name="text-283">
            <a:extLst xmlns:a="http://schemas.openxmlformats.org/drawingml/2006/main">
              <a:ext uri="{FF2B5EF4-FFF2-40B4-BE49-F238E27FC236}">
                <a16:creationId xmlns:a16="http://schemas.microsoft.com/office/drawing/2014/main" id="{08146B1E-35D2-42DD-9A8A-A8D29D1A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765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Conseguir nombre y canal</a:t>
            </a:r>
          </a:p>
        </p:txBody>
      </p:sp>
      <p:sp>
        <p:nvSpPr>
          <p:cNvPr id="16" name="shape-284">
            <a:extLst xmlns:a="http://schemas.openxmlformats.org/drawingml/2006/main">
              <a:ext uri="{FF2B5EF4-FFF2-40B4-BE49-F238E27FC236}">
                <a16:creationId xmlns:a16="http://schemas.microsoft.com/office/drawing/2014/main" id="{4E82E524-B3FA-4379-A556-FDC3E56A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704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285">
            <a:extLst xmlns:a="http://schemas.openxmlformats.org/drawingml/2006/main">
              <a:ext uri="{FF2B5EF4-FFF2-40B4-BE49-F238E27FC236}">
                <a16:creationId xmlns:a16="http://schemas.microsoft.com/office/drawing/2014/main" id="{03B85F60-5482-4CDC-9194-606E9286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R3</a:t>
            </a:r>
          </a:p>
        </p:txBody>
      </p:sp>
      <p:sp>
        <p:nvSpPr>
          <p:cNvPr id="18" name="text-286">
            <a:extLst xmlns:a="http://schemas.openxmlformats.org/drawingml/2006/main">
              <a:ext uri="{FF2B5EF4-FFF2-40B4-BE49-F238E27FC236}">
                <a16:creationId xmlns:a16="http://schemas.microsoft.com/office/drawing/2014/main" id="{73D99C64-F03C-4083-B432-37210C78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81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Objeción</a:t>
            </a:r>
          </a:p>
        </p:txBody>
      </p:sp>
      <p:sp>
        <p:nvSpPr>
          <p:cNvPr id="19" name="text-287">
            <a:extLst xmlns:a="http://schemas.openxmlformats.org/drawingml/2006/main">
              <a:ext uri="{FF2B5EF4-FFF2-40B4-BE49-F238E27FC236}">
                <a16:creationId xmlns:a16="http://schemas.microsoft.com/office/drawing/2014/main" id="{351486E9-BBB5-4793-B921-72EB51CD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005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20" name="text-288">
            <a:extLst xmlns:a="http://schemas.openxmlformats.org/drawingml/2006/main">
              <a:ext uri="{FF2B5EF4-FFF2-40B4-BE49-F238E27FC236}">
                <a16:creationId xmlns:a16="http://schemas.microsoft.com/office/drawing/2014/main" id="{9AC668B2-F3DE-4B03-922F-3465696C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719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Preguntar antes de responder</a:t>
            </a:r>
          </a:p>
        </p:txBody>
      </p:sp>
      <p:sp>
        <p:nvSpPr>
          <p:cNvPr id="21" name="shape-289">
            <a:extLst xmlns:a="http://schemas.openxmlformats.org/drawingml/2006/main">
              <a:ext uri="{FF2B5EF4-FFF2-40B4-BE49-F238E27FC236}">
                <a16:creationId xmlns:a16="http://schemas.microsoft.com/office/drawing/2014/main" id="{7DC2DAB8-6588-4ECD-9842-8D7BC48A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704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90">
            <a:extLst xmlns:a="http://schemas.openxmlformats.org/drawingml/2006/main">
              <a:ext uri="{FF2B5EF4-FFF2-40B4-BE49-F238E27FC236}">
                <a16:creationId xmlns:a16="http://schemas.microsoft.com/office/drawing/2014/main" id="{540A2EC4-A490-4555-AEF9-CB799EDB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R4</a:t>
            </a:r>
          </a:p>
        </p:txBody>
      </p:sp>
      <p:sp>
        <p:nvSpPr>
          <p:cNvPr id="23" name="text-291">
            <a:extLst xmlns:a="http://schemas.openxmlformats.org/drawingml/2006/main">
              <a:ext uri="{FF2B5EF4-FFF2-40B4-BE49-F238E27FC236}">
                <a16:creationId xmlns:a16="http://schemas.microsoft.com/office/drawing/2014/main" id="{58E5813A-BFBA-4C39-979D-09270E0B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76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24" name="text-292">
            <a:extLst xmlns:a="http://schemas.openxmlformats.org/drawingml/2006/main">
              <a:ext uri="{FF2B5EF4-FFF2-40B4-BE49-F238E27FC236}">
                <a16:creationId xmlns:a16="http://schemas.microsoft.com/office/drawing/2014/main" id="{264DEF1A-1495-4D86-BBB8-9910771A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958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25" name="text-293">
            <a:extLst xmlns:a="http://schemas.openxmlformats.org/drawingml/2006/main">
              <a:ext uri="{FF2B5EF4-FFF2-40B4-BE49-F238E27FC236}">
                <a16:creationId xmlns:a16="http://schemas.microsoft.com/office/drawing/2014/main" id="{E3494260-F2CE-414B-A6ED-A66B9E42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672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Decisor, objetivo y fecha</a:t>
            </a:r>
          </a:p>
        </p:txBody>
      </p:sp>
    </p:spTree>
    <p:extLst>
      <p:ext uri="{BB962C8B-B14F-4D97-AF65-F5344CB8AC3E}">
        <p14:creationId xmlns:p14="http://schemas.microsoft.com/office/powerpoint/2010/main" val="2924763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294">
            <a:extLst xmlns:a="http://schemas.openxmlformats.org/drawingml/2006/main">
              <a:ext uri="{FF2B5EF4-FFF2-40B4-BE49-F238E27FC236}">
                <a16:creationId xmlns:a16="http://schemas.microsoft.com/office/drawing/2014/main" id="{9EA7903D-1B32-4057-869E-14AD8552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295">
            <a:extLst xmlns:a="http://schemas.openxmlformats.org/drawingml/2006/main">
              <a:ext uri="{FF2B5EF4-FFF2-40B4-BE49-F238E27FC236}">
                <a16:creationId xmlns:a16="http://schemas.microsoft.com/office/drawing/2014/main" id="{0787D3A2-7BA9-4F5A-BF26-F34BFD4C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LISTO PARA LLAMAR</a:t>
            </a:r>
          </a:p>
        </p:txBody>
      </p:sp>
      <p:sp>
        <p:nvSpPr>
          <p:cNvPr id="3" name="text-296">
            <a:extLst xmlns:a="http://schemas.openxmlformats.org/drawingml/2006/main">
              <a:ext uri="{FF2B5EF4-FFF2-40B4-BE49-F238E27FC236}">
                <a16:creationId xmlns:a16="http://schemas.microsoft.com/office/drawing/2014/main" id="{D3D02955-37DC-460F-8FA3-A7923977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text-297">
            <a:extLst xmlns:a="http://schemas.openxmlformats.org/drawingml/2006/main">
              <a:ext uri="{FF2B5EF4-FFF2-40B4-BE49-F238E27FC236}">
                <a16:creationId xmlns:a16="http://schemas.microsoft.com/office/drawing/2014/main" id="{2DBD0D4F-5A2E-4037-B54F-22C7A4E3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Certificación: consistente antes que brillante</a:t>
            </a:r>
          </a:p>
        </p:txBody>
      </p:sp>
      <p:sp>
        <p:nvSpPr>
          <p:cNvPr id="5" name="rule-298">
            <a:extLst xmlns:a="http://schemas.openxmlformats.org/drawingml/2006/main">
              <a:ext uri="{FF2B5EF4-FFF2-40B4-BE49-F238E27FC236}">
                <a16:creationId xmlns:a16="http://schemas.microsoft.com/office/drawing/2014/main" id="{9CCBCF5B-E73C-474E-95FE-938BB9FB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299">
            <a:extLst xmlns:a="http://schemas.openxmlformats.org/drawingml/2006/main">
              <a:ext uri="{FF2B5EF4-FFF2-40B4-BE49-F238E27FC236}">
                <a16:creationId xmlns:a16="http://schemas.microsoft.com/office/drawing/2014/main" id="{C542A284-0F95-46C5-8EE6-8C9A60EA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8A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8A59"/>
                </a:solidFill>
                <a:latin typeface="Arial"/>
                <a:ea typeface="Arial"/>
                <a:cs typeface="Arial"/>
              </a:rPr>
              <a:t>APROBADO</a:t>
            </a:r>
          </a:p>
        </p:txBody>
      </p:sp>
      <p:sp>
        <p:nvSpPr>
          <p:cNvPr id="7" name="shape-300">
            <a:extLst xmlns:a="http://schemas.openxmlformats.org/drawingml/2006/main">
              <a:ext uri="{FF2B5EF4-FFF2-40B4-BE49-F238E27FC236}">
                <a16:creationId xmlns:a16="http://schemas.microsoft.com/office/drawing/2014/main" id="{4C56957A-7A97-444F-8103-62683C8F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301">
            <a:extLst xmlns:a="http://schemas.openxmlformats.org/drawingml/2006/main">
              <a:ext uri="{FF2B5EF4-FFF2-40B4-BE49-F238E27FC236}">
                <a16:creationId xmlns:a16="http://schemas.microsoft.com/office/drawing/2014/main" id="{3B75B685-AF4C-47A7-A485-F3A9B935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95600"/>
            <a:ext cx="4848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3 aperturas seguidas en menos de 30 s.</a:t>
            </a:r>
          </a:p>
        </p:txBody>
      </p:sp>
      <p:sp>
        <p:nvSpPr>
          <p:cNvPr id="9" name="shape-302">
            <a:extLst xmlns:a="http://schemas.openxmlformats.org/drawingml/2006/main">
              <a:ext uri="{FF2B5EF4-FFF2-40B4-BE49-F238E27FC236}">
                <a16:creationId xmlns:a16="http://schemas.microsoft.com/office/drawing/2014/main" id="{F0AFE906-AF05-4E51-986A-316085FD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303">
            <a:extLst xmlns:a="http://schemas.openxmlformats.org/drawingml/2006/main">
              <a:ext uri="{FF2B5EF4-FFF2-40B4-BE49-F238E27FC236}">
                <a16:creationId xmlns:a16="http://schemas.microsoft.com/office/drawing/2014/main" id="{2497343A-7569-4434-8E87-B187011D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48050"/>
            <a:ext cx="4848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2 role-plays con objeción sin prometer.</a:t>
            </a:r>
          </a:p>
        </p:txBody>
      </p:sp>
      <p:sp>
        <p:nvSpPr>
          <p:cNvPr id="11" name="shape-304">
            <a:extLst xmlns:a="http://schemas.openxmlformats.org/drawingml/2006/main">
              <a:ext uri="{FF2B5EF4-FFF2-40B4-BE49-F238E27FC236}">
                <a16:creationId xmlns:a16="http://schemas.microsoft.com/office/drawing/2014/main" id="{5EB417F0-6A5D-440D-A7C0-7154C1BC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05">
            <a:extLst xmlns:a="http://schemas.openxmlformats.org/drawingml/2006/main">
              <a:ext uri="{FF2B5EF4-FFF2-40B4-BE49-F238E27FC236}">
                <a16:creationId xmlns:a16="http://schemas.microsoft.com/office/drawing/2014/main" id="{0615D9F8-12E4-422D-B0C1-9731801C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00500"/>
            <a:ext cx="4848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1 handoff completo con objetivo y decisor.</a:t>
            </a:r>
          </a:p>
        </p:txBody>
      </p:sp>
      <p:sp>
        <p:nvSpPr>
          <p:cNvPr id="13" name="shape-306">
            <a:extLst xmlns:a="http://schemas.openxmlformats.org/drawingml/2006/main">
              <a:ext uri="{FF2B5EF4-FFF2-40B4-BE49-F238E27FC236}">
                <a16:creationId xmlns:a16="http://schemas.microsoft.com/office/drawing/2014/main" id="{3EE38AF8-C4DA-41FD-A683-662F550A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307">
            <a:extLst xmlns:a="http://schemas.openxmlformats.org/drawingml/2006/main">
              <a:ext uri="{FF2B5EF4-FFF2-40B4-BE49-F238E27FC236}">
                <a16:creationId xmlns:a16="http://schemas.microsoft.com/office/drawing/2014/main" id="{79BBF296-6144-4F1A-B6B2-12389508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52950"/>
            <a:ext cx="4848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100% de registros con siguiente acción.</a:t>
            </a:r>
          </a:p>
        </p:txBody>
      </p:sp>
      <p:sp>
        <p:nvSpPr>
          <p:cNvPr id="15" name="shape-308">
            <a:extLst xmlns:a="http://schemas.openxmlformats.org/drawingml/2006/main">
              <a:ext uri="{FF2B5EF4-FFF2-40B4-BE49-F238E27FC236}">
                <a16:creationId xmlns:a16="http://schemas.microsoft.com/office/drawing/2014/main" id="{32A67238-1CC9-404B-8F74-62904762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5410200" cy="32385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309">
            <a:extLst xmlns:a="http://schemas.openxmlformats.org/drawingml/2006/main">
              <a:ext uri="{FF2B5EF4-FFF2-40B4-BE49-F238E27FC236}">
                <a16:creationId xmlns:a16="http://schemas.microsoft.com/office/drawing/2014/main" id="{C8CE2EC7-0810-4619-9973-A9864B0F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NO CERTIFICADO TODAVÍA</a:t>
            </a:r>
          </a:p>
        </p:txBody>
      </p:sp>
      <p:sp>
        <p:nvSpPr>
          <p:cNvPr id="17" name="shape-310">
            <a:extLst xmlns:a="http://schemas.openxmlformats.org/drawingml/2006/main">
              <a:ext uri="{FF2B5EF4-FFF2-40B4-BE49-F238E27FC236}">
                <a16:creationId xmlns:a16="http://schemas.microsoft.com/office/drawing/2014/main" id="{12322A9B-A395-4FA2-B167-75B7A646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0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3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11">
            <a:extLst xmlns:a="http://schemas.openxmlformats.org/drawingml/2006/main">
              <a:ext uri="{FF2B5EF4-FFF2-40B4-BE49-F238E27FC236}">
                <a16:creationId xmlns:a16="http://schemas.microsoft.com/office/drawing/2014/main" id="{F34F7A56-9D59-4393-BB08-4EADD4CD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24200"/>
            <a:ext cx="4029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Recita servicios.</a:t>
            </a:r>
          </a:p>
        </p:txBody>
      </p:sp>
      <p:sp>
        <p:nvSpPr>
          <p:cNvPr id="19" name="shape-312">
            <a:extLst xmlns:a="http://schemas.openxmlformats.org/drawingml/2006/main">
              <a:ext uri="{FF2B5EF4-FFF2-40B4-BE49-F238E27FC236}">
                <a16:creationId xmlns:a16="http://schemas.microsoft.com/office/drawing/2014/main" id="{11DF66E9-3357-4262-9FD6-20C7D7C4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8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3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313">
            <a:extLst xmlns:a="http://schemas.openxmlformats.org/drawingml/2006/main">
              <a:ext uri="{FF2B5EF4-FFF2-40B4-BE49-F238E27FC236}">
                <a16:creationId xmlns:a16="http://schemas.microsoft.com/office/drawing/2014/main" id="{1F3850CA-8CA2-4B33-AB39-624AA631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562350"/>
            <a:ext cx="4029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Discute precio.</a:t>
            </a:r>
          </a:p>
        </p:txBody>
      </p:sp>
      <p:sp>
        <p:nvSpPr>
          <p:cNvPr id="21" name="shape-314">
            <a:extLst xmlns:a="http://schemas.openxmlformats.org/drawingml/2006/main">
              <a:ext uri="{FF2B5EF4-FFF2-40B4-BE49-F238E27FC236}">
                <a16:creationId xmlns:a16="http://schemas.microsoft.com/office/drawing/2014/main" id="{577BAC70-2B00-4672-B2A1-7D46AE77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3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315">
            <a:extLst xmlns:a="http://schemas.openxmlformats.org/drawingml/2006/main">
              <a:ext uri="{FF2B5EF4-FFF2-40B4-BE49-F238E27FC236}">
                <a16:creationId xmlns:a16="http://schemas.microsoft.com/office/drawing/2014/main" id="{AD41AD77-B5DA-4401-87BA-C26DD164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000500"/>
            <a:ext cx="4029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Interrumpe respuestas.</a:t>
            </a:r>
          </a:p>
        </p:txBody>
      </p:sp>
      <p:sp>
        <p:nvSpPr>
          <p:cNvPr id="23" name="shape-316">
            <a:extLst xmlns:a="http://schemas.openxmlformats.org/drawingml/2006/main">
              <a:ext uri="{FF2B5EF4-FFF2-40B4-BE49-F238E27FC236}">
                <a16:creationId xmlns:a16="http://schemas.microsoft.com/office/drawing/2014/main" id="{407CB4A3-5253-4300-9FAB-03CD9154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3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317">
            <a:extLst xmlns:a="http://schemas.openxmlformats.org/drawingml/2006/main">
              <a:ext uri="{FF2B5EF4-FFF2-40B4-BE49-F238E27FC236}">
                <a16:creationId xmlns:a16="http://schemas.microsoft.com/office/drawing/2014/main" id="{938275D1-DC2C-4FA3-89A9-50560D19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438650"/>
            <a:ext cx="4029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Agenda sin encaje.</a:t>
            </a:r>
          </a:p>
        </p:txBody>
      </p:sp>
      <p:sp>
        <p:nvSpPr>
          <p:cNvPr id="25" name="shape-318">
            <a:extLst xmlns:a="http://schemas.openxmlformats.org/drawingml/2006/main">
              <a:ext uri="{FF2B5EF4-FFF2-40B4-BE49-F238E27FC236}">
                <a16:creationId xmlns:a16="http://schemas.microsoft.com/office/drawing/2014/main" id="{C750A532-F15E-4D6D-A294-23F4533E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3A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319">
            <a:extLst xmlns:a="http://schemas.openxmlformats.org/drawingml/2006/main">
              <a:ext uri="{FF2B5EF4-FFF2-40B4-BE49-F238E27FC236}">
                <a16:creationId xmlns:a16="http://schemas.microsoft.com/office/drawing/2014/main" id="{376D1DF0-328B-4E77-B430-64A66875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876800"/>
            <a:ext cx="4029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5"/>
                </a:solidFill>
                <a:latin typeface="Arial"/>
                <a:ea typeface="Arial"/>
                <a:cs typeface="Arial"/>
              </a:rPr>
              <a:t>Deja notas vagas.</a:t>
            </a:r>
          </a:p>
        </p:txBody>
      </p:sp>
    </p:spTree>
    <p:extLst>
      <p:ext uri="{BB962C8B-B14F-4D97-AF65-F5344CB8AC3E}">
        <p14:creationId xmlns:p14="http://schemas.microsoft.com/office/powerpoint/2010/main" val="6427916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20">
            <a:extLst xmlns:a="http://schemas.openxmlformats.org/drawingml/2006/main">
              <a:ext uri="{FF2B5EF4-FFF2-40B4-BE49-F238E27FC236}">
                <a16:creationId xmlns:a16="http://schemas.microsoft.com/office/drawing/2014/main" id="{57D233E0-1358-4D1B-847C-AE4AAEDB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321">
            <a:extLst xmlns:a="http://schemas.openxmlformats.org/drawingml/2006/main">
              <a:ext uri="{FF2B5EF4-FFF2-40B4-BE49-F238E27FC236}">
                <a16:creationId xmlns:a16="http://schemas.microsoft.com/office/drawing/2014/main" id="{E6586060-40C1-43C0-8678-20C4BEB9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ESTÁNDAR DIARIO</a:t>
            </a:r>
          </a:p>
        </p:txBody>
      </p:sp>
      <p:sp>
        <p:nvSpPr>
          <p:cNvPr id="3" name="text-322">
            <a:extLst xmlns:a="http://schemas.openxmlformats.org/drawingml/2006/main">
              <a:ext uri="{FF2B5EF4-FFF2-40B4-BE49-F238E27FC236}">
                <a16:creationId xmlns:a16="http://schemas.microsoft.com/office/drawing/2014/main" id="{A6F27E5B-9AC2-48DE-A8D3-66D7F01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text-323">
            <a:extLst xmlns:a="http://schemas.openxmlformats.org/drawingml/2006/main">
              <a:ext uri="{FF2B5EF4-FFF2-40B4-BE49-F238E27FC236}">
                <a16:creationId xmlns:a16="http://schemas.microsoft.com/office/drawing/2014/main" id="{60794819-4ECF-4E13-8DE4-5D5DA092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Cada llamada deja una decisión.</a:t>
            </a:r>
          </a:p>
        </p:txBody>
      </p:sp>
      <p:sp>
        <p:nvSpPr>
          <p:cNvPr id="5" name="text-324">
            <a:extLst xmlns:a="http://schemas.openxmlformats.org/drawingml/2006/main">
              <a:ext uri="{FF2B5EF4-FFF2-40B4-BE49-F238E27FC236}">
                <a16:creationId xmlns:a16="http://schemas.microsoft.com/office/drawing/2014/main" id="{7DCAC96F-E385-4DC9-8659-6ECA1A51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6" name="text-325">
            <a:extLst xmlns:a="http://schemas.openxmlformats.org/drawingml/2006/main">
              <a:ext uri="{FF2B5EF4-FFF2-40B4-BE49-F238E27FC236}">
                <a16:creationId xmlns:a16="http://schemas.microsoft.com/office/drawing/2014/main" id="{60FF5FA0-2DCD-40BE-94FF-0BF3CBAC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95575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6F2"/>
                </a:solidFill>
                <a:latin typeface="Arial"/>
                <a:ea typeface="Arial"/>
                <a:cs typeface="Arial"/>
              </a:rPr>
              <a:t>Prioriza la lista y prepara una observación real.</a:t>
            </a:r>
          </a:p>
        </p:txBody>
      </p:sp>
      <p:sp>
        <p:nvSpPr>
          <p:cNvPr id="7" name="text-326">
            <a:extLst xmlns:a="http://schemas.openxmlformats.org/drawingml/2006/main">
              <a:ext uri="{FF2B5EF4-FFF2-40B4-BE49-F238E27FC236}">
                <a16:creationId xmlns:a16="http://schemas.microsoft.com/office/drawing/2014/main" id="{A3302AA9-5C8B-4809-8E23-3A7050BF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DURANTE</a:t>
            </a:r>
          </a:p>
        </p:txBody>
      </p:sp>
      <p:sp>
        <p:nvSpPr>
          <p:cNvPr id="8" name="text-327">
            <a:extLst xmlns:a="http://schemas.openxmlformats.org/drawingml/2006/main">
              <a:ext uri="{FF2B5EF4-FFF2-40B4-BE49-F238E27FC236}">
                <a16:creationId xmlns:a16="http://schemas.microsoft.com/office/drawing/2014/main" id="{618EB361-3897-414D-A204-E4A0C2C1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67125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6F2"/>
                </a:solidFill>
                <a:latin typeface="Arial"/>
                <a:ea typeface="Arial"/>
                <a:cs typeface="Arial"/>
              </a:rPr>
              <a:t>Pregunta, escucha y califica sin vender humo.</a:t>
            </a:r>
          </a:p>
        </p:txBody>
      </p:sp>
      <p:sp>
        <p:nvSpPr>
          <p:cNvPr id="9" name="text-328">
            <a:extLst xmlns:a="http://schemas.openxmlformats.org/drawingml/2006/main">
              <a:ext uri="{FF2B5EF4-FFF2-40B4-BE49-F238E27FC236}">
                <a16:creationId xmlns:a16="http://schemas.microsoft.com/office/drawing/2014/main" id="{8EEF027C-03A1-4AB6-92D1-30FFD22F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00"/>
                </a:solidFill>
                <a:latin typeface="Arial"/>
                <a:ea typeface="Arial"/>
                <a:cs typeface="Arial"/>
              </a:rPr>
              <a:t>DESPUÉS</a:t>
            </a:r>
          </a:p>
        </p:txBody>
      </p:sp>
      <p:sp>
        <p:nvSpPr>
          <p:cNvPr id="10" name="text-329">
            <a:extLst xmlns:a="http://schemas.openxmlformats.org/drawingml/2006/main">
              <a:ext uri="{FF2B5EF4-FFF2-40B4-BE49-F238E27FC236}">
                <a16:creationId xmlns:a16="http://schemas.microsoft.com/office/drawing/2014/main" id="{6643913B-6594-4071-B613-96A8FB1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38675"/>
            <a:ext cx="819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E6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CE6F2"/>
                </a:solidFill>
                <a:latin typeface="Arial"/>
                <a:ea typeface="Arial"/>
                <a:cs typeface="Arial"/>
              </a:rPr>
              <a:t>Registra resultado, responsable y fecha.</a:t>
            </a:r>
          </a:p>
        </p:txBody>
      </p:sp>
      <p:sp>
        <p:nvSpPr>
          <p:cNvPr id="11" name="text-330">
            <a:extLst xmlns:a="http://schemas.openxmlformats.org/drawingml/2006/main">
              <a:ext uri="{FF2B5EF4-FFF2-40B4-BE49-F238E27FC236}">
                <a16:creationId xmlns:a16="http://schemas.microsoft.com/office/drawing/2014/main" id="{82327E57-0498-48E1-B64C-CC1A8B2E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1A8C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8C3"/>
                </a:solidFill>
                <a:latin typeface="Arial"/>
                <a:ea typeface="Arial"/>
                <a:cs typeface="Arial"/>
              </a:rPr>
              <a:t>Abre la Operación comercial de RedVitalia y ejecuta.</a:t>
            </a:r>
          </a:p>
        </p:txBody>
      </p:sp>
    </p:spTree>
    <p:extLst>
      <p:ext uri="{BB962C8B-B14F-4D97-AF65-F5344CB8AC3E}">
        <p14:creationId xmlns:p14="http://schemas.microsoft.com/office/powerpoint/2010/main" val="770791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2026-09-03T16:48:19.8150000Z</dcterms:created>
  <dcterms:modified xsi:type="dcterms:W3CDTF">2026-09-03T16:48:19.8150000Z</dcterms:modified>
</coreProperties>
</file>